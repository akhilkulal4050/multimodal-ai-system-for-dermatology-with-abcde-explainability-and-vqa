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37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9"/>
    <p:sldId id="269" r:id="rId20"/>
    <p:sldId id="270" r:id="rId21"/>
    <p:sldId id="285" r:id="rId36"/>
    <p:sldId id="286" r:id="rId37"/>
    <p:sldId id="287" r:id="rId38"/>
    <p:sldId id="288" r:id="rId39"/>
    <p:sldId id="289" r:id="rId40"/>
    <p:sldId id="271" r:id="rId22"/>
    <p:sldId id="272" r:id="rId23"/>
    <p:sldId id="273" r:id="rId24"/>
    <p:sldId id="290" r:id="rId41"/>
    <p:sldId id="291" r:id="rId42"/>
    <p:sldId id="292" r:id="rId43"/>
    <p:sldId id="274" r:id="rId25"/>
    <p:sldId id="275" r:id="rId26"/>
    <p:sldId id="311" r:id="rId66"/>
    <p:sldId id="312" r:id="rId67"/>
    <p:sldId id="313" r:id="rId68"/>
    <p:sldId id="314" r:id="rId69"/>
    <p:sldId id="276" r:id="rId27"/>
    <p:sldId id="315" r:id="rId70"/>
    <p:sldId id="316" r:id="rId71"/>
    <p:sldId id="317" r:id="rId72"/>
    <p:sldId id="318" r:id="rId73"/>
    <p:sldId id="319" r:id="rId74"/>
    <p:sldId id="277" r:id="rId28"/>
    <p:sldId id="278" r:id="rId29"/>
    <p:sldId id="279" r:id="rId30"/>
    <p:sldId id="280" r:id="rId31"/>
    <p:sldId id="281" r:id="rId32"/>
    <p:sldId id="304" r:id="rId55"/>
    <p:sldId id="305" r:id="rId56"/>
    <p:sldId id="306" r:id="rId57"/>
    <p:sldId id="307" r:id="rId58"/>
    <p:sldId id="308" r:id="rId59"/>
    <p:sldId id="310" r:id="rId61"/>
  </p:sldIdLst>
  <p:sldSz cy="6858000" cx="9144000"/>
  <p:notesSz cx="6858000" cy="9144000"/>
  <p:embeddedFontLst>
    <p:embeddedFont>
      <p:font typeface="Roboto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B083B0-87BA-4358-A259-15C7F08E945C}">
  <a:tblStyle styleId="{33B083B0-87BA-4358-A259-15C7F08E945C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4E7"/>
          </a:solidFill>
        </a:fill>
      </a:tcStyle>
    </a:wholeTbl>
    <a:band1H>
      <a:tcTxStyle/>
      <a:tcStyle>
        <a:fill>
          <a:solidFill>
            <a:srgbClr val="DBE9CB"/>
          </a:solidFill>
        </a:fill>
      </a:tcStyle>
    </a:band1H>
    <a:band2H>
      <a:tcTxStyle/>
    </a:band2H>
    <a:band1V>
      <a:tcTxStyle/>
      <a:tcStyle>
        <a:fill>
          <a:solidFill>
            <a:srgbClr val="DBE9CB"/>
          </a:solidFill>
        </a:fill>
      </a:tcStyle>
    </a:band1V>
    <a:band2V>
      <a:tcTxStyle/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97ED2F1A-A0D3-45D6-A7EC-2190041AD1C1}" styleName="Table_1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F0E7"/>
          </a:solidFill>
        </a:fill>
      </a:tcStyle>
    </a:wholeTbl>
    <a:band1H>
      <a:tcTxStyle/>
      <a:tcStyle>
        <a:fill>
          <a:solidFill>
            <a:srgbClr val="CFDFCB"/>
          </a:solidFill>
        </a:fill>
      </a:tcStyle>
    </a:band1H>
    <a:band2H>
      <a:tcTxStyle/>
    </a:band2H>
    <a:band1V>
      <a:tcTxStyle/>
      <a:tcStyle>
        <a:fill>
          <a:solidFill>
            <a:srgbClr val="CFDFCB"/>
          </a:solidFill>
        </a:fill>
      </a:tcStyle>
    </a:band1V>
    <a:band2V>
      <a:tcTxStyle/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3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-regular.fntdata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Roboto-italic.fntdata"/><Relationship Id="rId63" Type="http://schemas.openxmlformats.org/officeDocument/2006/relationships/font" Target="fonts/Robot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schemas.openxmlformats.org/officeDocument/2006/relationships/font" Target="fonts/Roboto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bf890b277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bf890b27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f890b277f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bf890b277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fb86cc49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bfb86cc4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b86cc497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bfb86cc4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bfb86cc497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bfb86cc4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fb86cc497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bfb86cc49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bfb86cc497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bfb86cc49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bfb86cc497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bfb86cc49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24" name="Google Shape;24;p2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2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0" name="Google Shape;30;p2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8466" y="-8468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/>
          <p:nvPr>
            <p:ph type="title"/>
          </p:nvPr>
        </p:nvSpPr>
        <p:spPr>
          <a:xfrm>
            <a:off x="609598" y="2700868"/>
            <a:ext cx="6347715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609598" y="4527448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5" name="Google Shape;55;p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609599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1" name="Google Shape;61;p6"/>
          <p:cNvSpPr txBox="1"/>
          <p:nvPr>
            <p:ph idx="2" type="body"/>
          </p:nvPr>
        </p:nvSpPr>
        <p:spPr>
          <a:xfrm>
            <a:off x="609599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3" type="body"/>
          </p:nvPr>
        </p:nvSpPr>
        <p:spPr>
          <a:xfrm>
            <a:off x="3866640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3" name="Google Shape;63;p6"/>
          <p:cNvSpPr txBox="1"/>
          <p:nvPr>
            <p:ph idx="4" type="body"/>
          </p:nvPr>
        </p:nvSpPr>
        <p:spPr>
          <a:xfrm>
            <a:off x="3866640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609599" y="1498604"/>
            <a:ext cx="2790182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3571275" y="514925"/>
            <a:ext cx="3386037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609599" y="2777069"/>
            <a:ext cx="2790182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05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609599" y="4800600"/>
            <a:ext cx="634771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/>
          <p:nvPr>
            <p:ph idx="2" type="pic"/>
          </p:nvPr>
        </p:nvSpPr>
        <p:spPr>
          <a:xfrm>
            <a:off x="609599" y="609600"/>
            <a:ext cx="6347714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/>
          <p:nvPr>
            <p:ph idx="1" type="body"/>
          </p:nvPr>
        </p:nvSpPr>
        <p:spPr>
          <a:xfrm>
            <a:off x="609599" y="5367338"/>
            <a:ext cx="6347714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10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609600" y="609600"/>
            <a:ext cx="6347714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609600" y="4470400"/>
            <a:ext cx="6347714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1101074" y="3632200"/>
            <a:ext cx="54198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2" type="body"/>
          </p:nvPr>
        </p:nvSpPr>
        <p:spPr>
          <a:xfrm>
            <a:off x="609598" y="4470400"/>
            <a:ext cx="6347715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3" name="Google Shape;103;p12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609598" y="1931988"/>
            <a:ext cx="6347715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615848" y="609600"/>
            <a:ext cx="6341465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 rot="5400000">
            <a:off x="1843070" y="927120"/>
            <a:ext cx="3880773" cy="634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 rot="5400000">
            <a:off x="3840993" y="2745920"/>
            <a:ext cx="5251451" cy="97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 rot="5400000">
            <a:off x="581386" y="637813"/>
            <a:ext cx="5251451" cy="5195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Google Shape;7;p1"/>
            <p:cNvSpPr/>
            <p:nvPr/>
          </p:nvSpPr>
          <p:spPr>
            <a:xfrm>
              <a:off x="-8467" y="4013200"/>
              <a:ext cx="457200" cy="2853267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" name="Google Shape;8;p1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" name="Google Shape;9;p1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" name="Google Shape;10;p1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ncbi.nlm.nih.gov/pmc/articles/PMC11920274/" TargetMode="External"/><Relationship Id="rId4" Type="http://schemas.openxmlformats.org/officeDocument/2006/relationships/image" Target="../media/image2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opencv.org/4.x/d3/dc0/group__imgproc__shape.html#ga8ea7a3017b288220c3bb7c6c71496488" TargetMode="Externa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rxiv.org/abs/2301.10077" TargetMode="Externa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cademic.oup.com/bioinformatics/article/36/4/1234/5566506" TargetMode="Externa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frontiersin.org/articles/10.3389/frai.2025.1608837/full" TargetMode="Externa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owerdrill.ai/discover/discover-R-LLaVA-Improving-Med-VQA-cm2uxqs320whv016kwr2clma0" TargetMode="Externa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www.ncbi.nlm.nih.gov/pmc/articles/PMC11920274/" TargetMode="External"/><Relationship Id="rId4" Type="http://schemas.openxmlformats.org/officeDocument/2006/relationships/hyperlink" Target="https://arxiv.org/abs/2301.10077" TargetMode="External"/><Relationship Id="rId9" Type="http://schemas.openxmlformats.org/officeDocument/2006/relationships/hyperlink" Target="https://arxiv.org/abs/2307.12365" TargetMode="External"/><Relationship Id="rId5" Type="http://schemas.openxmlformats.org/officeDocument/2006/relationships/hyperlink" Target="https://powerdrill.ai/discover/discover-R-LLaVA-Improving-Med-VQA-cm2uxqs320whv016kwr2clma0" TargetMode="External"/><Relationship Id="rId6" Type="http://schemas.openxmlformats.org/officeDocument/2006/relationships/hyperlink" Target="https://academic.oup.com/bioinformatics/article/36/4/1234/5566506" TargetMode="External"/><Relationship Id="rId7" Type="http://schemas.openxmlformats.org/officeDocument/2006/relationships/hyperlink" Target="https://arxiv.org/html/2508.21793v1" TargetMode="External"/><Relationship Id="rId8" Type="http://schemas.openxmlformats.org/officeDocument/2006/relationships/hyperlink" Target="https://arxiv.org/abs/2204.08484" TargetMode="External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www.frontiersin.org/articles/10.3389/frai.2025.1608837/full" TargetMode="External"/><Relationship Id="rId4" Type="http://schemas.openxmlformats.org/officeDocument/2006/relationships/image" Target="../media/itf_metrics.png"/><Relationship Id="rId5" Type="http://schemas.openxmlformats.org/officeDocument/2006/relationships/image" Target="../media/itf_classreport.png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www.frontiersin.org/articles/10.3389/frai.2025.1608837/full" TargetMode="External"/><Relationship Id="rId4" Type="http://schemas.openxmlformats.org/officeDocument/2006/relationships/image" Target="../media/itf_traincurves.png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www.frontiersin.org/articles/10.3389/frai.2025.1608837/full" TargetMode="External"/><Relationship Id="rId4" Type="http://schemas.openxmlformats.org/officeDocument/2006/relationships/image" Target="../media/itf_confmatrix.png"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www.frontiersin.org/articles/10.3389/frai.2025.1608837/full" TargetMode="External"/><Relationship Id="rId4" Type="http://schemas.openxmlformats.org/officeDocument/2006/relationships/image" Target="../media/itf_f1bars.png"/><Relationship Id="rId5" Type="http://schemas.openxmlformats.org/officeDocument/2006/relationships/image" Target="../media/itf_gateweights.png"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powerdrill.ai/discover/discover-R-LLaVA-Improving-Med-VQA-cm2uxqs320whv016kwr2clma0" TargetMode="External"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powerdrill.ai/discover/discover-R-LLaVA-Improving-Med-VQA-cm2uxqs320whv016kwr2clma0" TargetMode="External"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powerdrill.ai/discover/discover-R-LLaVA-Improving-Med-VQA-cm2uxqs320whv016kwr2clma0" TargetMode="External"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powerdrill.ai/discover/discover-R-LLaVA-Improving-Med-VQA-cm2uxqs320whv016kwr2clma0" TargetMode="External"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powerdrill.ai/discover/discover-R-LLaVA-Improving-Med-VQA-cm2uxqs320whv016kwr2clma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ctrTitle"/>
          </p:nvPr>
        </p:nvSpPr>
        <p:spPr>
          <a:xfrm>
            <a:off x="1130600" y="290075"/>
            <a:ext cx="6455700" cy="266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Trebuchet MS"/>
              <a:buNone/>
            </a:pPr>
            <a:r>
              <a:rPr lang="en-IN" sz="4400">
                <a:solidFill>
                  <a:srgbClr val="002060"/>
                </a:solidFill>
              </a:rPr>
              <a:t>Multimodal AI System for Dermatology</a:t>
            </a:r>
            <a:endParaRPr sz="4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Trebuchet MS"/>
              <a:buNone/>
            </a:pPr>
            <a:r>
              <a:rPr lang="en-IN" sz="4400">
                <a:solidFill>
                  <a:srgbClr val="002060"/>
                </a:solidFill>
              </a:rPr>
              <a:t>with ABCDE Explainability and VQA</a:t>
            </a:r>
            <a:endParaRPr sz="4400"/>
          </a:p>
        </p:txBody>
      </p:sp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1887345" y="4523784"/>
            <a:ext cx="58266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IN"/>
              <a:t>Presented by Akhil Kulal (M24CEIT001)</a:t>
            </a:r>
            <a:endParaRPr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IN"/>
              <a:t>Under the guidance of Prof. Manasi Kulkarni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2462575" y="3285525"/>
            <a:ext cx="54234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End-to-End Image–Text Fusion for Explainable Dermatology Decision Support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type="title"/>
          </p:nvPr>
        </p:nvSpPr>
        <p:spPr>
          <a:xfrm>
            <a:off x="609599" y="136625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Introduction &amp; Motivation</a:t>
            </a:r>
            <a:endParaRPr/>
          </a:p>
        </p:txBody>
      </p:sp>
      <p:sp>
        <p:nvSpPr>
          <p:cNvPr id="151" name="Google Shape;151;p19"/>
          <p:cNvSpPr txBox="1"/>
          <p:nvPr>
            <p:ph idx="1" type="body"/>
          </p:nvPr>
        </p:nvSpPr>
        <p:spPr>
          <a:xfrm>
            <a:off x="836325" y="1288878"/>
            <a:ext cx="6347700" cy="49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173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>Skin cancer is one of the most common and dangerous</a:t>
            </a:r>
            <a:r>
              <a:rPr lang="en-IN" sz="7173"/>
              <a:t xml:space="preserve"> </a:t>
            </a:r>
            <a:r>
              <a:rPr lang="en-IN" sz="7173"/>
              <a:t>cancers worldwide.</a:t>
            </a:r>
            <a:endParaRPr sz="7173"/>
          </a:p>
          <a:p>
            <a:pPr indent="-355173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 xml:space="preserve"> Early diagnosis relies on the </a:t>
            </a:r>
            <a:r>
              <a:rPr b="1" lang="en-IN" sz="7173"/>
              <a:t>ABCDE rule</a:t>
            </a:r>
            <a:r>
              <a:rPr lang="en-IN" sz="7173"/>
              <a:t>:</a:t>
            </a:r>
            <a:endParaRPr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>Asymmetry, Border, Color, Diameter, Evolution</a:t>
            </a:r>
            <a:endParaRPr sz="7173"/>
          </a:p>
          <a:p>
            <a:pPr indent="-355173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 xml:space="preserve">Existing AI systems only focus on </a:t>
            </a:r>
            <a:r>
              <a:rPr b="1" lang="en-IN" sz="7173"/>
              <a:t>image-only classification</a:t>
            </a:r>
            <a:endParaRPr b="1" sz="7173"/>
          </a:p>
          <a:p>
            <a:pPr indent="-355173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>Clinical Diagnosis also depends on:</a:t>
            </a:r>
            <a:endParaRPr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>Patient History</a:t>
            </a:r>
            <a:endParaRPr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>Symptoms</a:t>
            </a:r>
            <a:endParaRPr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>Medical Reports</a:t>
            </a:r>
            <a:endParaRPr sz="7173"/>
          </a:p>
          <a:p>
            <a:pPr indent="-355173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 xml:space="preserve">There is a strong need for </a:t>
            </a:r>
            <a:endParaRPr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b="1" lang="en-IN" sz="7173"/>
              <a:t>Explainable</a:t>
            </a:r>
            <a:endParaRPr b="1"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b="1" lang="en-IN" sz="7173"/>
              <a:t>Multimodal</a:t>
            </a:r>
            <a:endParaRPr b="1"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b="1" lang="en-IN" sz="7173"/>
              <a:t>Interactive</a:t>
            </a:r>
            <a:r>
              <a:rPr lang="en-IN" sz="7173"/>
              <a:t xml:space="preserve"> AI systems for Dermatology</a:t>
            </a:r>
            <a:endParaRPr sz="7173"/>
          </a:p>
          <a:p>
            <a:pPr indent="0" lvl="0" marL="74295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609600" y="156225"/>
            <a:ext cx="45675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88889"/>
              <a:buFont typeface="Trebuchet MS"/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609600" y="1094525"/>
            <a:ext cx="7430700" cy="55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342900" rtl="0" algn="l">
              <a:spcBef>
                <a:spcPts val="12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Skin Cancer diagnosis is a complex clinical process requiring analysis of: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Visual inspection of skin lesions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Patient symptoms and medical history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Temporal changes in lesion appearence</a:t>
            </a:r>
            <a:endParaRPr sz="1300"/>
          </a:p>
          <a:p>
            <a:pPr indent="-323850" lvl="0" marL="34290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The clinically accepted  ABCDE rule is: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Time consuming and subjective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Dependent on expert interpretation</a:t>
            </a:r>
            <a:endParaRPr sz="1300"/>
          </a:p>
          <a:p>
            <a:pPr indent="-323850" lvl="0" marL="34290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.Existing AI systems: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Primarily perform image-only classification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 xml:space="preserve">Do not </a:t>
            </a:r>
            <a:r>
              <a:rPr lang="en-IN" sz="1300"/>
              <a:t>explicitly</a:t>
            </a:r>
            <a:r>
              <a:rPr lang="en-IN" sz="1300"/>
              <a:t xml:space="preserve"> compute or explain ABCDE criteria</a:t>
            </a:r>
            <a:endParaRPr sz="1300"/>
          </a:p>
          <a:p>
            <a:pPr indent="-323850" lvl="0" marL="34290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Most systems  lack: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Transparency in decision making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 xml:space="preserve"> Interactive mechanism for follow-up clinical queries</a:t>
            </a:r>
            <a:endParaRPr sz="1300"/>
          </a:p>
          <a:p>
            <a:pPr indent="-323850" lvl="0" marL="34290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 xml:space="preserve">This lead to </a:t>
            </a:r>
            <a:r>
              <a:rPr lang="en-IN" sz="1300"/>
              <a:t>limited</a:t>
            </a:r>
            <a:r>
              <a:rPr lang="en-IN" sz="1300"/>
              <a:t xml:space="preserve"> trust, reduced interpretability, and </a:t>
            </a:r>
            <a:r>
              <a:rPr lang="en-IN" sz="1300"/>
              <a:t>restricted</a:t>
            </a:r>
            <a:r>
              <a:rPr lang="en-IN" sz="1300"/>
              <a:t xml:space="preserve"> clinical </a:t>
            </a:r>
            <a:r>
              <a:rPr lang="en-IN" sz="1300"/>
              <a:t>usability</a:t>
            </a:r>
            <a:r>
              <a:rPr lang="en-IN" sz="1300"/>
              <a:t xml:space="preserve"> of current AI tools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578679" y="0"/>
            <a:ext cx="6347713" cy="816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Literature Survey</a:t>
            </a:r>
            <a:endParaRPr/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graphicFrame>
        <p:nvGraphicFramePr>
          <p:cNvPr id="164" name="Google Shape;164;p21"/>
          <p:cNvGraphicFramePr/>
          <p:nvPr/>
        </p:nvGraphicFramePr>
        <p:xfrm>
          <a:off x="234843" y="8166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{33B083B0-87BA-4358-A259-15C7F08E945C}</a:tableStyleId>
              </a:tblPr>
              <a:tblGrid>
                <a:gridCol w="1234825"/>
                <a:gridCol w="1212125"/>
                <a:gridCol w="1468750"/>
                <a:gridCol w="1232525"/>
                <a:gridCol w="1194200"/>
                <a:gridCol w="1547300"/>
                <a:gridCol w="244025"/>
              </a:tblGrid>
              <a:tr h="68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Author &amp; Year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Title of 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 Used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Dataset Used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Insights gained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Limitations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1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Siyuan Yan , 2025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A multimodal vision foundation model for clinical dermatology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ARCUNet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ISIC 2016,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ISIC 2017,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ISIC 2018,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PH2 Dataset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Best-in-class skin lesion segmentation (SLS stage)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Limited interpretability in clinical field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Kuang et al., 2025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R-LLaVA: Improving Med-VQA with Visual Regions of Interest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R-LLaVa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Medical VQA Datasets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Advanced multimodal VQA with RLHF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High computational cost, language fidelity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Borisma et al., 2023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EfficientFormerV2: Optimized Transformer for Classification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EfficientFormerV2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HAM10000, ISIC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Efficient, accurate hierarchical lesion classification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Handling class imbalance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Lee et al., 2020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BioBERT: Pretrained Biomedical Language Representation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BioBERT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PubMed, PMC, MIMIC-III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Core biomedical NLP for report extraction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Limited entity diversity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Zhang et al., 2022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BioGPT: Generative Pretrained Transformer for Biomedicine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PubMed abstracts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BioGPT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Clinical report summarization &amp; generation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Need diverse fine-tuning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Literature Survey</a:t>
            </a:r>
            <a:endParaRPr/>
          </a:p>
        </p:txBody>
      </p:sp>
      <p:sp>
        <p:nvSpPr>
          <p:cNvPr id="170" name="Google Shape;170;p22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graphicFrame>
        <p:nvGraphicFramePr>
          <p:cNvPr id="171" name="Google Shape;171;p22"/>
          <p:cNvGraphicFramePr/>
          <p:nvPr/>
        </p:nvGraphicFramePr>
        <p:xfrm>
          <a:off x="294807" y="12720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{33B083B0-87BA-4358-A259-15C7F08E945C}</a:tableStyleId>
              </a:tblPr>
              <a:tblGrid>
                <a:gridCol w="1234825"/>
                <a:gridCol w="1212125"/>
                <a:gridCol w="1468750"/>
                <a:gridCol w="1232525"/>
                <a:gridCol w="1194200"/>
                <a:gridCol w="1547300"/>
                <a:gridCol w="244025"/>
              </a:tblGrid>
              <a:tr h="68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Author &amp; Year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Title of 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 Used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Dataset Used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Insights gained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Limitations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98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Yi et al., 2025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Multimodal medical image fusion with self-supervised learning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Self-supervised Fusion CNN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MIMIC Chest X-ray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Label-efficient medical image fusion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Generalizability and clinical validation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Wang &amp; Yang, 2025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MoE-Health: Mixture of Experts for Multimodal Healthcare Prediction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MoE-Health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MIMICIV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Robust fusion of diverse clinical data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Expert scaling, interpretability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OpenRLHF Team, 2025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GRPO: Group Relative Policy Optimization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GRPO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Synthetic/EHR data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Efficient RLHF training for VQA models</a:t>
                      </a:r>
                      <a:endParaRPr b="1"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Computation overhead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6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PaddlePaddle Team, 2021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PaddleOCR + BioBERT for Medical Documents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PaddleOCR + BioBERT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Public OCR datasets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Accurate OCR and NLP for clinical report pipeline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Issues with handwriting and noisy docs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Huang et al., 2025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Leveraging segmentation maps to improve skin lesion classification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Transformer with segmentation fusion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ISIC, PH2 dermatology images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Enhances HC via segmentation-classification integration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Computational overhead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725050" y="263250"/>
            <a:ext cx="6347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Research Gap</a:t>
            </a:r>
            <a:endParaRPr/>
          </a:p>
        </p:txBody>
      </p:sp>
      <p:sp>
        <p:nvSpPr>
          <p:cNvPr id="177" name="Google Shape;177;p23"/>
          <p:cNvSpPr txBox="1"/>
          <p:nvPr>
            <p:ph idx="1" type="body"/>
          </p:nvPr>
        </p:nvSpPr>
        <p:spPr>
          <a:xfrm>
            <a:off x="609600" y="1302325"/>
            <a:ext cx="6347700" cy="52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-258318" lvl="0" marL="342900" rtl="0" algn="l">
              <a:spcBef>
                <a:spcPts val="0"/>
              </a:spcBef>
              <a:spcAft>
                <a:spcPts val="0"/>
              </a:spcAft>
              <a:buSzPct val="27091"/>
              <a:buNone/>
            </a:pPr>
            <a:r>
              <a:t/>
            </a:r>
            <a:endParaRPr sz="5315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5315"/>
              <a:t>Despite advances in deep learning and medical AI:</a:t>
            </a:r>
            <a:endParaRPr sz="5315"/>
          </a:p>
          <a:p>
            <a:pPr indent="-278692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Multimodal data (images + medical reports + symptoms) are  rarely fused in a single system</a:t>
            </a:r>
            <a:endParaRPr sz="5315"/>
          </a:p>
          <a:p>
            <a:pPr indent="-278692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ABCDE criteria are often: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Used implicitly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Not computed as explicit, explainable features</a:t>
            </a:r>
            <a:endParaRPr sz="5315"/>
          </a:p>
          <a:p>
            <a:pPr indent="-278692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Most dermatology AI systems: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Stop at classification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Do not support clinical reasoning or dialogue</a:t>
            </a:r>
            <a:endParaRPr sz="5315"/>
          </a:p>
          <a:p>
            <a:pPr indent="-278692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Medical Visual Question Answering (VQA):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Exists independently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Is not grounded in structural clinical features like ABCDE</a:t>
            </a:r>
            <a:endParaRPr sz="5315"/>
          </a:p>
          <a:p>
            <a:pPr indent="-278692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There is a lack of: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End -to-end deployable systems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Patient centric conversational dermatology assistants</a:t>
            </a:r>
            <a:endParaRPr sz="5315"/>
          </a:p>
          <a:p>
            <a:pPr indent="-258318" lvl="0" marL="3429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Objective</a:t>
            </a:r>
            <a:endParaRPr/>
          </a:p>
        </p:txBody>
      </p:sp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Automate skin lesion segmentation and classification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Extract ABCDE values for explainability.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Process medical reports and symptoms using NLP.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Fuse image + text → Unified clinical Representation  (JSON output).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Enable (Virtual Q)VQA for clinicians/patients.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Scope of the Project</a:t>
            </a:r>
            <a:endParaRPr/>
          </a:p>
        </p:txBody>
      </p:sp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 xml:space="preserve">End-to-end AI pipeline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Image + Text + Interactive Q&amp;A</a:t>
            </a:r>
            <a:endParaRPr/>
          </a:p>
          <a:p>
            <a:pPr indent="-33274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Supports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Dermoscopic images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Clinical images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Medical Reports (PDF/Text)</a:t>
            </a:r>
            <a:endParaRPr/>
          </a:p>
          <a:p>
            <a:pPr indent="-33274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Provides: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Risk assessment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Explainable ABCDE output</a:t>
            </a:r>
            <a:endParaRPr/>
          </a:p>
          <a:p>
            <a:pPr indent="-33274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Designed as a clinical decision-support system, not a replacement for doctors.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Methodology Overview</a:t>
            </a:r>
            <a:endParaRPr/>
          </a:p>
        </p:txBody>
      </p:sp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1: Preprocessing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2: Skin Lesion Segmentation (SLS)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3: ROI Cropping (SLRC)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4: Hierarchical Classification (HC + ABCDE)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5: Medical Report Processing (MedProc)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6: IT Fusion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7: Visual Question Answering (VQA)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609600" y="132400"/>
            <a:ext cx="63477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System Architecture Diagram</a:t>
            </a:r>
            <a:endParaRPr/>
          </a:p>
        </p:txBody>
      </p:sp>
      <p:pic>
        <p:nvPicPr>
          <p:cNvPr id="300" name="ArchDiagram" descr="NutriDermAI Archite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0000"/>
            <a:ext cx="8686800" cy="57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System Architecture </a:t>
            </a:r>
            <a:endParaRPr/>
          </a:p>
        </p:txBody>
      </p:sp>
      <p:sp>
        <p:nvSpPr>
          <p:cNvPr id="295" name="Google Shape;295;p30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Frontend: React-based chatbot for patient interaction.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Backend: FastAPI orchestrating AI models.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Stages: SLS, SLRC, HC, MedProc, IT Fusion, VQA.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Outputs: Classification + ABCDE + Q&amp;A answers.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I – Preprocessing</a:t>
            </a:r>
            <a:endParaRPr/>
          </a:p>
        </p:txBody>
      </p:sp>
      <p:graphicFrame>
        <p:nvGraphicFramePr>
          <p:cNvPr id="301" name="Google Shape;301;p31"/>
          <p:cNvGraphicFramePr/>
          <p:nvPr/>
        </p:nvGraphicFramePr>
        <p:xfrm>
          <a:off x="4652625" y="1109525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1809750"/>
                <a:gridCol w="1809750"/>
              </a:tblGrid>
              <a:tr h="163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Methods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IN" sz="1800"/>
                        <a:t>Image resizing, normalization, hair removal, OCR, tokenization.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IN" sz="1800"/>
                        <a:t>PaddleOCR (PDF-&gt;OCR)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6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Skin Image(any size), Medical PDF / Unstructured text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6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Resized image (as per required), Structured text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302" name="Google Shape;3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82800"/>
            <a:ext cx="3971925" cy="4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II – Skin Lesion Segmentation(SLS)</a:t>
            </a:r>
            <a:endParaRPr/>
          </a:p>
        </p:txBody>
      </p:sp>
      <p:graphicFrame>
        <p:nvGraphicFramePr>
          <p:cNvPr id="308" name="Google Shape;308;p32"/>
          <p:cNvGraphicFramePr/>
          <p:nvPr/>
        </p:nvGraphicFramePr>
        <p:xfrm>
          <a:off x="4818562" y="1782779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1912800"/>
                <a:gridCol w="2059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 xml:space="preserve">Model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ARCUNet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Skin image(512*512)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Binary Lesion Mask (512*512)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Dice Coefficient: 0.8506</a:t>
                      </a:r>
                      <a:br>
                        <a:rPr lang="en-IN" sz="1500">
                          <a:solidFill>
                            <a:schemeClr val="lt1"/>
                          </a:solidFill>
                        </a:rPr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IoU (Jaccard): 0.7718</a:t>
                      </a:r>
                      <a:br>
                        <a:rPr lang="en-IN" sz="1500">
                          <a:solidFill>
                            <a:schemeClr val="lt1"/>
                          </a:solidFill>
                        </a:rPr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Boundary F1: 0.8815 | Pixel Acc: 93.7%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 Performed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 xml:space="preserve">Convert the RGB Skin lesion to B/W image such that only lesion part is white colour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https://www.ncbi.nlm.nih.gov/pmc/articles/PMC11920274/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309" name="Google Shape;30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82800"/>
            <a:ext cx="4485825" cy="41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III- Skin Lesion ROI Cropping</a:t>
            </a:r>
            <a:endParaRPr/>
          </a:p>
        </p:txBody>
      </p:sp>
      <p:graphicFrame>
        <p:nvGraphicFramePr>
          <p:cNvPr id="315" name="Google Shape;315;p33"/>
          <p:cNvGraphicFramePr/>
          <p:nvPr/>
        </p:nvGraphicFramePr>
        <p:xfrm>
          <a:off x="4122295" y="1918741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1981200"/>
                <a:gridCol w="1981200"/>
              </a:tblGrid>
              <a:tr h="71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OpenCV+Connected Components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Original Image + Segmentation Mask.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Original Image + Segmentation Mask.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Extract lesion region of interest.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5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https://docs.opencv.org/4.x/d3/dc0/group__imgproc__shape.html#ga8ea7a3017b288220c3bb7c6c71496488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16" name="Google Shape;316;p33"/>
          <p:cNvSpPr/>
          <p:nvPr/>
        </p:nvSpPr>
        <p:spPr>
          <a:xfrm>
            <a:off x="96600" y="2134900"/>
            <a:ext cx="1429500" cy="801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 xml:space="preserve"> Lesion Mask from SLS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7" name="Google Shape;317;p33"/>
          <p:cNvSpPr/>
          <p:nvPr/>
        </p:nvSpPr>
        <p:spPr>
          <a:xfrm>
            <a:off x="2540350" y="2154000"/>
            <a:ext cx="1197600" cy="801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Original Image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18" name="Google Shape;318;p33"/>
          <p:cNvCxnSpPr>
            <a:stCxn id="316" idx="2"/>
            <a:endCxn id="319" idx="0"/>
          </p:cNvCxnSpPr>
          <p:nvPr/>
        </p:nvCxnSpPr>
        <p:spPr>
          <a:xfrm>
            <a:off x="811350" y="2936500"/>
            <a:ext cx="1048200" cy="8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" name="Google Shape;319;p33"/>
          <p:cNvSpPr/>
          <p:nvPr/>
        </p:nvSpPr>
        <p:spPr>
          <a:xfrm>
            <a:off x="907950" y="3767075"/>
            <a:ext cx="1902900" cy="8016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Crop Bounding Box Resize 224x224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20" name="Google Shape;320;p33"/>
          <p:cNvCxnSpPr>
            <a:stCxn id="317" idx="2"/>
            <a:endCxn id="319" idx="0"/>
          </p:cNvCxnSpPr>
          <p:nvPr/>
        </p:nvCxnSpPr>
        <p:spPr>
          <a:xfrm flipH="1">
            <a:off x="1859350" y="2955600"/>
            <a:ext cx="1279800" cy="8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33"/>
          <p:cNvCxnSpPr>
            <a:stCxn id="319" idx="2"/>
          </p:cNvCxnSpPr>
          <p:nvPr/>
        </p:nvCxnSpPr>
        <p:spPr>
          <a:xfrm>
            <a:off x="1859400" y="4568675"/>
            <a:ext cx="14400" cy="88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" name="Google Shape;322;p33"/>
          <p:cNvSpPr/>
          <p:nvPr/>
        </p:nvSpPr>
        <p:spPr>
          <a:xfrm>
            <a:off x="948900" y="5457575"/>
            <a:ext cx="1835400" cy="6279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ROI Image (224x224)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>
            <p:ph type="title"/>
          </p:nvPr>
        </p:nvSpPr>
        <p:spPr>
          <a:xfrm>
            <a:off x="87999" y="68675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88889"/>
              <a:buFont typeface="Trebuchet MS"/>
              <a:buNone/>
            </a:pPr>
            <a:r>
              <a:rPr lang="en-IN"/>
              <a:t>Stages of Project IV – Hierarchical Classification + ABCDE</a:t>
            </a:r>
            <a:endParaRPr/>
          </a:p>
        </p:txBody>
      </p:sp>
      <p:sp>
        <p:nvSpPr>
          <p:cNvPr id="328" name="Google Shape;328;p34"/>
          <p:cNvSpPr/>
          <p:nvPr/>
        </p:nvSpPr>
        <p:spPr>
          <a:xfrm>
            <a:off x="753350" y="1245975"/>
            <a:ext cx="1323300" cy="906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Input: 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ROI Image (224x224) (SLRC)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29" name="Google Shape;329;p34"/>
          <p:cNvCxnSpPr>
            <a:stCxn id="328" idx="2"/>
            <a:endCxn id="330" idx="0"/>
          </p:cNvCxnSpPr>
          <p:nvPr/>
        </p:nvCxnSpPr>
        <p:spPr>
          <a:xfrm flipH="1">
            <a:off x="646400" y="2152575"/>
            <a:ext cx="76860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" name="Google Shape;330;p34"/>
          <p:cNvSpPr/>
          <p:nvPr/>
        </p:nvSpPr>
        <p:spPr>
          <a:xfrm>
            <a:off x="63250" y="2676675"/>
            <a:ext cx="1166400" cy="906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Normalize, Augment (train only)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1" name="Google Shape;331;p34"/>
          <p:cNvSpPr/>
          <p:nvPr/>
        </p:nvSpPr>
        <p:spPr>
          <a:xfrm>
            <a:off x="63250" y="4107375"/>
            <a:ext cx="1166400" cy="1320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latin typeface="Trebuchet MS"/>
                <a:ea typeface="Trebuchet MS"/>
                <a:cs typeface="Trebuchet MS"/>
                <a:sym typeface="Trebuchet MS"/>
              </a:rPr>
              <a:t>Efficient Former V2</a:t>
            </a:r>
            <a:r>
              <a:rPr lang="en-IN" sz="1300">
                <a:latin typeface="Trebuchet MS"/>
                <a:ea typeface="Trebuchet MS"/>
                <a:cs typeface="Trebuchet MS"/>
                <a:sym typeface="Trebuchet MS"/>
              </a:rPr>
              <a:t>-S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latin typeface="Trebuchet MS"/>
                <a:ea typeface="Trebuchet MS"/>
                <a:cs typeface="Trebuchet MS"/>
                <a:sym typeface="Trebuchet MS"/>
              </a:rPr>
              <a:t>Vision Transformer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latin typeface="Trebuchet MS"/>
                <a:ea typeface="Trebuchet MS"/>
                <a:cs typeface="Trebuchet MS"/>
                <a:sym typeface="Trebuchet MS"/>
              </a:rPr>
              <a:t>Task: Classification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2" name="Google Shape;332;p34"/>
          <p:cNvCxnSpPr>
            <a:stCxn id="330" idx="2"/>
            <a:endCxn id="331" idx="0"/>
          </p:cNvCxnSpPr>
          <p:nvPr/>
        </p:nvCxnSpPr>
        <p:spPr>
          <a:xfrm>
            <a:off x="646450" y="3583275"/>
            <a:ext cx="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" name="Google Shape;333;p34"/>
          <p:cNvSpPr/>
          <p:nvPr/>
        </p:nvSpPr>
        <p:spPr>
          <a:xfrm>
            <a:off x="4988975" y="5853875"/>
            <a:ext cx="1449000" cy="858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ABCDE Aggregator Combine A-E features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4" name="Google Shape;334;p34"/>
          <p:cNvSpPr/>
          <p:nvPr/>
        </p:nvSpPr>
        <p:spPr>
          <a:xfrm>
            <a:off x="4946700" y="1505475"/>
            <a:ext cx="985200" cy="6471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Lesion Mask (SLS)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5" name="Google Shape;335;p34"/>
          <p:cNvCxnSpPr>
            <a:stCxn id="334" idx="1"/>
            <a:endCxn id="336" idx="0"/>
          </p:cNvCxnSpPr>
          <p:nvPr/>
        </p:nvCxnSpPr>
        <p:spPr>
          <a:xfrm flipH="1">
            <a:off x="3757500" y="1829025"/>
            <a:ext cx="1189200" cy="7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" name="Google Shape;336;p34"/>
          <p:cNvSpPr/>
          <p:nvPr/>
        </p:nvSpPr>
        <p:spPr>
          <a:xfrm>
            <a:off x="3076425" y="2597063"/>
            <a:ext cx="1362000" cy="579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Symmetry analysis (area overlap)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7" name="Google Shape;337;p34"/>
          <p:cNvCxnSpPr>
            <a:stCxn id="336" idx="2"/>
            <a:endCxn id="338" idx="0"/>
          </p:cNvCxnSpPr>
          <p:nvPr/>
        </p:nvCxnSpPr>
        <p:spPr>
          <a:xfrm>
            <a:off x="3757425" y="3176663"/>
            <a:ext cx="0" cy="72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34"/>
          <p:cNvSpPr/>
          <p:nvPr/>
        </p:nvSpPr>
        <p:spPr>
          <a:xfrm>
            <a:off x="3119925" y="3905963"/>
            <a:ext cx="1275000" cy="6375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A (</a:t>
            </a: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Asymmetry</a:t>
            </a: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9" name="Google Shape;339;p34"/>
          <p:cNvCxnSpPr>
            <a:stCxn id="338" idx="2"/>
            <a:endCxn id="333" idx="0"/>
          </p:cNvCxnSpPr>
          <p:nvPr/>
        </p:nvCxnSpPr>
        <p:spPr>
          <a:xfrm>
            <a:off x="3757425" y="4543463"/>
            <a:ext cx="1956000" cy="13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34"/>
          <p:cNvSpPr/>
          <p:nvPr/>
        </p:nvSpPr>
        <p:spPr>
          <a:xfrm>
            <a:off x="7898875" y="598800"/>
            <a:ext cx="985200" cy="11385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MedProc JSON (symptoms + history)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1" name="Google Shape;341;p34"/>
          <p:cNvCxnSpPr>
            <a:stCxn id="334" idx="2"/>
            <a:endCxn id="342" idx="0"/>
          </p:cNvCxnSpPr>
          <p:nvPr/>
        </p:nvCxnSpPr>
        <p:spPr>
          <a:xfrm>
            <a:off x="5439300" y="2152575"/>
            <a:ext cx="0" cy="44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2" name="Google Shape;342;p34"/>
          <p:cNvSpPr/>
          <p:nvPr/>
        </p:nvSpPr>
        <p:spPr>
          <a:xfrm>
            <a:off x="4856100" y="2597075"/>
            <a:ext cx="1166400" cy="579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Max Distance / mm scaling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3" name="Google Shape;343;p34"/>
          <p:cNvCxnSpPr>
            <a:stCxn id="328" idx="2"/>
            <a:endCxn id="344" idx="0"/>
          </p:cNvCxnSpPr>
          <p:nvPr/>
        </p:nvCxnSpPr>
        <p:spPr>
          <a:xfrm>
            <a:off x="1415000" y="2152575"/>
            <a:ext cx="80160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4" name="Google Shape;344;p34"/>
          <p:cNvSpPr/>
          <p:nvPr/>
        </p:nvSpPr>
        <p:spPr>
          <a:xfrm>
            <a:off x="1591238" y="2676675"/>
            <a:ext cx="1251000" cy="906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Color Clustering/ Variance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5" name="Google Shape;345;p34"/>
          <p:cNvCxnSpPr>
            <a:stCxn id="344" idx="2"/>
            <a:endCxn id="346" idx="0"/>
          </p:cNvCxnSpPr>
          <p:nvPr/>
        </p:nvCxnSpPr>
        <p:spPr>
          <a:xfrm>
            <a:off x="2216738" y="3583275"/>
            <a:ext cx="0" cy="6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34"/>
          <p:cNvSpPr/>
          <p:nvPr/>
        </p:nvSpPr>
        <p:spPr>
          <a:xfrm>
            <a:off x="1579250" y="4263400"/>
            <a:ext cx="1275000" cy="624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 (Color Variance)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7" name="Google Shape;347;p34"/>
          <p:cNvCxnSpPr>
            <a:stCxn id="346" idx="2"/>
            <a:endCxn id="333" idx="1"/>
          </p:cNvCxnSpPr>
          <p:nvPr/>
        </p:nvCxnSpPr>
        <p:spPr>
          <a:xfrm>
            <a:off x="2216750" y="4887700"/>
            <a:ext cx="2772300" cy="13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34"/>
          <p:cNvCxnSpPr>
            <a:stCxn id="342" idx="2"/>
            <a:endCxn id="349" idx="0"/>
          </p:cNvCxnSpPr>
          <p:nvPr/>
        </p:nvCxnSpPr>
        <p:spPr>
          <a:xfrm>
            <a:off x="5439300" y="3176675"/>
            <a:ext cx="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34"/>
          <p:cNvSpPr/>
          <p:nvPr/>
        </p:nvSpPr>
        <p:spPr>
          <a:xfrm>
            <a:off x="4856100" y="3911950"/>
            <a:ext cx="1166400" cy="624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D (Diameter)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0" name="Google Shape;350;p34"/>
          <p:cNvCxnSpPr>
            <a:stCxn id="349" idx="2"/>
            <a:endCxn id="333" idx="0"/>
          </p:cNvCxnSpPr>
          <p:nvPr/>
        </p:nvCxnSpPr>
        <p:spPr>
          <a:xfrm>
            <a:off x="5439300" y="4536250"/>
            <a:ext cx="274200" cy="13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" name="Google Shape;351;p34"/>
          <p:cNvSpPr/>
          <p:nvPr/>
        </p:nvSpPr>
        <p:spPr>
          <a:xfrm>
            <a:off x="6283175" y="2416100"/>
            <a:ext cx="1251000" cy="858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Contour Complexity (compactness, fractal dim)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2" name="Google Shape;352;p34"/>
          <p:cNvCxnSpPr>
            <a:stCxn id="351" idx="2"/>
            <a:endCxn id="353" idx="0"/>
          </p:cNvCxnSpPr>
          <p:nvPr/>
        </p:nvCxnSpPr>
        <p:spPr>
          <a:xfrm>
            <a:off x="6908675" y="3274400"/>
            <a:ext cx="36300" cy="6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" name="Google Shape;353;p34"/>
          <p:cNvSpPr/>
          <p:nvPr/>
        </p:nvSpPr>
        <p:spPr>
          <a:xfrm>
            <a:off x="6319475" y="3905350"/>
            <a:ext cx="1251000" cy="6375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B ( Border Irregularity)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4" name="Google Shape;354;p34"/>
          <p:cNvCxnSpPr>
            <a:stCxn id="353" idx="2"/>
            <a:endCxn id="333" idx="0"/>
          </p:cNvCxnSpPr>
          <p:nvPr/>
        </p:nvCxnSpPr>
        <p:spPr>
          <a:xfrm flipH="1">
            <a:off x="5713475" y="4542850"/>
            <a:ext cx="1231500" cy="131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34"/>
          <p:cNvCxnSpPr>
            <a:stCxn id="340" idx="2"/>
            <a:endCxn id="356" idx="0"/>
          </p:cNvCxnSpPr>
          <p:nvPr/>
        </p:nvCxnSpPr>
        <p:spPr>
          <a:xfrm>
            <a:off x="8391475" y="1737300"/>
            <a:ext cx="0" cy="59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6" name="Google Shape;356;p34"/>
          <p:cNvSpPr/>
          <p:nvPr/>
        </p:nvSpPr>
        <p:spPr>
          <a:xfrm>
            <a:off x="7855375" y="2333300"/>
            <a:ext cx="1072200" cy="10239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Temporal changes (growth, symptoms)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7" name="Google Shape;357;p34"/>
          <p:cNvCxnSpPr>
            <a:stCxn id="356" idx="2"/>
            <a:endCxn id="358" idx="0"/>
          </p:cNvCxnSpPr>
          <p:nvPr/>
        </p:nvCxnSpPr>
        <p:spPr>
          <a:xfrm flipH="1">
            <a:off x="8369875" y="3357200"/>
            <a:ext cx="21600" cy="42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34"/>
          <p:cNvCxnSpPr>
            <a:stCxn id="334" idx="3"/>
            <a:endCxn id="351" idx="0"/>
          </p:cNvCxnSpPr>
          <p:nvPr/>
        </p:nvCxnSpPr>
        <p:spPr>
          <a:xfrm>
            <a:off x="5931900" y="1829025"/>
            <a:ext cx="976800" cy="58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p34"/>
          <p:cNvSpPr/>
          <p:nvPr/>
        </p:nvSpPr>
        <p:spPr>
          <a:xfrm>
            <a:off x="7833625" y="3786500"/>
            <a:ext cx="1072200" cy="7680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E (Evolution)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60" name="Google Shape;360;p34"/>
          <p:cNvCxnSpPr>
            <a:stCxn id="358" idx="2"/>
            <a:endCxn id="333" idx="3"/>
          </p:cNvCxnSpPr>
          <p:nvPr/>
        </p:nvCxnSpPr>
        <p:spPr>
          <a:xfrm flipH="1">
            <a:off x="6438025" y="4554500"/>
            <a:ext cx="1931700" cy="17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34"/>
          <p:cNvCxnSpPr>
            <a:stCxn id="333" idx="1"/>
            <a:endCxn id="362" idx="3"/>
          </p:cNvCxnSpPr>
          <p:nvPr/>
        </p:nvCxnSpPr>
        <p:spPr>
          <a:xfrm rot="10800000">
            <a:off x="3013775" y="6193925"/>
            <a:ext cx="1975200" cy="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" name="Google Shape;362;p34"/>
          <p:cNvSpPr/>
          <p:nvPr/>
        </p:nvSpPr>
        <p:spPr>
          <a:xfrm>
            <a:off x="1651675" y="5853875"/>
            <a:ext cx="1362000" cy="6801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Class Label + ABCDE 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63" name="Google Shape;363;p34"/>
          <p:cNvCxnSpPr>
            <a:stCxn id="331" idx="2"/>
            <a:endCxn id="362" idx="1"/>
          </p:cNvCxnSpPr>
          <p:nvPr/>
        </p:nvCxnSpPr>
        <p:spPr>
          <a:xfrm>
            <a:off x="646450" y="5428275"/>
            <a:ext cx="1005300" cy="7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p34"/>
          <p:cNvSpPr/>
          <p:nvPr/>
        </p:nvSpPr>
        <p:spPr>
          <a:xfrm>
            <a:off x="1477850" y="2492050"/>
            <a:ext cx="1449000" cy="283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5" name="Google Shape;365;p34"/>
          <p:cNvSpPr/>
          <p:nvPr/>
        </p:nvSpPr>
        <p:spPr>
          <a:xfrm>
            <a:off x="3013525" y="1439225"/>
            <a:ext cx="4559400" cy="5312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6" name="Google Shape;366;p34"/>
          <p:cNvSpPr/>
          <p:nvPr/>
        </p:nvSpPr>
        <p:spPr>
          <a:xfrm>
            <a:off x="7707900" y="280125"/>
            <a:ext cx="1362000" cy="460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88889"/>
              <a:buFont typeface="Trebuchet MS"/>
              <a:buNone/>
            </a:pPr>
            <a:r>
              <a:rPr lang="en-IN"/>
              <a:t>Stages of Project IV – Hierarchical Classification + ABCDE</a:t>
            </a:r>
            <a:endParaRPr/>
          </a:p>
        </p:txBody>
      </p:sp>
      <p:graphicFrame>
        <p:nvGraphicFramePr>
          <p:cNvPr id="372" name="Google Shape;372;p35"/>
          <p:cNvGraphicFramePr/>
          <p:nvPr/>
        </p:nvGraphicFramePr>
        <p:xfrm>
          <a:off x="609600" y="2160588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3174200"/>
                <a:gridCol w="3174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EfficientFormerV2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Cropped ROI(224*224)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Outputs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Lesion Class (Melanoma, Benign, etc) + ABCDE values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Classify lesion (main_class, subclass)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Evaluation Metrics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800">
                          <a:solidFill>
                            <a:schemeClr val="lt1"/>
                          </a:solidFill>
                        </a:rPr>
                        <a:t>Binary Accuracy: 94.7% | 7-Class: 89.2%</a:t>
                      </a:r>
                      <a:br>
                        <a:rPr lang="en-IN" sz="1800"/>
                      </a:br>
                      <a:r>
                        <a:rPr b="0" lang="en-IN" sz="1800">
                          <a:solidFill>
                            <a:schemeClr val="lt1"/>
                          </a:solidFill>
                        </a:rPr>
                        <a:t>Weighted F1: 0.8876 | AUC-ROC: 0.9751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https://arxiv.org/abs/2301.10077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"/>
          <p:cNvSpPr txBox="1"/>
          <p:nvPr>
            <p:ph type="title"/>
          </p:nvPr>
        </p:nvSpPr>
        <p:spPr>
          <a:xfrm>
            <a:off x="609599" y="609600"/>
            <a:ext cx="6347713" cy="769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V - MedProc</a:t>
            </a:r>
            <a:endParaRPr/>
          </a:p>
        </p:txBody>
      </p:sp>
      <p:graphicFrame>
        <p:nvGraphicFramePr>
          <p:cNvPr id="378" name="Google Shape;378;p36"/>
          <p:cNvGraphicFramePr/>
          <p:nvPr/>
        </p:nvGraphicFramePr>
        <p:xfrm>
          <a:off x="3897443" y="1342119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2236025"/>
                <a:gridCol w="2236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BioBERT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23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Medical History (Text) + Medical Report(size &lt;= 5MB)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JSON Value(Symptoms+Suggestion + E Value)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Extract relevant clinical info from reports.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NER F1: 0.8742–0.8934 | ECE: 0.0201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Relation AUC-ROC: 0.8934 | MAE: 0.1547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5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https://academic.oup.com/bioinformatics/article/36/4/1234/5566506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79" name="Google Shape;379;p36"/>
          <p:cNvSpPr/>
          <p:nvPr/>
        </p:nvSpPr>
        <p:spPr>
          <a:xfrm>
            <a:off x="125575" y="1748300"/>
            <a:ext cx="1284600" cy="531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Medical Text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2260250" y="1719325"/>
            <a:ext cx="1284600" cy="531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Medical Report &lt;= 5MB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81" name="Google Shape;381;p36"/>
          <p:cNvCxnSpPr>
            <a:stCxn id="379" idx="2"/>
            <a:endCxn id="382" idx="0"/>
          </p:cNvCxnSpPr>
          <p:nvPr/>
        </p:nvCxnSpPr>
        <p:spPr>
          <a:xfrm>
            <a:off x="767875" y="2279600"/>
            <a:ext cx="1149300" cy="5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2" name="Google Shape;382;p36"/>
          <p:cNvSpPr/>
          <p:nvPr/>
        </p:nvSpPr>
        <p:spPr>
          <a:xfrm>
            <a:off x="289775" y="2878425"/>
            <a:ext cx="3255000" cy="4734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OCR(PDF) Cleanup + Tokenization &lt;=512 tokens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83" name="Google Shape;383;p36"/>
          <p:cNvCxnSpPr>
            <a:stCxn id="380" idx="2"/>
            <a:endCxn id="382" idx="0"/>
          </p:cNvCxnSpPr>
          <p:nvPr/>
        </p:nvCxnSpPr>
        <p:spPr>
          <a:xfrm flipH="1">
            <a:off x="1917350" y="2250625"/>
            <a:ext cx="985200" cy="6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36"/>
          <p:cNvCxnSpPr>
            <a:stCxn id="382" idx="2"/>
          </p:cNvCxnSpPr>
          <p:nvPr/>
        </p:nvCxnSpPr>
        <p:spPr>
          <a:xfrm flipH="1">
            <a:off x="1912475" y="3351825"/>
            <a:ext cx="4800" cy="80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5" name="Google Shape;385;p36"/>
          <p:cNvSpPr/>
          <p:nvPr/>
        </p:nvSpPr>
        <p:spPr>
          <a:xfrm>
            <a:off x="287375" y="4153425"/>
            <a:ext cx="3255000" cy="5988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BioBERT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Clinical NLP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Task: Entity &amp; Evolution Extraction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86" name="Google Shape;386;p36"/>
          <p:cNvCxnSpPr>
            <a:stCxn id="385" idx="2"/>
          </p:cNvCxnSpPr>
          <p:nvPr/>
        </p:nvCxnSpPr>
        <p:spPr>
          <a:xfrm>
            <a:off x="1914875" y="4752225"/>
            <a:ext cx="7200" cy="7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36"/>
          <p:cNvSpPr/>
          <p:nvPr/>
        </p:nvSpPr>
        <p:spPr>
          <a:xfrm>
            <a:off x="247475" y="5476725"/>
            <a:ext cx="3342000" cy="531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JSON (symptoms + treatment + E value)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/>
          <p:nvPr>
            <p:ph type="title"/>
          </p:nvPr>
        </p:nvSpPr>
        <p:spPr>
          <a:xfrm>
            <a:off x="435749" y="60650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VI – IT Fusion (Image + Text)</a:t>
            </a:r>
            <a:endParaRPr/>
          </a:p>
        </p:txBody>
      </p:sp>
      <p:graphicFrame>
        <p:nvGraphicFramePr>
          <p:cNvPr id="393" name="Google Shape;393;p37"/>
          <p:cNvGraphicFramePr/>
          <p:nvPr/>
        </p:nvGraphicFramePr>
        <p:xfrm>
          <a:off x="4318985" y="1270001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2203575"/>
                <a:gridCol w="2203575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MARIA (</a:t>
                      </a:r>
                      <a:r>
                        <a:rPr b="0" i="0" lang="en-IN" sz="180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Multimodal Attention Resilient to Incomplete datA</a:t>
                      </a:r>
                      <a:r>
                        <a:rPr lang="en-IN" sz="1500"/>
                        <a:t>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Derm1M (413K) + MM-SkinQA (11K) + PAD-UFES-20 (2.3K) → 415,508 labelled pairs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288-dim image (EfficientFormerV2-S2) + 768-dim text (Bio_ClinicalBERT) features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Risk JSON (class, ABCDE, risk score, evidence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Align multimodal features (image + text)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Test Accuracy: 66.3% (51 classes, 415K samples)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Weighted F1: 0.675 | Macro F1: 0.533 | Gate: 0.511/0.489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Caruso et al., Computers in Biology and Medicine, 196, 2025 (doi:10.1016/j.compbiomed.2025.110843)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94" name="Google Shape;394;p37"/>
          <p:cNvSpPr/>
          <p:nvPr/>
        </p:nvSpPr>
        <p:spPr>
          <a:xfrm>
            <a:off x="202850" y="2018775"/>
            <a:ext cx="1101000" cy="6279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MedProc 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2337525" y="2038125"/>
            <a:ext cx="1477800" cy="6279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HC Output (Class + ABCDE)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96" name="Google Shape;396;p37"/>
          <p:cNvCxnSpPr>
            <a:stCxn id="394" idx="2"/>
            <a:endCxn id="397" idx="0"/>
          </p:cNvCxnSpPr>
          <p:nvPr/>
        </p:nvCxnSpPr>
        <p:spPr>
          <a:xfrm>
            <a:off x="753350" y="2646675"/>
            <a:ext cx="1256700" cy="63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8" name="Google Shape;398;p37"/>
          <p:cNvCxnSpPr>
            <a:stCxn id="395" idx="2"/>
            <a:endCxn id="397" idx="0"/>
          </p:cNvCxnSpPr>
          <p:nvPr/>
        </p:nvCxnSpPr>
        <p:spPr>
          <a:xfrm flipH="1">
            <a:off x="2010225" y="2666025"/>
            <a:ext cx="1066200" cy="6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p37"/>
          <p:cNvSpPr/>
          <p:nvPr/>
        </p:nvSpPr>
        <p:spPr>
          <a:xfrm>
            <a:off x="609600" y="3284000"/>
            <a:ext cx="2801100" cy="473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Feature Alignment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99" name="Google Shape;399;p37"/>
          <p:cNvCxnSpPr>
            <a:stCxn id="397" idx="2"/>
          </p:cNvCxnSpPr>
          <p:nvPr/>
        </p:nvCxnSpPr>
        <p:spPr>
          <a:xfrm flipH="1">
            <a:off x="2009250" y="3757400"/>
            <a:ext cx="9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0" name="Google Shape;400;p37"/>
          <p:cNvSpPr/>
          <p:nvPr/>
        </p:nvSpPr>
        <p:spPr>
          <a:xfrm>
            <a:off x="1015200" y="4279100"/>
            <a:ext cx="1989900" cy="4734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MARIA Model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Task: Image-Text Fusion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01" name="Google Shape;401;p37"/>
          <p:cNvCxnSpPr>
            <a:stCxn id="400" idx="2"/>
            <a:endCxn id="402" idx="0"/>
          </p:cNvCxnSpPr>
          <p:nvPr/>
        </p:nvCxnSpPr>
        <p:spPr>
          <a:xfrm flipH="1">
            <a:off x="2009550" y="4752500"/>
            <a:ext cx="6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2" name="Google Shape;402;p37"/>
          <p:cNvSpPr/>
          <p:nvPr/>
        </p:nvSpPr>
        <p:spPr>
          <a:xfrm>
            <a:off x="1381350" y="5457375"/>
            <a:ext cx="1256700" cy="7050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Risk JSON (score + evidence)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3" name="Google Shape;403;p37"/>
          <p:cNvSpPr/>
          <p:nvPr/>
        </p:nvSpPr>
        <p:spPr>
          <a:xfrm>
            <a:off x="0" y="1356100"/>
            <a:ext cx="3969900" cy="521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1" name="ImagePlaceholder20"/>
          <p:cNvSpPr>
            <a:spLocks noGrp="1"/>
          </p:cNvSpPr>
          <p:nvPr/>
        </p:nvSpPr>
        <p:spPr>
          <a:xfrm>
            <a:off x="457200" y="4750000"/>
            <a:ext cx="8229600" cy="1800000"/>
          </a:xfrm>
          <a:prstGeom prst="rect">
            <a:avLst/>
          </a:prstGeom>
          <a:solidFill>
            <a:srgbClr val="F0F4F0"/>
          </a:solidFill>
          <a:ln w="19050">
            <a:solidFill>
              <a:srgbClr val="5B8A3C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400" b="0" i="1">
                <a:solidFill>
                  <a:srgbClr val="5B8A3C"/>
                </a:solidFill>
              </a:rPr>
              <a:t>[ Insert: Gate Weight Bar Chart ]</a:t>
            </a:r>
          </a:p>
          <a:p>
            <a:pPr algn="ctr"/>
            <a:r>
              <a:rPr lang="en-US" sz="1100" b="0">
                <a:solidFill>
                  <a:srgbClr val="888888"/>
                </a:solidFill>
              </a:rPr>
              <a:t>Image gate: 0.511 ± 0.184 | Text gate: 0.489 ± 0.184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lIns="182880" rIns="182880" tIns="91440" bIns="91440" wrap="square">
            <a:normAutofit/>
          </a:bodyPr>
          <a:lstStyle/>
          <a:p>
            <a:pPr indent="0" marL="0" algn="l"/>
            <a:r>
              <a:rPr lang="en-IN" sz="2400" b="1" dirty="0">
                <a:solidFill>
                  <a:srgbClr val="FFFFFF"/>
                </a:solidFill>
                <a:latin typeface="Calibri"/>
              </a:rPr>
              <a:t>Stage 7: VQA – R-LLaVA with QLoRA</a:t>
            </a:r>
          </a:p>
        </p:txBody>
      </p:sp>
      <p:sp>
        <p:nvSpPr>
          <p:cNvPr id="10" name="Box10"/>
          <p:cNvSpPr txBox="1"/>
          <p:nvPr/>
        </p:nvSpPr>
        <p:spPr>
          <a:xfrm>
            <a:off x="457200" y="990000"/>
            <a:ext cx="1400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1" dirty="0">
                <a:solidFill>
                  <a:srgbClr val="003366"/>
                </a:solidFill>
                <a:latin typeface="Calibri"/>
              </a:rPr>
              <a:t>Model</a:t>
            </a:r>
          </a:p>
        </p:txBody>
      </p:sp>
      <p:sp>
        <p:nvSpPr>
          <p:cNvPr id="11" name="Box11"/>
          <p:cNvSpPr txBox="1"/>
          <p:nvPr/>
        </p:nvSpPr>
        <p:spPr>
          <a:xfrm>
            <a:off x="1857200" y="990000"/>
            <a:ext cx="2500000" cy="38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1A1A2E"/>
                </a:solidFill>
                <a:latin typeface="Calibri"/>
              </a:rPr>
              <a:t>LLaVA-v1.6-Mistral-7B + QLoRA (r=8, NF4 4-bit)</a:t>
            </a:r>
          </a:p>
        </p:txBody>
      </p:sp>
      <p:sp>
        <p:nvSpPr>
          <p:cNvPr id="12" name="Box12"/>
          <p:cNvSpPr txBox="1"/>
          <p:nvPr/>
        </p:nvSpPr>
        <p:spPr>
          <a:xfrm>
            <a:off x="457200" y="1370000"/>
            <a:ext cx="1400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1" dirty="0">
                <a:solidFill>
                  <a:srgbClr val="003366"/>
                </a:solidFill>
                <a:latin typeface="Calibri"/>
              </a:rPr>
              <a:t>Inputs</a:t>
            </a:r>
          </a:p>
        </p:txBody>
      </p:sp>
      <p:sp>
        <p:nvSpPr>
          <p:cNvPr id="13" name="Box13"/>
          <p:cNvSpPr txBox="1"/>
          <p:nvPr/>
        </p:nvSpPr>
        <p:spPr>
          <a:xfrm>
            <a:off x="1857200" y="1370000"/>
            <a:ext cx="2500000" cy="38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1A1A2E"/>
                </a:solidFill>
                <a:latin typeface="Calibri"/>
              </a:rPr>
              <a:t>ROI Image (336x336) + IT Fusion JSON + Question</a:t>
            </a:r>
          </a:p>
        </p:txBody>
      </p:sp>
      <p:sp>
        <p:nvSpPr>
          <p:cNvPr id="14" name="Box14"/>
          <p:cNvSpPr txBox="1"/>
          <p:nvPr/>
        </p:nvSpPr>
        <p:spPr>
          <a:xfrm>
            <a:off x="457200" y="1750000"/>
            <a:ext cx="1400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1" dirty="0">
                <a:solidFill>
                  <a:srgbClr val="003366"/>
                </a:solidFill>
                <a:latin typeface="Calibri"/>
              </a:rPr>
              <a:t>Output</a:t>
            </a:r>
          </a:p>
        </p:txBody>
      </p:sp>
      <p:sp>
        <p:nvSpPr>
          <p:cNvPr id="15" name="Box15"/>
          <p:cNvSpPr txBox="1"/>
          <p:nvPr/>
        </p:nvSpPr>
        <p:spPr>
          <a:xfrm>
            <a:off x="1857200" y="1750000"/>
            <a:ext cx="2500000" cy="38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1A1A2E"/>
                </a:solidFill>
                <a:latin typeface="Calibri"/>
              </a:rPr>
              <a:t>Clinical answer + ABCDE evidence + drug recommendation</a:t>
            </a:r>
          </a:p>
        </p:txBody>
      </p:sp>
      <p:sp>
        <p:nvSpPr>
          <p:cNvPr id="16" name="Box16"/>
          <p:cNvSpPr txBox="1"/>
          <p:nvPr/>
        </p:nvSpPr>
        <p:spPr>
          <a:xfrm>
            <a:off x="457200" y="2130000"/>
            <a:ext cx="1400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1" dirty="0">
                <a:solidFill>
                  <a:srgbClr val="003366"/>
                </a:solidFill>
                <a:latin typeface="Calibri"/>
              </a:rPr>
              <a:t>Dataset</a:t>
            </a:r>
          </a:p>
        </p:txBody>
      </p:sp>
      <p:sp>
        <p:nvSpPr>
          <p:cNvPr id="17" name="Box17"/>
          <p:cNvSpPr txBox="1"/>
          <p:nvPr/>
        </p:nvSpPr>
        <p:spPr>
          <a:xfrm>
            <a:off x="1857200" y="2130000"/>
            <a:ext cx="2500000" cy="38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1A1A2E"/>
                </a:solidFill>
                <a:latin typeface="Calibri"/>
              </a:rPr>
              <a:t>Stage6QA: 415K pairs | 4 types | 6 disease classes</a:t>
            </a:r>
          </a:p>
        </p:txBody>
      </p:sp>
      <p:sp>
        <p:nvSpPr>
          <p:cNvPr id="18" name="Box18"/>
          <p:cNvSpPr txBox="1"/>
          <p:nvPr/>
        </p:nvSpPr>
        <p:spPr>
          <a:xfrm>
            <a:off x="457200" y="2510000"/>
            <a:ext cx="1400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1" dirty="0">
                <a:solidFill>
                  <a:srgbClr val="003366"/>
                </a:solidFill>
                <a:latin typeface="Calibri"/>
              </a:rPr>
              <a:t>Training</a:t>
            </a:r>
          </a:p>
        </p:txBody>
      </p:sp>
      <p:sp>
        <p:nvSpPr>
          <p:cNvPr id="19" name="Box19"/>
          <p:cNvSpPr txBox="1"/>
          <p:nvPr/>
        </p:nvSpPr>
        <p:spPr>
          <a:xfrm>
            <a:off x="1857200" y="2510000"/>
            <a:ext cx="2500000" cy="38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1A1A2E"/>
                </a:solidFill>
                <a:latin typeface="Calibri"/>
              </a:rPr>
              <a:t>Stage I: VICReg projector | Stage II: LoRA q/k/v/o_proj</a:t>
            </a:r>
          </a:p>
        </p:txBody>
      </p:sp>
      <p:sp>
        <p:nvSpPr>
          <p:cNvPr id="20" name="Box20"/>
          <p:cNvSpPr txBox="1"/>
          <p:nvPr/>
        </p:nvSpPr>
        <p:spPr>
          <a:xfrm>
            <a:off x="457200" y="2890000"/>
            <a:ext cx="1400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1" dirty="0">
                <a:solidFill>
                  <a:srgbClr val="003366"/>
                </a:solidFill>
                <a:latin typeface="Calibri"/>
              </a:rPr>
              <a:t>Hardware</a:t>
            </a:r>
          </a:p>
        </p:txBody>
      </p:sp>
      <p:sp>
        <p:nvSpPr>
          <p:cNvPr id="21" name="Box21"/>
          <p:cNvSpPr txBox="1"/>
          <p:nvPr/>
        </p:nvSpPr>
        <p:spPr>
          <a:xfrm>
            <a:off x="1857200" y="2890000"/>
            <a:ext cx="2500000" cy="38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1A1A2E"/>
                </a:solidFill>
                <a:latin typeface="Calibri"/>
              </a:rPr>
              <a:t>DGX 3xA100-SXM4-40GB | 126 GB VRAM | CUDA 12.2</a:t>
            </a:r>
          </a:p>
        </p:txBody>
      </p:sp>
      <p:sp>
        <p:nvSpPr>
          <p:cNvPr id="22" name="Box22"/>
          <p:cNvSpPr txBox="1"/>
          <p:nvPr/>
        </p:nvSpPr>
        <p:spPr>
          <a:xfrm>
            <a:off x="457200" y="3270000"/>
            <a:ext cx="1400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1" dirty="0">
                <a:solidFill>
                  <a:srgbClr val="003366"/>
                </a:solidFill>
                <a:latin typeface="Calibri"/>
              </a:rPr>
              <a:t>Config</a:t>
            </a:r>
          </a:p>
        </p:txBody>
      </p:sp>
      <p:sp>
        <p:nvSpPr>
          <p:cNvPr id="23" name="Box23"/>
          <p:cNvSpPr txBox="1"/>
          <p:nvPr/>
        </p:nvSpPr>
        <p:spPr>
          <a:xfrm>
            <a:off x="1857200" y="3270000"/>
            <a:ext cx="2500000" cy="38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1A1A2E"/>
                </a:solidFill>
                <a:latin typeface="Calibri"/>
              </a:rPr>
              <a:t>7 epochs | batch=4 | LR=2e-5 | grad_accum=4 | patience=5</a:t>
            </a:r>
          </a:p>
        </p:txBody>
      </p:sp>
      <p:sp>
        <p:nvSpPr>
          <p:cNvPr id="24" name="Box24"/>
          <p:cNvSpPr txBox="1"/>
          <p:nvPr/>
        </p:nvSpPr>
        <p:spPr>
          <a:xfrm>
            <a:off x="457200" y="3650000"/>
            <a:ext cx="1400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1" dirty="0">
                <a:solidFill>
                  <a:srgbClr val="003366"/>
                </a:solidFill>
                <a:latin typeface="Calibri"/>
              </a:rPr>
              <a:t>Paper</a:t>
            </a:r>
          </a:p>
        </p:txBody>
      </p:sp>
      <p:sp>
        <p:nvSpPr>
          <p:cNvPr id="25" name="Box25"/>
          <p:cNvSpPr txBox="1"/>
          <p:nvPr/>
        </p:nvSpPr>
        <p:spPr>
          <a:xfrm>
            <a:off x="1857200" y="3650000"/>
            <a:ext cx="2500000" cy="38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1A1A2E"/>
                </a:solidFill>
                <a:latin typeface="Calibri"/>
              </a:rPr>
              <a:t>Chen et al., R-LLaVA, arXiv:2410.20327 (ICLR 2025)</a:t>
            </a:r>
          </a:p>
        </p:txBody>
      </p:sp>
      <p:sp>
        <p:nvSpPr>
          <p:cNvPr id="50" name="ImgPlaceholder50"/>
          <p:cNvSpPr txBox="1"/>
          <p:nvPr/>
        </p:nvSpPr>
        <p:spPr>
          <a:xfrm>
            <a:off x="4585800" y="990000"/>
            <a:ext cx="4101000" cy="2200000"/>
          </a:xfrm>
          <a:prstGeom prst="rect">
            <a:avLst/>
          </a:prstGeom>
          <a:solidFill>
            <a:srgbClr val="E8F4FD"/>
          </a:solidFill>
          <a:ln w="19050">
            <a:solidFill>
              <a:srgbClr val="2563EB"/>
            </a:solidFill>
            <a:prstDash val="dash"/>
          </a:ln>
        </p:spPr>
        <p:txBody>
          <a:bodyPr anchorCtr="0" anchor="ctr" lIns="91440" rIns="91440" tIns="91440" bIns="91440" wrap="square">
            <a:normAutofit/>
          </a:bodyPr>
          <a:lstStyle/>
          <a:p>
            <a:pPr algn="ctr"/>
            <a:r>
              <a:rPr lang="en-IN" sz="1200" b="0" dirty="0">
                <a:solidFill>
                  <a:srgbClr val="2563EB"/>
                </a:solidFill>
                <a:latin typeface="Calibri"/>
              </a:rPr>
              <a:t>[ Insert: VQA Pipeline Diagram
(ROI -&gt; R-LLaVA -&gt; Answer) ]</a:t>
            </a:r>
          </a:p>
        </p:txBody>
      </p:sp>
      <p:sp>
        <p:nvSpPr>
          <p:cNvPr id="51" name="Box51"/>
          <p:cNvSpPr txBox="1"/>
          <p:nvPr/>
        </p:nvSpPr>
        <p:spPr>
          <a:xfrm>
            <a:off x="4585800" y="3270000"/>
            <a:ext cx="4101000" cy="18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300" b="1" dirty="0">
                <a:solidFill>
                  <a:srgbClr val="003366"/>
                </a:solidFill>
                <a:latin typeface="Calibri"/>
              </a:rPr>
              <a:t>Sample Q&amp;A (ABCDE-grounded)</a:t>
            </a:r>
          </a:p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1A1A2E"/>
                </a:solidFill>
                <a:latin typeface="Calibri"/>
              </a:rPr>
              <a:t>Q: What ABCDE features indicate malignancy risk?</a:t>
            </a:r>
          </a:p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1A1A2E"/>
                </a:solidFill>
                <a:latin typeface="Calibri"/>
              </a:rPr>
              <a:t>A: Asymmetry=0.87 (high), Border=0.74 (irregular),</a:t>
            </a:r>
          </a:p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1A1A2E"/>
                </a:solidFill>
                <a:latin typeface="Calibri"/>
              </a:rPr>
              <a:t xml:space="preserve">   Color=0.63 (multicolor), Diameter=0.55 (&gt;6mm),</a:t>
            </a:r>
          </a:p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C0392B"/>
                </a:solidFill>
                <a:latin typeface="Calibri"/>
              </a:rPr>
              <a:t xml:space="preserve">   Evolution=0.72 (changing) -&gt; High risk -&gt; MEL</a:t>
            </a:r>
          </a:p>
          <a:p>
            <a:pPr indent="0" marL="0">
              <a:spcBef>
                <a:spcPts val="100"/>
              </a:spcBef>
            </a:pPr>
            <a:r>
              <a:rPr lang="en-IN" sz="1200" b="0" dirty="0">
                <a:solidFill>
                  <a:srgbClr val="374151"/>
                </a:solidFill>
                <a:latin typeface="Calibri"/>
              </a:rPr>
              <a:t>Drug: Refer immediately for biopsy + excision.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Stagewise Datasets</a:t>
            </a:r>
            <a:endParaRPr/>
          </a:p>
        </p:txBody>
      </p:sp>
      <p:graphicFrame>
        <p:nvGraphicFramePr>
          <p:cNvPr id="430" name="Google Shape;430;p39"/>
          <p:cNvGraphicFramePr/>
          <p:nvPr/>
        </p:nvGraphicFramePr>
        <p:xfrm>
          <a:off x="609600" y="1635933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3174200"/>
                <a:gridCol w="371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Stages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Datasets required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ISIC 2016,2017,2018, PH2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ROI Cropping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No dataset required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 xml:space="preserve">HC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ISIC 2019,</a:t>
                      </a:r>
                      <a:r>
                        <a:rPr lang="en-IN" sz="1800"/>
                        <a:t xml:space="preserve">ISIC 2018, MILK10k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MedProc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MIMIC-III, MIMIC-IV, PAD-UFES-20, EICU, Derm1M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IT Fusion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Derm1M (413K) + MM-SkinQA (11K) + PAD-UFES-20 (2.3K) → 415,508 labelled pairs, 51 classes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VQA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Stage6QA: 415K pairs from Derm1M+MM-Skin+PAD-UFES | 4 types: open/close/region/multichoice | RAG: MedQuAD+DermNet+StatPearls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Development </a:t>
            </a:r>
            <a:endParaRPr/>
          </a:p>
        </p:txBody>
      </p:sp>
      <p:sp>
        <p:nvSpPr>
          <p:cNvPr id="436" name="Google Shape;436;p40"/>
          <p:cNvSpPr/>
          <p:nvPr/>
        </p:nvSpPr>
        <p:spPr>
          <a:xfrm>
            <a:off x="251150" y="1866550"/>
            <a:ext cx="1728900" cy="763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Preprocessing Image Resize/ OCR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Cleaned data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37" name="Google Shape;437;p40"/>
          <p:cNvCxnSpPr>
            <a:stCxn id="436" idx="3"/>
            <a:endCxn id="438" idx="1"/>
          </p:cNvCxnSpPr>
          <p:nvPr/>
        </p:nvCxnSpPr>
        <p:spPr>
          <a:xfrm>
            <a:off x="1980050" y="2248150"/>
            <a:ext cx="589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8" name="Google Shape;438;p40"/>
          <p:cNvSpPr/>
          <p:nvPr/>
        </p:nvSpPr>
        <p:spPr>
          <a:xfrm>
            <a:off x="2569325" y="1786900"/>
            <a:ext cx="1957800" cy="92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SLS (ARCUNet)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 Image: 512x512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 xml:space="preserve"> Output: Lesion Mask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39" name="Google Shape;439;p40"/>
          <p:cNvCxnSpPr>
            <a:stCxn id="438" idx="3"/>
          </p:cNvCxnSpPr>
          <p:nvPr/>
        </p:nvCxnSpPr>
        <p:spPr>
          <a:xfrm flipH="1" rot="10800000">
            <a:off x="4527125" y="2245750"/>
            <a:ext cx="8628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0" name="Google Shape;440;p40"/>
          <p:cNvSpPr/>
          <p:nvPr/>
        </p:nvSpPr>
        <p:spPr>
          <a:xfrm>
            <a:off x="5389950" y="1784500"/>
            <a:ext cx="2318100" cy="927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 xml:space="preserve">SLRC (OpenCV + Connected Components)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Image + Mask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ROI Crop 224  x 224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41" name="Google Shape;441;p40"/>
          <p:cNvCxnSpPr>
            <a:stCxn id="440" idx="2"/>
          </p:cNvCxnSpPr>
          <p:nvPr/>
        </p:nvCxnSpPr>
        <p:spPr>
          <a:xfrm>
            <a:off x="6549000" y="2711800"/>
            <a:ext cx="14400" cy="8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2" name="Google Shape;442;p40"/>
          <p:cNvSpPr/>
          <p:nvPr/>
        </p:nvSpPr>
        <p:spPr>
          <a:xfrm>
            <a:off x="5389950" y="3544900"/>
            <a:ext cx="2318100" cy="10143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HC EfficientFormerV2-s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ROI Crop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Lesion Class + ABCD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3" name="Google Shape;443;p40"/>
          <p:cNvSpPr/>
          <p:nvPr/>
        </p:nvSpPr>
        <p:spPr>
          <a:xfrm>
            <a:off x="5389950" y="5380150"/>
            <a:ext cx="2257200" cy="8331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MedProc (BIOBert)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Text &lt;= 512 tokens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Entities + 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4" name="Google Shape;444;p40"/>
          <p:cNvSpPr/>
          <p:nvPr/>
        </p:nvSpPr>
        <p:spPr>
          <a:xfrm>
            <a:off x="2636950" y="4452875"/>
            <a:ext cx="1890300" cy="927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IT Fusion (MARIA)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HC + MedProc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Risk JSON (ABCDE + Evidence)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45" name="Google Shape;445;p40"/>
          <p:cNvCxnSpPr>
            <a:stCxn id="442" idx="1"/>
            <a:endCxn id="444" idx="3"/>
          </p:cNvCxnSpPr>
          <p:nvPr/>
        </p:nvCxnSpPr>
        <p:spPr>
          <a:xfrm flipH="1">
            <a:off x="4527150" y="4052050"/>
            <a:ext cx="862800" cy="86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40"/>
          <p:cNvCxnSpPr>
            <a:stCxn id="443" idx="1"/>
            <a:endCxn id="444" idx="3"/>
          </p:cNvCxnSpPr>
          <p:nvPr/>
        </p:nvCxnSpPr>
        <p:spPr>
          <a:xfrm rot="10800000">
            <a:off x="4527150" y="4916500"/>
            <a:ext cx="862800" cy="8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" name="Google Shape;447;p40"/>
          <p:cNvCxnSpPr>
            <a:stCxn id="444" idx="1"/>
            <a:endCxn id="448" idx="3"/>
          </p:cNvCxnSpPr>
          <p:nvPr/>
        </p:nvCxnSpPr>
        <p:spPr>
          <a:xfrm flipH="1">
            <a:off x="1902850" y="4916525"/>
            <a:ext cx="7341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8" name="Google Shape;448;p40"/>
          <p:cNvSpPr/>
          <p:nvPr/>
        </p:nvSpPr>
        <p:spPr>
          <a:xfrm>
            <a:off x="328250" y="4390025"/>
            <a:ext cx="1574700" cy="10626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VQA (R-LLaVA)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Question + ROI +JSON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Answer + Evidence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48300" y="1410225"/>
            <a:ext cx="8258700" cy="4926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Experimental Setup &amp; Preprocessing   </a:t>
            </a:r>
            <a:endParaRPr/>
          </a:p>
        </p:txBody>
      </p:sp>
      <p:sp>
        <p:nvSpPr>
          <p:cNvPr id="455" name="Google Shape;455;p41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Image size: 224×224 / 512×512.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Text: ≤512 tokens.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Hardware: NVIDIA GPU, PyTorch, FastAPI, React.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Preprocessing: Hair removal, OCR for PDF, Tokenization.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2"/>
          <p:cNvSpPr txBox="1"/>
          <p:nvPr>
            <p:ph type="title"/>
          </p:nvPr>
        </p:nvSpPr>
        <p:spPr>
          <a:xfrm>
            <a:off x="526300" y="2850"/>
            <a:ext cx="63477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Project Timeline</a:t>
            </a:r>
            <a:endParaRPr/>
          </a:p>
        </p:txBody>
      </p:sp>
      <p:grpSp>
        <p:nvGrpSpPr>
          <p:cNvPr id="461" name="Google Shape;461;p42"/>
          <p:cNvGrpSpPr/>
          <p:nvPr/>
        </p:nvGrpSpPr>
        <p:grpSpPr>
          <a:xfrm>
            <a:off x="6734227" y="695354"/>
            <a:ext cx="2162651" cy="6065954"/>
            <a:chOff x="6616600" y="1431525"/>
            <a:chExt cx="2043900" cy="2927725"/>
          </a:xfrm>
        </p:grpSpPr>
        <p:sp>
          <p:nvSpPr>
            <p:cNvPr id="462" name="Google Shape;462;p42"/>
            <p:cNvSpPr/>
            <p:nvPr/>
          </p:nvSpPr>
          <p:spPr>
            <a:xfrm>
              <a:off x="6616600" y="1431550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BE2F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2"/>
            <p:cNvSpPr/>
            <p:nvPr/>
          </p:nvSpPr>
          <p:spPr>
            <a:xfrm flipH="1" rot="10800000">
              <a:off x="6616600" y="1431525"/>
              <a:ext cx="2043900" cy="1269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2"/>
            <p:cNvSpPr txBox="1"/>
            <p:nvPr/>
          </p:nvSpPr>
          <p:spPr>
            <a:xfrm>
              <a:off x="6616600" y="1558422"/>
              <a:ext cx="8046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4000">
                  <a:solidFill>
                    <a:srgbClr val="BE2F22"/>
                  </a:solidFill>
                  <a:latin typeface="Roboto"/>
                  <a:ea typeface="Roboto"/>
                  <a:cs typeface="Roboto"/>
                  <a:sym typeface="Roboto"/>
                </a:rPr>
                <a:t>S4</a:t>
              </a:r>
              <a:endParaRPr b="1" sz="4000">
                <a:solidFill>
                  <a:srgbClr val="BE2F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5" name="Google Shape;465;p42"/>
            <p:cNvSpPr txBox="1"/>
            <p:nvPr/>
          </p:nvSpPr>
          <p:spPr>
            <a:xfrm>
              <a:off x="6678075" y="1955328"/>
              <a:ext cx="469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E2F22"/>
                  </a:solidFill>
                  <a:latin typeface="Roboto"/>
                  <a:ea typeface="Roboto"/>
                  <a:cs typeface="Roboto"/>
                  <a:sym typeface="Roboto"/>
                </a:rPr>
                <a:t>APRIL</a:t>
              </a:r>
              <a:endParaRPr sz="700">
                <a:solidFill>
                  <a:srgbClr val="BE2F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6" name="Google Shape;466;p42"/>
            <p:cNvSpPr txBox="1"/>
            <p:nvPr/>
          </p:nvSpPr>
          <p:spPr>
            <a:xfrm>
              <a:off x="7441602" y="1968229"/>
              <a:ext cx="393900" cy="1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E2F22"/>
                  </a:solidFill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700">
                <a:solidFill>
                  <a:srgbClr val="BE2F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7" name="Google Shape;467;p42"/>
            <p:cNvSpPr txBox="1"/>
            <p:nvPr/>
          </p:nvSpPr>
          <p:spPr>
            <a:xfrm>
              <a:off x="8129824" y="1955328"/>
              <a:ext cx="469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E2F22"/>
                  </a:solidFill>
                  <a:latin typeface="Roboto"/>
                  <a:ea typeface="Roboto"/>
                  <a:cs typeface="Roboto"/>
                  <a:sym typeface="Roboto"/>
                </a:rPr>
                <a:t>JUNE</a:t>
              </a:r>
              <a:endParaRPr sz="700">
                <a:solidFill>
                  <a:srgbClr val="BE2F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68" name="Google Shape;468;p42"/>
            <p:cNvCxnSpPr/>
            <p:nvPr/>
          </p:nvCxnSpPr>
          <p:spPr>
            <a:xfrm flipH="1" rot="10800000">
              <a:off x="7284600" y="1971500"/>
              <a:ext cx="8100" cy="2383800"/>
            </a:xfrm>
            <a:prstGeom prst="straightConnector1">
              <a:avLst/>
            </a:prstGeom>
            <a:noFill/>
            <a:ln cap="flat" cmpd="sng" w="9525">
              <a:solidFill>
                <a:srgbClr val="BE2F22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69" name="Google Shape;469;p42"/>
            <p:cNvCxnSpPr/>
            <p:nvPr/>
          </p:nvCxnSpPr>
          <p:spPr>
            <a:xfrm flipH="1" rot="10800000">
              <a:off x="7967975" y="1961600"/>
              <a:ext cx="20100" cy="2393700"/>
            </a:xfrm>
            <a:prstGeom prst="straightConnector1">
              <a:avLst/>
            </a:prstGeom>
            <a:noFill/>
            <a:ln cap="flat" cmpd="sng" w="9525">
              <a:solidFill>
                <a:srgbClr val="BE2F22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470" name="Google Shape;470;p42"/>
          <p:cNvGrpSpPr/>
          <p:nvPr/>
        </p:nvGrpSpPr>
        <p:grpSpPr>
          <a:xfrm>
            <a:off x="4690250" y="695188"/>
            <a:ext cx="2043900" cy="6066119"/>
            <a:chOff x="4572350" y="1396282"/>
            <a:chExt cx="2043900" cy="2969221"/>
          </a:xfrm>
        </p:grpSpPr>
        <p:sp>
          <p:nvSpPr>
            <p:cNvPr id="471" name="Google Shape;471;p42"/>
            <p:cNvSpPr/>
            <p:nvPr/>
          </p:nvSpPr>
          <p:spPr>
            <a:xfrm>
              <a:off x="4572350" y="1396283"/>
              <a:ext cx="2043900" cy="2969100"/>
            </a:xfrm>
            <a:prstGeom prst="rect">
              <a:avLst/>
            </a:prstGeom>
            <a:noFill/>
            <a:ln cap="flat" cmpd="sng" w="9525">
              <a:solidFill>
                <a:srgbClr val="B02B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2"/>
            <p:cNvSpPr/>
            <p:nvPr/>
          </p:nvSpPr>
          <p:spPr>
            <a:xfrm flipH="1" rot="10800000">
              <a:off x="4572350" y="1396282"/>
              <a:ext cx="2043900" cy="1269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2"/>
            <p:cNvSpPr txBox="1"/>
            <p:nvPr/>
          </p:nvSpPr>
          <p:spPr>
            <a:xfrm>
              <a:off x="4572350" y="1558424"/>
              <a:ext cx="8046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4000">
                  <a:solidFill>
                    <a:srgbClr val="B02B20"/>
                  </a:solidFill>
                  <a:latin typeface="Roboto"/>
                  <a:ea typeface="Roboto"/>
                  <a:cs typeface="Roboto"/>
                  <a:sym typeface="Roboto"/>
                </a:rPr>
                <a:t>S3</a:t>
              </a:r>
              <a:endParaRPr b="1" sz="400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4" name="Google Shape;474;p42"/>
            <p:cNvSpPr txBox="1"/>
            <p:nvPr/>
          </p:nvSpPr>
          <p:spPr>
            <a:xfrm>
              <a:off x="4637852" y="1938713"/>
              <a:ext cx="4656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02B20"/>
                  </a:solidFill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70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" name="Google Shape;475;p42"/>
            <p:cNvSpPr txBox="1"/>
            <p:nvPr/>
          </p:nvSpPr>
          <p:spPr>
            <a:xfrm>
              <a:off x="5418200" y="1938712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02B20"/>
                  </a:solidFill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70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" name="Google Shape;476;p42"/>
            <p:cNvSpPr txBox="1"/>
            <p:nvPr/>
          </p:nvSpPr>
          <p:spPr>
            <a:xfrm>
              <a:off x="5888700" y="1938713"/>
              <a:ext cx="6096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02B20"/>
                  </a:solidFill>
                  <a:latin typeface="Roboto"/>
                  <a:ea typeface="Roboto"/>
                  <a:cs typeface="Roboto"/>
                  <a:sym typeface="Roboto"/>
                </a:rPr>
                <a:t>MARCH</a:t>
              </a:r>
              <a:endParaRPr sz="70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77" name="Google Shape;477;p42"/>
            <p:cNvCxnSpPr/>
            <p:nvPr/>
          </p:nvCxnSpPr>
          <p:spPr>
            <a:xfrm rot="10800000">
              <a:off x="5273775" y="2002008"/>
              <a:ext cx="34200" cy="2332500"/>
            </a:xfrm>
            <a:prstGeom prst="straightConnector1">
              <a:avLst/>
            </a:prstGeom>
            <a:noFill/>
            <a:ln cap="flat" cmpd="sng" w="9525">
              <a:solidFill>
                <a:srgbClr val="B02B2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78" name="Google Shape;478;p42"/>
            <p:cNvCxnSpPr/>
            <p:nvPr/>
          </p:nvCxnSpPr>
          <p:spPr>
            <a:xfrm rot="10800000">
              <a:off x="5843875" y="1916303"/>
              <a:ext cx="21900" cy="2449200"/>
            </a:xfrm>
            <a:prstGeom prst="straightConnector1">
              <a:avLst/>
            </a:prstGeom>
            <a:noFill/>
            <a:ln cap="flat" cmpd="sng" w="9525">
              <a:solidFill>
                <a:srgbClr val="B02B20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479" name="Google Shape;479;p42"/>
          <p:cNvGrpSpPr/>
          <p:nvPr/>
        </p:nvGrpSpPr>
        <p:grpSpPr>
          <a:xfrm>
            <a:off x="2646379" y="695236"/>
            <a:ext cx="2043903" cy="6066247"/>
            <a:chOff x="2528097" y="1431525"/>
            <a:chExt cx="2043903" cy="2927725"/>
          </a:xfrm>
        </p:grpSpPr>
        <p:sp>
          <p:nvSpPr>
            <p:cNvPr id="480" name="Google Shape;480;p42"/>
            <p:cNvSpPr/>
            <p:nvPr/>
          </p:nvSpPr>
          <p:spPr>
            <a:xfrm>
              <a:off x="2528100" y="1431550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2"/>
            <p:cNvSpPr/>
            <p:nvPr/>
          </p:nvSpPr>
          <p:spPr>
            <a:xfrm flipH="1" rot="10800000">
              <a:off x="2528100" y="1431525"/>
              <a:ext cx="2043900" cy="1269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2"/>
            <p:cNvSpPr txBox="1"/>
            <p:nvPr/>
          </p:nvSpPr>
          <p:spPr>
            <a:xfrm>
              <a:off x="2528097" y="1558434"/>
              <a:ext cx="9465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4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S2</a:t>
              </a:r>
              <a:endParaRPr b="1" sz="4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" name="Google Shape;483;p42"/>
            <p:cNvSpPr txBox="1"/>
            <p:nvPr/>
          </p:nvSpPr>
          <p:spPr>
            <a:xfrm>
              <a:off x="2646302" y="1955331"/>
              <a:ext cx="4308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OCT</a:t>
              </a:r>
              <a:endParaRPr sz="7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" name="Google Shape;484;p42"/>
            <p:cNvSpPr txBox="1"/>
            <p:nvPr/>
          </p:nvSpPr>
          <p:spPr>
            <a:xfrm>
              <a:off x="3328564" y="1955331"/>
              <a:ext cx="4308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NOV</a:t>
              </a:r>
              <a:endParaRPr sz="7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" name="Google Shape;485;p42"/>
            <p:cNvSpPr txBox="1"/>
            <p:nvPr/>
          </p:nvSpPr>
          <p:spPr>
            <a:xfrm>
              <a:off x="4082299" y="1955331"/>
              <a:ext cx="4308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DEC</a:t>
              </a:r>
              <a:endParaRPr sz="7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86" name="Google Shape;486;p42"/>
            <p:cNvCxnSpPr/>
            <p:nvPr/>
          </p:nvCxnSpPr>
          <p:spPr>
            <a:xfrm rot="10800000">
              <a:off x="3252738" y="1946600"/>
              <a:ext cx="600" cy="2408700"/>
            </a:xfrm>
            <a:prstGeom prst="straightConnector1">
              <a:avLst/>
            </a:prstGeom>
            <a:noFill/>
            <a:ln cap="flat" cmpd="sng" w="9525">
              <a:solidFill>
                <a:srgbClr val="A7291E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87" name="Google Shape;487;p42"/>
            <p:cNvCxnSpPr/>
            <p:nvPr/>
          </p:nvCxnSpPr>
          <p:spPr>
            <a:xfrm flipH="1" rot="10800000">
              <a:off x="3878738" y="1886000"/>
              <a:ext cx="1800" cy="2469300"/>
            </a:xfrm>
            <a:prstGeom prst="straightConnector1">
              <a:avLst/>
            </a:prstGeom>
            <a:noFill/>
            <a:ln cap="flat" cmpd="sng" w="9525">
              <a:solidFill>
                <a:srgbClr val="A7291E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488" name="Google Shape;488;p42"/>
          <p:cNvGrpSpPr/>
          <p:nvPr/>
        </p:nvGrpSpPr>
        <p:grpSpPr>
          <a:xfrm>
            <a:off x="483651" y="695247"/>
            <a:ext cx="2162651" cy="6066220"/>
            <a:chOff x="3975900" y="1431525"/>
            <a:chExt cx="2043900" cy="2927712"/>
          </a:xfrm>
        </p:grpSpPr>
        <p:sp>
          <p:nvSpPr>
            <p:cNvPr id="489" name="Google Shape;489;p42"/>
            <p:cNvSpPr/>
            <p:nvPr/>
          </p:nvSpPr>
          <p:spPr>
            <a:xfrm>
              <a:off x="3975900" y="1431537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801F1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2"/>
            <p:cNvSpPr/>
            <p:nvPr/>
          </p:nvSpPr>
          <p:spPr>
            <a:xfrm flipH="1" rot="10800000">
              <a:off x="3975900" y="1431525"/>
              <a:ext cx="2043900" cy="126900"/>
            </a:xfrm>
            <a:prstGeom prst="rect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2"/>
            <p:cNvSpPr txBox="1"/>
            <p:nvPr/>
          </p:nvSpPr>
          <p:spPr>
            <a:xfrm>
              <a:off x="3975900" y="1558422"/>
              <a:ext cx="8046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40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S1</a:t>
              </a:r>
              <a:endParaRPr b="1" sz="40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2" name="Google Shape;492;p42"/>
            <p:cNvSpPr txBox="1"/>
            <p:nvPr/>
          </p:nvSpPr>
          <p:spPr>
            <a:xfrm>
              <a:off x="4072647" y="1948419"/>
              <a:ext cx="4167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JUNE</a:t>
              </a:r>
              <a:endParaRPr sz="7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3" name="Google Shape;493;p42"/>
            <p:cNvSpPr txBox="1"/>
            <p:nvPr/>
          </p:nvSpPr>
          <p:spPr>
            <a:xfrm>
              <a:off x="4509068" y="1948419"/>
              <a:ext cx="4167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JULY</a:t>
              </a:r>
              <a:endParaRPr sz="7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4" name="Google Shape;494;p42"/>
            <p:cNvSpPr txBox="1"/>
            <p:nvPr/>
          </p:nvSpPr>
          <p:spPr>
            <a:xfrm>
              <a:off x="5000088" y="1948419"/>
              <a:ext cx="3774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AUG</a:t>
              </a:r>
              <a:endParaRPr sz="7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5" name="Google Shape;495;p42"/>
            <p:cNvSpPr txBox="1"/>
            <p:nvPr/>
          </p:nvSpPr>
          <p:spPr>
            <a:xfrm>
              <a:off x="5524046" y="1948419"/>
              <a:ext cx="4167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SEPT</a:t>
              </a:r>
              <a:endParaRPr sz="7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96" name="Google Shape;496;p42"/>
            <p:cNvCxnSpPr/>
            <p:nvPr/>
          </p:nvCxnSpPr>
          <p:spPr>
            <a:xfrm flipH="1" rot="10800000">
              <a:off x="4489375" y="1936400"/>
              <a:ext cx="15300" cy="2418900"/>
            </a:xfrm>
            <a:prstGeom prst="straightConnector1">
              <a:avLst/>
            </a:prstGeom>
            <a:noFill/>
            <a:ln cap="flat" cmpd="sng" w="9525">
              <a:solidFill>
                <a:srgbClr val="801F17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97" name="Google Shape;497;p42"/>
            <p:cNvCxnSpPr/>
            <p:nvPr/>
          </p:nvCxnSpPr>
          <p:spPr>
            <a:xfrm rot="10800000">
              <a:off x="4979387" y="1906100"/>
              <a:ext cx="20700" cy="2449200"/>
            </a:xfrm>
            <a:prstGeom prst="straightConnector1">
              <a:avLst/>
            </a:prstGeom>
            <a:noFill/>
            <a:ln cap="flat" cmpd="sng" w="9525">
              <a:solidFill>
                <a:srgbClr val="801F17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98" name="Google Shape;498;p42"/>
            <p:cNvCxnSpPr/>
            <p:nvPr/>
          </p:nvCxnSpPr>
          <p:spPr>
            <a:xfrm rot="10800000">
              <a:off x="5508700" y="1850600"/>
              <a:ext cx="2100" cy="2504700"/>
            </a:xfrm>
            <a:prstGeom prst="straightConnector1">
              <a:avLst/>
            </a:prstGeom>
            <a:noFill/>
            <a:ln cap="flat" cmpd="sng" w="9525">
              <a:solidFill>
                <a:srgbClr val="801F17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499" name="Google Shape;499;p42"/>
          <p:cNvSpPr/>
          <p:nvPr/>
        </p:nvSpPr>
        <p:spPr>
          <a:xfrm>
            <a:off x="483650" y="2057425"/>
            <a:ext cx="569100" cy="4098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Topic Selection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42"/>
          <p:cNvSpPr/>
          <p:nvPr/>
        </p:nvSpPr>
        <p:spPr>
          <a:xfrm>
            <a:off x="1052750" y="2575688"/>
            <a:ext cx="64386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Literature Survey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42"/>
          <p:cNvSpPr/>
          <p:nvPr/>
        </p:nvSpPr>
        <p:spPr>
          <a:xfrm>
            <a:off x="3130975" y="3502738"/>
            <a:ext cx="6450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2: SLS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42"/>
          <p:cNvSpPr/>
          <p:nvPr/>
        </p:nvSpPr>
        <p:spPr>
          <a:xfrm>
            <a:off x="3238350" y="3769450"/>
            <a:ext cx="6096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3: SLRC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42"/>
          <p:cNvSpPr/>
          <p:nvPr/>
        </p:nvSpPr>
        <p:spPr>
          <a:xfrm>
            <a:off x="1052751" y="2905875"/>
            <a:ext cx="35634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Dataset Collection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42"/>
          <p:cNvSpPr/>
          <p:nvPr/>
        </p:nvSpPr>
        <p:spPr>
          <a:xfrm>
            <a:off x="3979700" y="4016675"/>
            <a:ext cx="18966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4: MedProc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42"/>
          <p:cNvSpPr/>
          <p:nvPr/>
        </p:nvSpPr>
        <p:spPr>
          <a:xfrm>
            <a:off x="3879063" y="4306463"/>
            <a:ext cx="16224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5: HC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42"/>
          <p:cNvSpPr/>
          <p:nvPr/>
        </p:nvSpPr>
        <p:spPr>
          <a:xfrm>
            <a:off x="5090400" y="4596250"/>
            <a:ext cx="8919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6: IT Fusion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42"/>
          <p:cNvSpPr/>
          <p:nvPr/>
        </p:nvSpPr>
        <p:spPr>
          <a:xfrm>
            <a:off x="5982300" y="4902350"/>
            <a:ext cx="10497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7: VQA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42"/>
          <p:cNvSpPr/>
          <p:nvPr/>
        </p:nvSpPr>
        <p:spPr>
          <a:xfrm>
            <a:off x="6175000" y="5172800"/>
            <a:ext cx="12375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Integration</a:t>
            </a: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 xml:space="preserve"> Testing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42"/>
          <p:cNvSpPr/>
          <p:nvPr/>
        </p:nvSpPr>
        <p:spPr>
          <a:xfrm>
            <a:off x="5982300" y="5479875"/>
            <a:ext cx="14454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Frontend Development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2"/>
          <p:cNvSpPr/>
          <p:nvPr/>
        </p:nvSpPr>
        <p:spPr>
          <a:xfrm>
            <a:off x="5982300" y="5764625"/>
            <a:ext cx="14454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Backend + Frontend Integration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2"/>
          <p:cNvSpPr/>
          <p:nvPr/>
        </p:nvSpPr>
        <p:spPr>
          <a:xfrm>
            <a:off x="6718900" y="6049375"/>
            <a:ext cx="6936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Final Evaluation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42"/>
          <p:cNvSpPr/>
          <p:nvPr/>
        </p:nvSpPr>
        <p:spPr>
          <a:xfrm>
            <a:off x="7804600" y="6541425"/>
            <a:ext cx="10923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Thesis Defense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42"/>
          <p:cNvSpPr/>
          <p:nvPr/>
        </p:nvSpPr>
        <p:spPr>
          <a:xfrm>
            <a:off x="3082675" y="6334125"/>
            <a:ext cx="45591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Thesis Writing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42"/>
          <p:cNvSpPr/>
          <p:nvPr/>
        </p:nvSpPr>
        <p:spPr>
          <a:xfrm>
            <a:off x="2646275" y="3236061"/>
            <a:ext cx="20439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1: Preprocessing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Stagewise Results Summary</a:t>
            </a:r>
            <a:endParaRPr/>
          </a:p>
        </p:txBody>
      </p:sp>
      <p:sp>
        <p:nvSpPr>
          <p:cNvPr id="520" name="Google Shape;520;p43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SLS (Segmentation): Dice 0.8506 | IoU 0.7718 | Boundary F1 0.8815 | Pixel Acc 93.7%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HC (Classification): Binary Acc 94.7% | 7-Class Acc 89.2% | W-F1 0.8876 | AUC 0.9751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MedProc (NLP): NER F1 0.87–0.89 | Relation AUC 0.8934 | ECE 0.0201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IT Fusion (MARIA): Test Acc 66.3% | W-F1 0.675 | Macro F1 0.533 | Gate 0.511/0.489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VQA (R-LLaVA + QLoRA): 415K QA pairs built; Stage I projector trained; Stage II LoRA training on DGX 3×A100</a:t>
            </a:r>
            <a:endParaRPr/>
          </a:p>
        </p:txBody>
      </p:sp>
      <p:sp>
        <p:nvSpPr>
          <p:cNvPr id="261" name="ImagePlaceholder26"/>
          <p:cNvSpPr>
            <a:spLocks noGrp="1"/>
          </p:cNvSpPr>
          <p:nvPr/>
        </p:nvSpPr>
        <p:spPr>
          <a:xfrm>
            <a:off x="7100000" y="1200000"/>
            <a:ext cx="1700000" cy="5200000"/>
          </a:xfrm>
          <a:prstGeom prst="rect">
            <a:avLst/>
          </a:prstGeom>
          <a:solidFill>
            <a:srgbClr val="F0F4F0"/>
          </a:solidFill>
          <a:ln w="19050">
            <a:solidFill>
              <a:srgbClr val="5B8A3C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100" b="0" i="1">
                <a:solidFill>
                  <a:srgbClr val="5B8A3C"/>
                </a:solidFill>
              </a:rPr>
              <a:t>Stage6QA: open/close/region/multichoice QA | TOKENS_PER_PATCH=584 | batch=4 | 7 epochs planned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7"/>
          <p:cNvSpPr txBox="1"/>
          <p:nvPr>
            <p:ph type="title"/>
          </p:nvPr>
        </p:nvSpPr>
        <p:spPr>
          <a:xfrm>
            <a:off x="609599" y="609600"/>
            <a:ext cx="63477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SLS (Skin Lesion Segmentation) - Experimental Setup</a:t>
            </a:r>
            <a:endParaRPr/>
          </a:p>
        </p:txBody>
      </p:sp>
      <p:sp>
        <p:nvSpPr>
          <p:cNvPr id="551" name="Google Shape;551;p47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Char char="➢"/>
            </a:pPr>
            <a:r>
              <a:rPr lang="en-IN"/>
              <a:t>Two Segmentation Strategies  used for SLS stage: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Mini Batch Training: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Batch SIze 2870 samples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Faster Convergence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Lower memory requirement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Full Batch Training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Entire segmentation </a:t>
            </a:r>
            <a:r>
              <a:rPr lang="en-IN"/>
              <a:t>dataset</a:t>
            </a:r>
            <a:r>
              <a:rPr lang="en-IN"/>
              <a:t xml:space="preserve"> used per epoch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More stable gradient estimation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Higher computational cost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Purpose: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 xml:space="preserve">To analyze the trade-off between training </a:t>
            </a:r>
            <a:r>
              <a:rPr lang="en-IN"/>
              <a:t>efficiency</a:t>
            </a:r>
            <a:r>
              <a:rPr lang="en-IN"/>
              <a:t xml:space="preserve"> and segmentation quality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8"/>
          <p:cNvSpPr txBox="1"/>
          <p:nvPr>
            <p:ph type="title"/>
          </p:nvPr>
        </p:nvSpPr>
        <p:spPr>
          <a:xfrm>
            <a:off x="699249" y="228600"/>
            <a:ext cx="63477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IN"/>
              <a:t>SLS (Skin Lesion Segmentation) - Qualitative Segmentation Results - Mini Batch Training</a:t>
            </a:r>
            <a:endParaRPr/>
          </a:p>
        </p:txBody>
      </p:sp>
      <p:sp>
        <p:nvSpPr>
          <p:cNvPr id="557" name="Google Shape;557;p48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Observations (Mini-Batch Model)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Lesion regions are </a:t>
            </a:r>
            <a:r>
              <a:rPr b="1" lang="en-IN"/>
              <a:t>partially detected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Predictions appear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Blurred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Fragmented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Inconsistent at lesion boundaries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Small or low-contrast lesions are often: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Missed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Under-segmented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Quantitative Indicators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b="1" lang="en-IN"/>
              <a:t>Low Dice and Jaccard scores</a:t>
            </a:r>
            <a:r>
              <a:rPr lang="en-IN"/>
              <a:t xml:space="preserve"> for several samples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High variance </a:t>
            </a:r>
            <a:r>
              <a:rPr lang="en-IN"/>
              <a:t>across different images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Interpretation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Mini-batch training captures </a:t>
            </a:r>
            <a:r>
              <a:rPr b="1" lang="en-IN"/>
              <a:t>coarse lesion features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Insufficient exposure to full data distribution leads to: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Poor generalization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Weak boundary learning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9"/>
          <p:cNvSpPr txBox="1"/>
          <p:nvPr>
            <p:ph type="title"/>
          </p:nvPr>
        </p:nvSpPr>
        <p:spPr>
          <a:xfrm>
            <a:off x="699250" y="228600"/>
            <a:ext cx="6347700" cy="156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IN"/>
              <a:t>SLS (Skin Lesion Segmentation) - Qualitative Segmentation Results - Full Dataset Training</a:t>
            </a:r>
            <a:endParaRPr/>
          </a:p>
        </p:txBody>
      </p:sp>
      <p:sp>
        <p:nvSpPr>
          <p:cNvPr id="563" name="Google Shape;563;p49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Observations (Full Dataset Model)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Lesion shapes are: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More complete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Better aligned with ground truth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Clear improvement in: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Boundary precision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Shape consistency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Large and irregular lesions are segmented irregularly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Quantitative Indicators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b="1" lang="en-IN"/>
              <a:t>Significantly Higher</a:t>
            </a:r>
            <a:r>
              <a:rPr b="1" lang="en-IN"/>
              <a:t xml:space="preserve"> Dice and Jaccard scores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More consistent predictions </a:t>
            </a:r>
            <a:r>
              <a:rPr lang="en-IN"/>
              <a:t>across</a:t>
            </a:r>
            <a:r>
              <a:rPr lang="en-IN"/>
              <a:t xml:space="preserve"> samples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Interpretation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Full dataset </a:t>
            </a:r>
            <a:r>
              <a:rPr lang="en-IN"/>
              <a:t>training enables: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 xml:space="preserve">Better feature learning 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Stable gradient update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Improved lesion boundary detection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0"/>
          <p:cNvSpPr txBox="1"/>
          <p:nvPr>
            <p:ph type="title"/>
          </p:nvPr>
        </p:nvSpPr>
        <p:spPr>
          <a:xfrm>
            <a:off x="609599" y="609600"/>
            <a:ext cx="63477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SLS - Training vs Validation Loss Analysis</a:t>
            </a:r>
            <a:endParaRPr/>
          </a:p>
        </p:txBody>
      </p:sp>
      <p:sp>
        <p:nvSpPr>
          <p:cNvPr id="569" name="Google Shape;569;p50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Mini-Batch Training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Faster initial loss reduction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Validation loss fluctuates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Indicated </a:t>
            </a:r>
            <a:r>
              <a:rPr b="1" lang="en-IN"/>
              <a:t>unstable generalization</a:t>
            </a:r>
            <a:endParaRPr b="1"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Full Dataset Training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Smoother loss curves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Validation loss closely follows training loss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Indicates </a:t>
            </a:r>
            <a:r>
              <a:rPr b="1" lang="en-IN"/>
              <a:t>better convergence and robustness</a:t>
            </a:r>
            <a:endParaRPr b="1"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Key Insight: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Lower training loss alone does not guarantee better segmentation quality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1"/>
          <p:cNvSpPr txBox="1"/>
          <p:nvPr>
            <p:ph type="title"/>
          </p:nvPr>
        </p:nvSpPr>
        <p:spPr>
          <a:xfrm>
            <a:off x="609599" y="609600"/>
            <a:ext cx="63477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SLS - Dice and Jaccard Progression Analysis</a:t>
            </a:r>
            <a:endParaRPr/>
          </a:p>
        </p:txBody>
      </p:sp>
      <p:sp>
        <p:nvSpPr>
          <p:cNvPr id="575" name="Google Shape;575;p51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b="1" lang="en-IN"/>
              <a:t>Mini-Batch Training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>Dice and Jaccard Scores: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IN" sz="1800"/>
              <a:t>Improve initially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IN" sz="1800"/>
              <a:t>Saturate early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 xml:space="preserve">Performance plateaus due to limited </a:t>
            </a:r>
            <a:r>
              <a:rPr lang="en-IN" sz="1800"/>
              <a:t>data</a:t>
            </a:r>
            <a:r>
              <a:rPr lang="en-IN" sz="1800"/>
              <a:t xml:space="preserve"> diversity per update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b="1" lang="en-IN"/>
              <a:t>Full Dataset Training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>Gradual and consistent improvement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>Higher final Dice and Jaccard values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>Better alignment with clinical ground truth</a:t>
            </a:r>
            <a:endParaRPr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2"/>
          <p:cNvSpPr txBox="1"/>
          <p:nvPr>
            <p:ph type="title"/>
          </p:nvPr>
        </p:nvSpPr>
        <p:spPr>
          <a:xfrm>
            <a:off x="609600" y="609600"/>
            <a:ext cx="63477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HC - Main Class Classification Results</a:t>
            </a:r>
            <a:endParaRPr/>
          </a:p>
        </p:txBody>
      </p:sp>
      <p:sp>
        <p:nvSpPr>
          <p:cNvPr id="581" name="Google Shape;581;p52"/>
          <p:cNvSpPr txBox="1"/>
          <p:nvPr>
            <p:ph idx="1" type="body"/>
          </p:nvPr>
        </p:nvSpPr>
        <p:spPr>
          <a:xfrm>
            <a:off x="609600" y="2160589"/>
            <a:ext cx="30882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2" name="Google Shape;582;p52" title="main_class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700" y="2160600"/>
            <a:ext cx="7694676" cy="460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3"/>
          <p:cNvSpPr txBox="1"/>
          <p:nvPr>
            <p:ph type="title"/>
          </p:nvPr>
        </p:nvSpPr>
        <p:spPr>
          <a:xfrm>
            <a:off x="609600" y="0"/>
            <a:ext cx="8100600" cy="81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HC - Subclass Classification Results</a:t>
            </a:r>
            <a:endParaRPr/>
          </a:p>
        </p:txBody>
      </p:sp>
      <p:sp>
        <p:nvSpPr>
          <p:cNvPr id="588" name="Google Shape;588;p53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9" name="Google Shape;589;p53" title="sub_class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275" y="910825"/>
            <a:ext cx="8100699" cy="576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4"/>
          <p:cNvSpPr txBox="1"/>
          <p:nvPr>
            <p:ph type="title"/>
          </p:nvPr>
        </p:nvSpPr>
        <p:spPr>
          <a:xfrm>
            <a:off x="609600" y="0"/>
            <a:ext cx="7610700" cy="627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HC - Training and Validation Performance</a:t>
            </a:r>
            <a:endParaRPr/>
          </a:p>
        </p:txBody>
      </p:sp>
      <p:sp>
        <p:nvSpPr>
          <p:cNvPr id="595" name="Google Shape;595;p54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6" name="Google Shape;596;p54" title="training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6350"/>
            <a:ext cx="9144003" cy="580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Conclusion &amp; Limitations </a:t>
            </a:r>
            <a:endParaRPr/>
          </a:p>
        </p:txBody>
      </p:sp>
      <p:sp>
        <p:nvSpPr>
          <p:cNvPr id="673" name="Google Shape;673;p66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Contributions: Six validated stages (SLS, SLRC, HC, MedProc, IT Fusion, VQA dataset); multimodal ABCDE explainability; 415K Stage6QA pairs built; R-LLaVA Stage I+II training underway on DGX 3×A100.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Advantages: End-to-end modular pipeline; Dice 0.8506 (SLS), 94.7% binary accuracy (HC), W-F1 0.675 (IT Fusion); structured Clinical JSON with evidence trail.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Limitations: VQA Stage II LoRA fine-tuning in progress (expected ~20h on 3×A100); Stage 6 uses 2-modality FusionClassifier; skin-tone bias in Derm1M; English-only NLP; stateless inference without long-term memory.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7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Comparative Analysis  </a:t>
            </a:r>
            <a:endParaRPr/>
          </a:p>
        </p:txBody>
      </p:sp>
      <p:sp>
        <p:nvSpPr>
          <p:cNvPr id="679" name="Google Shape;679;p67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NutriDermAI is the first pipeline to compute clinically-calibrated ABCDE scores via principled image-text fusion across five validated stages.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SLS: IoU 0.7718, Dice 0.8506 — competitive with recent ARC-UNet, ESC-UNet, ScaleFusionNet variants.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HC: 94.7% binary accuracy, AUC 0.9751 — EfficientFormerV2-S2 outperforms standard ResNet/ViT baselines on HAM10000+ISIC.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IT Fusion: MARIA masked cross-attention achieves balanced modality gate (0.511/0.489) — avoids single-modality collapse seen in naive fusion baselines.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Future </a:t>
            </a:r>
            <a:r>
              <a:rPr b="1" lang="en-IN" sz="3200">
                <a:solidFill>
                  <a:srgbClr val="003366"/>
                </a:solidFill>
              </a:rPr>
              <a:t xml:space="preserve">Work  </a:t>
            </a:r>
            <a:endParaRPr/>
          </a:p>
        </p:txBody>
      </p:sp>
      <p:sp>
        <p:nvSpPr>
          <p:cNvPr id="685" name="Google Shape;685;p68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Complete VQA fine-tuning (R-LLaVA + QLoRA on Stage6QA dataset); benchmark BLEU-4, ROUGE-L, METEOR, Exact Match.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Prospective clinical validation of ABCDE scores vs. board-certified dermatologist consensus; fairness audits across skin tones (Fitzpatrick I–VI).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Deploy 5-modality MARIA orchestrator; benchmark Stage 6 live-pipeline latency; extend to multilingual clinical NLP; real-time mobile deployment.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Demo (Prototype)  </a:t>
            </a:r>
            <a:endParaRPr/>
          </a:p>
        </p:txBody>
      </p:sp>
      <p:sp>
        <p:nvSpPr>
          <p:cNvPr id="691" name="Google Shape;691;p69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Frontend chatbot allows patient to upload image &amp; report.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Patient can ask a question.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System outputs ABCDE values + risk assessment + answer.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697" name="Google Shape;697;p70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3"/>
              </a:rPr>
              <a:t>[1] Soni et al., “ARCUNet: enhancing skin lesion segmentation,” Scientific Reports 15, 9262 (2025).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4"/>
              </a:rPr>
              <a:t>[2] Li et al., “EfficientFormerV2: Rethinking Vision Transformers for MobileNet Size,” arXiv:2212.08059 (2023).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5"/>
              </a:rPr>
              <a:t>[3] Chen et al., “R-LLaVA: Improving Med-VQA with Visual Region of Interest,” arXiv:2410.20327, ICLR Workshop (2025).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6"/>
              </a:rPr>
              <a:t>[4] Lee et al., “BioBERT: a pre-trained biomedical language representation model,” Bioinformatics 36(4), 1234–1240 (2020).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7"/>
              </a:rPr>
              <a:t>[5] Alsentzer et al., “Publicly Available Clinical BERT Embeddings,” arXiv:1904.03323 (2019). [Bio_ClinicalBERT]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8"/>
              </a:rPr>
              <a:t>[6] Caruso et al., “MARIA: A Multimodal Transformer Model for Incomplete Healthcare Data,” Computers in Biology and Medicine, 196, 110843 (2025).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9"/>
              </a:rPr>
              <a:t>[7] Yan et al., “Derm1M: A Million-scale Vision-Language Dataset for Dermatology,” arXiv:2503.14911 (2025).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2"/>
          <p:cNvSpPr txBox="1"/>
          <p:nvPr>
            <p:ph type="title"/>
          </p:nvPr>
        </p:nvSpPr>
        <p:spPr>
          <a:xfrm>
            <a:off x="609599" y="552211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Thank You / Q&amp;A  </a:t>
            </a:r>
            <a:endParaRPr/>
          </a:p>
        </p:txBody>
      </p:sp>
      <p:sp>
        <p:nvSpPr>
          <p:cNvPr id="709" name="Google Shape;709;p72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Thank You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609600" y="132400"/>
            <a:ext cx="7924800" cy="6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IN" b="0"/>
              <a:t>IT Fusion – Results Summary</a:t>
            </a:r>
          </a:p>
        </p:txBody>
      </p:sp>
      <p:sp>
        <p:nvSpPr>
          <p:cNvPr id="3" name="MetricsText"/>
          <p:cNvSpPr txBox="1"/>
          <p:nvPr/>
        </p:nvSpPr>
        <p:spPr>
          <a:xfrm>
            <a:off x="457200" y="900000"/>
            <a:ext cx="3900000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800" b="1">
                <a:solidFill>
                  <a:srgbClr val="5B8A3C"/>
                </a:solidFill>
              </a:rPr>
              <a:t>Model: FusionClassifier (MARIA cross-attn)</a:t>
            </a:r>
          </a:p>
          <a:p>
            <a:r>
              <a:rPr lang="en-US" sz="1500" b="0"/>
              <a:t>Parameters: 2,558,261</a:t>
            </a:r>
          </a:p>
          <a:p>
            <a:r>
              <a:rPr lang="en-US" sz="1500" b="0"/>
              <a:t>Classes: 51 (top-50 + Other)</a:t>
            </a:r>
          </a:p>
          <a:p>
            <a:r>
              <a:rPr lang="en-US" sz="1500" b="0"/>
              <a:t>Epochs trained: 30  |  Best epoch: 20</a:t>
            </a:r>
          </a:p>
          <a:p>
            <a:r>
              <a:rPr lang="en-US" sz="1500" b="0"/>
              <a:t> </a:t>
            </a:r>
          </a:p>
          <a:p>
            <a:pPr>
              <a:spcBef>
                <a:spcPts val="200"/>
              </a:spcBef>
            </a:pPr>
            <a:r>
              <a:rPr lang="en-US" sz="1800" b="1">
                <a:solidFill>
                  <a:srgbClr val="5B8A3C"/>
                </a:solidFill>
              </a:rPr>
              <a:t>Test Performance</a:t>
            </a:r>
          </a:p>
          <a:p>
            <a:r>
              <a:rPr lang="en-US" sz="1600" b="1">
                <a:solidFill>
                  <a:srgbClr val="1A5E20"/>
                </a:solidFill>
              </a:rPr>
              <a:t>Test Accuracy:   66.3%</a:t>
            </a:r>
          </a:p>
          <a:p>
            <a:r>
              <a:rPr lang="en-US" sz="1600" b="1">
                <a:solidFill>
                  <a:srgbClr val="1A5E20"/>
                </a:solidFill>
              </a:rPr>
              <a:t>Best Val Acc:    66.8%</a:t>
            </a:r>
          </a:p>
          <a:p>
            <a:r>
              <a:rPr lang="en-US" sz="1500" b="0"/>
              <a:t>Test Loss:         2.7962</a:t>
            </a:r>
          </a:p>
          <a:p>
            <a:r>
              <a:rPr lang="en-US" sz="1500" b="0"/>
              <a:t>Weighted F1:     0.6750</a:t>
            </a:r>
          </a:p>
          <a:p>
            <a:r>
              <a:rPr lang="en-US" sz="1500" b="0"/>
              <a:t>Macro F1:          0.5329</a:t>
            </a:r>
          </a:p>
          <a:p>
            <a:r>
              <a:rPr lang="en-US" sz="1500" b="0"/>
              <a:t> </a:t>
            </a:r>
          </a:p>
          <a:p>
            <a:pPr>
              <a:spcBef>
                <a:spcPts val="200"/>
              </a:spcBef>
            </a:pPr>
            <a:r>
              <a:rPr lang="en-US" sz="1800" b="1">
                <a:solidFill>
                  <a:srgbClr val="5B8A3C"/>
                </a:solidFill>
              </a:rPr>
              <a:t>Modality Gate Weights</a:t>
            </a:r>
          </a:p>
          <a:p>
            <a:r>
              <a:rPr lang="en-US" sz="1500" b="0"/>
              <a:t>Mean Image gate:  0.511 ± 0.184</a:t>
            </a:r>
          </a:p>
          <a:p>
            <a:r>
              <a:rPr lang="en-US" sz="1500" b="0"/>
              <a:t>Mean Text gate:    0.489 ± 0.184</a:t>
            </a:r>
          </a:p>
          <a:p>
            <a:r>
              <a:rPr lang="en-US" sz="1500" b="0"/>
              <a:t>Train-Val Gap:     2.2%  (no overfitting)</a:t>
            </a:r>
          </a:p>
          <a:p>
            <a:r>
              <a:rPr lang="en-US" sz="1500" b="0"/>
              <a:t> </a:t>
            </a:r>
          </a:p>
          <a:p>
            <a:pPr>
              <a:spcBef>
                <a:spcPts val="200"/>
              </a:spcBef>
            </a:pPr>
            <a:r>
              <a:rPr lang="en-US" sz="1800" b="1">
                <a:solidFill>
                  <a:srgbClr val="5B8A3C"/>
                </a:solidFill>
              </a:rPr>
              <a:t>Dataset</a:t>
            </a:r>
          </a:p>
          <a:p>
            <a:r>
              <a:rPr lang="en-US" sz="1500" b="0"/>
              <a:t>Total samples: 415,508</a:t>
            </a:r>
          </a:p>
          <a:p>
            <a:r>
              <a:rPr lang="en-US" sz="1500" b="0"/>
              <a:t>Derm1M: 413,210  |  MM-Skin: 11,090</a:t>
            </a:r>
          </a:p>
          <a:p>
            <a:r>
              <a:rPr lang="en-US" sz="1500" b="0"/>
              <a:t>PAD-UFES-20: 2,298</a:t>
            </a:r>
          </a:p>
        </p:txBody>
      </p:sp>
      <p:pic>
        <p:nvPicPr>
          <p:cNvPr id="4" name="ClassReport" descr="Classification Repo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000" y="900000"/>
            <a:ext cx="4400000" cy="5500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609600" y="132400"/>
            <a:ext cx="7924800" cy="6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IN" b="0"/>
              <a:t>IT Fusion – Training Curves</a:t>
            </a:r>
          </a:p>
        </p:txBody>
      </p:sp>
      <p:pic>
        <p:nvPicPr>
          <p:cNvPr id="3" name="TrainingCurves" descr="Training and Validation Loss, Accuracy, Overfitting Moni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00000"/>
            <a:ext cx="8686800" cy="3900000"/>
          </a:xfrm>
          <a:prstGeom prst="rect">
            <a:avLst/>
          </a:prstGeom>
        </p:spPr>
      </p:pic>
      <p:sp>
        <p:nvSpPr>
          <p:cNvPr id="4" name="Observations"/>
          <p:cNvSpPr txBox="1"/>
          <p:nvPr/>
        </p:nvSpPr>
        <p:spPr>
          <a:xfrm>
            <a:off x="228600" y="4900000"/>
            <a:ext cx="8686800" cy="17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rmAutofit/>
          </a:bodyPr>
          <a:lstStyle/>
          <a:p>
            <a:r>
              <a:rPr lang="en-US" sz="1500" b="1">
                <a:solidFill>
                  <a:srgbClr val="5B8A3C"/>
                </a:solidFill>
              </a:rPr>
              <a:t>Key Observations:</a:t>
            </a:r>
          </a:p>
          <a:p>
            <a:r>
              <a:rPr lang="en-US" sz="1400" b="0"/>
              <a:t>►  Loss converges smoothly — both train and val loss decrease consistently over 30 epochs.</a:t>
            </a:r>
          </a:p>
          <a:p>
            <a:r>
              <a:rPr lang="en-US" sz="1400" b="0"/>
              <a:t>►  Best val accuracy 66.8% reached at epoch 20; model saved at checkpoint.</a:t>
            </a:r>
          </a:p>
          <a:p>
            <a:r>
              <a:rPr lang="en-US" sz="1400" b="0"/>
              <a:t>►  Train-Val gap stays below 5% warning threshold — no overfitting detected.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609600" y="132400"/>
            <a:ext cx="7924800" cy="6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IN" b="0"/>
              <a:t>IT Fusion – Confusion Matrix (Top 15 Classes)</a:t>
            </a:r>
          </a:p>
        </p:txBody>
      </p:sp>
      <p:pic>
        <p:nvPicPr>
          <p:cNvPr id="3" name="ConfusionMatrix" descr="Confusion Matrix Top 15 Classes Row Normaliz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00000"/>
            <a:ext cx="5800000" cy="5500000"/>
          </a:xfrm>
          <a:prstGeom prst="rect">
            <a:avLst/>
          </a:prstGeom>
        </p:spPr>
      </p:pic>
      <p:sp>
        <p:nvSpPr>
          <p:cNvPr id="4" name="Findings"/>
          <p:cNvSpPr txBox="1"/>
          <p:nvPr/>
        </p:nvSpPr>
        <p:spPr>
          <a:xfrm>
            <a:off x="6200000" y="1000000"/>
            <a:ext cx="2700000" cy="55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rmAutofit/>
          </a:bodyPr>
          <a:lstStyle/>
          <a:p>
            <a:r>
              <a:rPr lang="en-US" sz="1600" b="1">
                <a:solidFill>
                  <a:srgbClr val="5B8A3C"/>
                </a:solidFill>
              </a:rPr>
              <a:t>Strong Classes</a:t>
            </a:r>
          </a:p>
          <a:p>
            <a:r>
              <a:rPr lang="en-US" sz="1400" b="1">
                <a:solidFill>
                  <a:srgbClr val="1A5E20"/>
                </a:solidFill>
              </a:rPr>
              <a:t>Allergic contact dermatitis: 0.99</a:t>
            </a:r>
          </a:p>
          <a:p>
            <a:r>
              <a:rPr lang="en-US" sz="1400" b="1">
                <a:solidFill>
                  <a:srgbClr val="1A5E20"/>
                </a:solidFill>
              </a:rPr>
              <a:t>Proliferations: 0.96</a:t>
            </a:r>
          </a:p>
          <a:p>
            <a:r>
              <a:rPr lang="en-US" sz="1400" b="1">
                <a:solidFill>
                  <a:srgbClr val="1A5E20"/>
                </a:solidFill>
              </a:rPr>
              <a:t>No definitive dx: 0.77</a:t>
            </a:r>
          </a:p>
          <a:p>
            <a:r>
              <a:rPr lang="en-US" sz="1400" b="1">
                <a:solidFill>
                  <a:srgbClr val="1A5E20"/>
                </a:solidFill>
              </a:rPr>
              <a:t>Melanoma: 0.78</a:t>
            </a:r>
          </a:p>
          <a:p>
            <a:r>
              <a:rPr lang="en-US" sz="1400" b="1">
                <a:solidFill>
                  <a:srgbClr val="1A5E20"/>
                </a:solidFill>
              </a:rPr>
              <a:t>Nevus: 0.78</a:t>
            </a:r>
          </a:p>
          <a:p>
            <a:r>
              <a:rPr lang="en-US" sz="1300" b="0"/>
              <a:t> </a:t>
            </a:r>
          </a:p>
          <a:p>
            <a:r>
              <a:rPr lang="en-US" sz="1600" b="1">
                <a:solidFill>
                  <a:srgbClr val="B71C1C"/>
                </a:solidFill>
              </a:rPr>
              <a:t>Challenging Classes</a:t>
            </a:r>
          </a:p>
          <a:p>
            <a:r>
              <a:rPr lang="en-US" sz="1400" b="0"/>
              <a:t>Dermatitis: 0.34 (confused with Other)</a:t>
            </a:r>
          </a:p>
          <a:p>
            <a:r>
              <a:rPr lang="en-US" sz="1400" b="0"/>
              <a:t>Cellulitis: 0.23</a:t>
            </a:r>
          </a:p>
          <a:p>
            <a:r>
              <a:rPr lang="en-US" sz="1400" b="0"/>
              <a:t>Bullous pemphigoid: 0.25</a:t>
            </a:r>
          </a:p>
          <a:p>
            <a:r>
              <a:rPr lang="en-US" sz="1300" b="0"/>
              <a:t> </a:t>
            </a:r>
          </a:p>
          <a:p>
            <a:r>
              <a:rPr lang="en-US" sz="1600" b="1">
                <a:solidFill>
                  <a:srgbClr val="5B8A3C"/>
                </a:solidFill>
              </a:rPr>
              <a:t>Insight</a:t>
            </a:r>
          </a:p>
          <a:p>
            <a:r>
              <a:rPr lang="en-US" sz="1350" b="0"/>
              <a:t>Visually-distinct, high-support classes perform best. Low-support overlapping classes remain challenging — expected for Derm1M-scale noisy labels.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609600" y="132400"/>
            <a:ext cx="7924800" cy="6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IN" b="0"/>
              <a:t>IT Fusion – Per-Class F1 &amp; Modality Gate Analysis</a:t>
            </a:r>
          </a:p>
        </p:txBody>
      </p:sp>
      <p:sp>
        <p:nvSpPr>
          <p:cNvPr id="3" name="Label1"/>
          <p:cNvSpPr txBox="1"/>
          <p:nvPr/>
        </p:nvSpPr>
        <p:spPr>
          <a:xfrm>
            <a:off x="228600" y="830000"/>
            <a:ext cx="45000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5B8A3C"/>
                </a:solidFill>
              </a:rPr>
              <a:t>Per-Class F1 Score (51 classes)</a:t>
            </a:r>
          </a:p>
        </p:txBody>
      </p:sp>
      <p:pic>
        <p:nvPicPr>
          <p:cNvPr id="4" name="F1Bars" descr="Per-Class F1 Score Bar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250000"/>
            <a:ext cx="4500000" cy="5400000"/>
          </a:xfrm>
          <a:prstGeom prst="rect">
            <a:avLst/>
          </a:prstGeom>
        </p:spPr>
      </p:pic>
      <p:sp>
        <p:nvSpPr>
          <p:cNvPr id="5" name="Label2"/>
          <p:cNvSpPr txBox="1"/>
          <p:nvPr/>
        </p:nvSpPr>
        <p:spPr>
          <a:xfrm>
            <a:off x="4900000" y="830000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5B8A3C"/>
                </a:solidFill>
              </a:rPr>
              <a:t>Modality Gate Weight Analysis</a:t>
            </a:r>
          </a:p>
        </p:txBody>
      </p:sp>
      <p:pic>
        <p:nvPicPr>
          <p:cNvPr id="6" name="GateWeights" descr="Gate Weight Distribution and Class Relian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000" y="1250000"/>
            <a:ext cx="4000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lIns="182880" rIns="182880" tIns="91440" bIns="91440" wrap="square">
            <a:normAutofit/>
          </a:bodyPr>
          <a:lstStyle/>
          <a:p>
            <a:pPr indent="0" marL="0" algn="l"/>
            <a:r>
              <a:rPr lang="en-IN" sz="2400" b="1" dirty="0">
                <a:solidFill>
                  <a:srgbClr val="FFFFFF"/>
                </a:solidFill>
                <a:latin typeface="Calibri"/>
              </a:rPr>
              <a:t>Stage 7 VQA – Dataset Pipeline (Stage6QA)</a:t>
            </a:r>
          </a:p>
        </p:txBody>
      </p:sp>
      <p:sp>
        <p:nvSpPr>
          <p:cNvPr id="10" name="Lbl10"/>
          <p:cNvSpPr txBox="1"/>
          <p:nvPr/>
        </p:nvSpPr>
        <p:spPr>
          <a:xfrm>
            <a:off x="457200" y="810000"/>
            <a:ext cx="4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rmAutofit/>
          </a:bodyPr>
          <a:lstStyle/>
          <a:p>
            <a:pPr indent="0" marL="0" algn="ctr"/>
            <a:r>
              <a:rPr lang="en-IN" sz="1100" b="1" dirty="0">
                <a:solidFill>
                  <a:srgbClr val="003366"/>
                </a:solidFill>
                <a:latin typeface="Calibri"/>
              </a:rPr>
              <a:t>Dataset Construction Pipeline</a:t>
            </a:r>
          </a:p>
        </p:txBody>
      </p:sp>
      <p:sp>
        <p:nvSpPr>
          <p:cNvPr id="20" name="Box20"/>
          <p:cNvSpPr txBox="1"/>
          <p:nvPr/>
        </p:nvSpPr>
        <p:spPr>
          <a:xfrm>
            <a:off x="457200" y="990000"/>
            <a:ext cx="900000" cy="430000"/>
          </a:xfrm>
          <a:prstGeom prst="rect">
            <a:avLst/>
          </a:prstGeom>
          <a:solidFill>
            <a:srgbClr val="2563EB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21" name="Box21"/>
          <p:cNvSpPr txBox="1"/>
          <p:nvPr/>
        </p:nvSpPr>
        <p:spPr>
          <a:xfrm>
            <a:off x="1357200" y="990000"/>
            <a:ext cx="33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Load 415,508 IT Fusion pairs (Derm1M + MM-Skin + PAD-UFES-20)</a:t>
            </a:r>
          </a:p>
        </p:txBody>
      </p:sp>
      <p:sp>
        <p:nvSpPr>
          <p:cNvPr id="22" name="Box22"/>
          <p:cNvSpPr txBox="1"/>
          <p:nvPr/>
        </p:nvSpPr>
        <p:spPr>
          <a:xfrm>
            <a:off x="457200" y="1420000"/>
            <a:ext cx="900000" cy="430000"/>
          </a:xfrm>
          <a:prstGeom prst="rect">
            <a:avLst/>
          </a:prstGeom>
          <a:solidFill>
            <a:srgbClr val="2563EB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23" name="Box23"/>
          <p:cNvSpPr txBox="1"/>
          <p:nvPr/>
        </p:nvSpPr>
        <p:spPr>
          <a:xfrm>
            <a:off x="1357200" y="1420000"/>
            <a:ext cx="33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Perceptual hash deduplication across all images</a:t>
            </a:r>
          </a:p>
        </p:txBody>
      </p:sp>
      <p:sp>
        <p:nvSpPr>
          <p:cNvPr id="24" name="Box24"/>
          <p:cNvSpPr txBox="1"/>
          <p:nvPr/>
        </p:nvSpPr>
        <p:spPr>
          <a:xfrm>
            <a:off x="457200" y="1850000"/>
            <a:ext cx="900000" cy="430000"/>
          </a:xfrm>
          <a:prstGeom prst="rect">
            <a:avLst/>
          </a:prstGeom>
          <a:solidFill>
            <a:srgbClr val="2563EB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5" name="Box25"/>
          <p:cNvSpPr txBox="1"/>
          <p:nvPr/>
        </p:nvSpPr>
        <p:spPr>
          <a:xfrm>
            <a:off x="1357200" y="1850000"/>
            <a:ext cx="33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ARCUNet mask generation -&gt; SLRC ROI crop (224x224)</a:t>
            </a:r>
          </a:p>
        </p:txBody>
      </p:sp>
      <p:sp>
        <p:nvSpPr>
          <p:cNvPr id="26" name="Box26"/>
          <p:cNvSpPr txBox="1"/>
          <p:nvPr/>
        </p:nvSpPr>
        <p:spPr>
          <a:xfrm>
            <a:off x="457200" y="2280000"/>
            <a:ext cx="900000" cy="430000"/>
          </a:xfrm>
          <a:prstGeom prst="rect">
            <a:avLst/>
          </a:prstGeom>
          <a:solidFill>
            <a:srgbClr val="2563EB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7" name="Box27"/>
          <p:cNvSpPr txBox="1"/>
          <p:nvPr/>
        </p:nvSpPr>
        <p:spPr>
          <a:xfrm>
            <a:off x="1357200" y="2280000"/>
            <a:ext cx="33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BBoxResolver 5-priority fallback: SLRC &gt; Stage3 &gt; mask centroid</a:t>
            </a:r>
          </a:p>
        </p:txBody>
      </p:sp>
      <p:sp>
        <p:nvSpPr>
          <p:cNvPr id="28" name="Box28"/>
          <p:cNvSpPr txBox="1"/>
          <p:nvPr/>
        </p:nvSpPr>
        <p:spPr>
          <a:xfrm>
            <a:off x="457200" y="2710000"/>
            <a:ext cx="900000" cy="430000"/>
          </a:xfrm>
          <a:prstGeom prst="rect">
            <a:avLst/>
          </a:prstGeom>
          <a:solidFill>
            <a:srgbClr val="2563EB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29" name="Box29"/>
          <p:cNvSpPr txBox="1"/>
          <p:nvPr/>
        </p:nvSpPr>
        <p:spPr>
          <a:xfrm>
            <a:off x="1357200" y="2710000"/>
            <a:ext cx="33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ABCDE risk scoring: A=asymmetry, B=border, C=color, D=diam, E=evol</a:t>
            </a:r>
          </a:p>
        </p:txBody>
      </p:sp>
      <p:sp>
        <p:nvSpPr>
          <p:cNvPr id="30" name="Box30"/>
          <p:cNvSpPr txBox="1"/>
          <p:nvPr/>
        </p:nvSpPr>
        <p:spPr>
          <a:xfrm>
            <a:off x="457200" y="3140000"/>
            <a:ext cx="900000" cy="430000"/>
          </a:xfrm>
          <a:prstGeom prst="rect">
            <a:avLst/>
          </a:prstGeom>
          <a:solidFill>
            <a:srgbClr val="2563EB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31" name="Box31"/>
          <p:cNvSpPr txBox="1"/>
          <p:nvPr/>
        </p:nvSpPr>
        <p:spPr>
          <a:xfrm>
            <a:off x="1357200" y="3140000"/>
            <a:ext cx="33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Apply 15 QA templates -&gt; generate question-answer pairs</a:t>
            </a:r>
          </a:p>
        </p:txBody>
      </p:sp>
      <p:sp>
        <p:nvSpPr>
          <p:cNvPr id="32" name="Box32"/>
          <p:cNvSpPr txBox="1"/>
          <p:nvPr/>
        </p:nvSpPr>
        <p:spPr>
          <a:xfrm>
            <a:off x="457200" y="3570000"/>
            <a:ext cx="900000" cy="430000"/>
          </a:xfrm>
          <a:prstGeom prst="rect">
            <a:avLst/>
          </a:prstGeom>
          <a:solidFill>
            <a:srgbClr val="2563EB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FFFFFF"/>
                </a:solidFill>
                <a:latin typeface="Calibri"/>
              </a:rPr>
              <a:t>Step 7</a:t>
            </a:r>
          </a:p>
        </p:txBody>
      </p:sp>
      <p:sp>
        <p:nvSpPr>
          <p:cNvPr id="33" name="Box33"/>
          <p:cNvSpPr txBox="1"/>
          <p:nvPr/>
        </p:nvSpPr>
        <p:spPr>
          <a:xfrm>
            <a:off x="1357200" y="3570000"/>
            <a:ext cx="33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Optional Llama 3.1 paraphrasing via Ollama (cached)</a:t>
            </a:r>
          </a:p>
        </p:txBody>
      </p:sp>
      <p:sp>
        <p:nvSpPr>
          <p:cNvPr id="34" name="Box34"/>
          <p:cNvSpPr txBox="1"/>
          <p:nvPr/>
        </p:nvSpPr>
        <p:spPr>
          <a:xfrm>
            <a:off x="457200" y="4000000"/>
            <a:ext cx="900000" cy="430000"/>
          </a:xfrm>
          <a:prstGeom prst="rect">
            <a:avLst/>
          </a:prstGeom>
          <a:solidFill>
            <a:srgbClr val="2563EB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FFFFFF"/>
                </a:solidFill>
                <a:latin typeface="Calibri"/>
              </a:rPr>
              <a:t>Step 8</a:t>
            </a:r>
          </a:p>
        </p:txBody>
      </p:sp>
      <p:sp>
        <p:nvSpPr>
          <p:cNvPr id="35" name="Box35"/>
          <p:cNvSpPr txBox="1"/>
          <p:nvPr/>
        </p:nvSpPr>
        <p:spPr>
          <a:xfrm>
            <a:off x="1357200" y="4000000"/>
            <a:ext cx="33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80/10/10 patient-grouped split -&gt; parquet output</a:t>
            </a:r>
          </a:p>
        </p:txBody>
      </p:sp>
      <p:sp>
        <p:nvSpPr>
          <p:cNvPr id="40" name="Lbl40"/>
          <p:cNvSpPr txBox="1"/>
          <p:nvPr/>
        </p:nvSpPr>
        <p:spPr>
          <a:xfrm>
            <a:off x="4885800" y="810000"/>
            <a:ext cx="3801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rmAutofit/>
          </a:bodyPr>
          <a:lstStyle/>
          <a:p>
            <a:pPr indent="0" marL="0" algn="ctr"/>
            <a:r>
              <a:rPr lang="en-IN" sz="1100" b="1" dirty="0">
                <a:solidFill>
                  <a:srgbClr val="003366"/>
                </a:solidFill>
                <a:latin typeface="Calibri"/>
              </a:rPr>
              <a:t>QA Type Distribution</a:t>
            </a:r>
          </a:p>
        </p:txBody>
      </p:sp>
      <p:sp>
        <p:nvSpPr>
          <p:cNvPr id="60" name="Box60"/>
          <p:cNvSpPr txBox="1"/>
          <p:nvPr/>
        </p:nvSpPr>
        <p:spPr>
          <a:xfrm>
            <a:off x="4885800" y="990000"/>
            <a:ext cx="900000" cy="430000"/>
          </a:xfrm>
          <a:prstGeom prst="rect">
            <a:avLst/>
          </a:prstGeom>
          <a:solidFill>
            <a:srgbClr val="003366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61" name="Box61"/>
          <p:cNvSpPr txBox="1"/>
          <p:nvPr/>
        </p:nvSpPr>
        <p:spPr>
          <a:xfrm>
            <a:off x="5785800" y="990000"/>
            <a:ext cx="700000" cy="430000"/>
          </a:xfrm>
          <a:prstGeom prst="rect">
            <a:avLst/>
          </a:prstGeom>
          <a:solidFill>
            <a:srgbClr val="003366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FFFFFF"/>
                </a:solidFill>
                <a:latin typeface="Calibri"/>
              </a:rPr>
              <a:t>Templates</a:t>
            </a:r>
          </a:p>
        </p:txBody>
      </p:sp>
      <p:sp>
        <p:nvSpPr>
          <p:cNvPr id="62" name="Box62"/>
          <p:cNvSpPr txBox="1"/>
          <p:nvPr/>
        </p:nvSpPr>
        <p:spPr>
          <a:xfrm>
            <a:off x="6485800" y="990000"/>
            <a:ext cx="700000" cy="430000"/>
          </a:xfrm>
          <a:prstGeom prst="rect">
            <a:avLst/>
          </a:prstGeom>
          <a:solidFill>
            <a:srgbClr val="003366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FFFFFF"/>
                </a:solidFill>
                <a:latin typeface="Calibri"/>
              </a:rPr>
              <a:t>Count</a:t>
            </a:r>
          </a:p>
        </p:txBody>
      </p:sp>
      <p:sp>
        <p:nvSpPr>
          <p:cNvPr id="63" name="Box63"/>
          <p:cNvSpPr txBox="1"/>
          <p:nvPr/>
        </p:nvSpPr>
        <p:spPr>
          <a:xfrm>
            <a:off x="7185800" y="990000"/>
            <a:ext cx="1501000" cy="430000"/>
          </a:xfrm>
          <a:prstGeom prst="rect">
            <a:avLst/>
          </a:prstGeom>
          <a:solidFill>
            <a:srgbClr val="003366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FFFFFF"/>
                </a:solidFill>
                <a:latin typeface="Calibri"/>
              </a:rPr>
              <a:t>Example question</a:t>
            </a:r>
          </a:p>
        </p:txBody>
      </p:sp>
      <p:sp>
        <p:nvSpPr>
          <p:cNvPr id="64" name="Box64"/>
          <p:cNvSpPr txBox="1"/>
          <p:nvPr/>
        </p:nvSpPr>
        <p:spPr>
          <a:xfrm>
            <a:off x="4885800" y="1420000"/>
            <a:ext cx="9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Open</a:t>
            </a:r>
          </a:p>
        </p:txBody>
      </p:sp>
      <p:sp>
        <p:nvSpPr>
          <p:cNvPr id="65" name="Box65"/>
          <p:cNvSpPr txBox="1"/>
          <p:nvPr/>
        </p:nvSpPr>
        <p:spPr>
          <a:xfrm>
            <a:off x="5785800" y="1420000"/>
            <a:ext cx="7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66" name="Box66"/>
          <p:cNvSpPr txBox="1"/>
          <p:nvPr/>
        </p:nvSpPr>
        <p:spPr>
          <a:xfrm>
            <a:off x="6485800" y="1420000"/>
            <a:ext cx="7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~138K</a:t>
            </a:r>
          </a:p>
        </p:txBody>
      </p:sp>
      <p:sp>
        <p:nvSpPr>
          <p:cNvPr id="67" name="Box67"/>
          <p:cNvSpPr txBox="1"/>
          <p:nvPr/>
        </p:nvSpPr>
        <p:spPr>
          <a:xfrm>
            <a:off x="7185800" y="1420000"/>
            <a:ext cx="1501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What is the diagnosis?</a:t>
            </a:r>
          </a:p>
        </p:txBody>
      </p:sp>
      <p:sp>
        <p:nvSpPr>
          <p:cNvPr id="68" name="Box68"/>
          <p:cNvSpPr txBox="1"/>
          <p:nvPr/>
        </p:nvSpPr>
        <p:spPr>
          <a:xfrm>
            <a:off x="4885800" y="1850000"/>
            <a:ext cx="9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69" name="Box69"/>
          <p:cNvSpPr txBox="1"/>
          <p:nvPr/>
        </p:nvSpPr>
        <p:spPr>
          <a:xfrm>
            <a:off x="5785800" y="1850000"/>
            <a:ext cx="7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70" name="Box70"/>
          <p:cNvSpPr txBox="1"/>
          <p:nvPr/>
        </p:nvSpPr>
        <p:spPr>
          <a:xfrm>
            <a:off x="6485800" y="1850000"/>
            <a:ext cx="7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~110K</a:t>
            </a:r>
          </a:p>
        </p:txBody>
      </p:sp>
      <p:sp>
        <p:nvSpPr>
          <p:cNvPr id="71" name="Box71"/>
          <p:cNvSpPr txBox="1"/>
          <p:nvPr/>
        </p:nvSpPr>
        <p:spPr>
          <a:xfrm>
            <a:off x="7185800" y="1850000"/>
            <a:ext cx="1501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Is this lesion malignant?</a:t>
            </a:r>
          </a:p>
        </p:txBody>
      </p:sp>
      <p:sp>
        <p:nvSpPr>
          <p:cNvPr id="72" name="Box72"/>
          <p:cNvSpPr txBox="1"/>
          <p:nvPr/>
        </p:nvSpPr>
        <p:spPr>
          <a:xfrm>
            <a:off x="4885800" y="2280000"/>
            <a:ext cx="9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Region</a:t>
            </a:r>
          </a:p>
        </p:txBody>
      </p:sp>
      <p:sp>
        <p:nvSpPr>
          <p:cNvPr id="73" name="Box73"/>
          <p:cNvSpPr txBox="1"/>
          <p:nvPr/>
        </p:nvSpPr>
        <p:spPr>
          <a:xfrm>
            <a:off x="5785800" y="2280000"/>
            <a:ext cx="7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74" name="Box74"/>
          <p:cNvSpPr txBox="1"/>
          <p:nvPr/>
        </p:nvSpPr>
        <p:spPr>
          <a:xfrm>
            <a:off x="6485800" y="2280000"/>
            <a:ext cx="7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~83K</a:t>
            </a:r>
          </a:p>
        </p:txBody>
      </p:sp>
      <p:sp>
        <p:nvSpPr>
          <p:cNvPr id="75" name="Box75"/>
          <p:cNvSpPr txBox="1"/>
          <p:nvPr/>
        </p:nvSpPr>
        <p:spPr>
          <a:xfrm>
            <a:off x="7185800" y="2280000"/>
            <a:ext cx="1501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Describe the lesion region</a:t>
            </a:r>
          </a:p>
        </p:txBody>
      </p:sp>
      <p:sp>
        <p:nvSpPr>
          <p:cNvPr id="76" name="Box76"/>
          <p:cNvSpPr txBox="1"/>
          <p:nvPr/>
        </p:nvSpPr>
        <p:spPr>
          <a:xfrm>
            <a:off x="4885800" y="2710000"/>
            <a:ext cx="9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Multichoice</a:t>
            </a:r>
          </a:p>
        </p:txBody>
      </p:sp>
      <p:sp>
        <p:nvSpPr>
          <p:cNvPr id="77" name="Box77"/>
          <p:cNvSpPr txBox="1"/>
          <p:nvPr/>
        </p:nvSpPr>
        <p:spPr>
          <a:xfrm>
            <a:off x="5785800" y="2710000"/>
            <a:ext cx="7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78" name="Box78"/>
          <p:cNvSpPr txBox="1"/>
          <p:nvPr/>
        </p:nvSpPr>
        <p:spPr>
          <a:xfrm>
            <a:off x="6485800" y="2710000"/>
            <a:ext cx="700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~83K</a:t>
            </a:r>
          </a:p>
        </p:txBody>
      </p:sp>
      <p:sp>
        <p:nvSpPr>
          <p:cNvPr id="79" name="Box79"/>
          <p:cNvSpPr txBox="1"/>
          <p:nvPr/>
        </p:nvSpPr>
        <p:spPr>
          <a:xfrm>
            <a:off x="7185800" y="2710000"/>
            <a:ext cx="1501000" cy="43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Which matches: MEL/BCC/NEV?</a:t>
            </a:r>
          </a:p>
        </p:txBody>
      </p:sp>
      <p:sp>
        <p:nvSpPr>
          <p:cNvPr id="80" name="Box80"/>
          <p:cNvSpPr txBox="1"/>
          <p:nvPr/>
        </p:nvSpPr>
        <p:spPr>
          <a:xfrm>
            <a:off x="4885800" y="3140000"/>
            <a:ext cx="900000" cy="43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1A1A2E"/>
                </a:solidFill>
                <a:latin typeface="Calibri"/>
              </a:rPr>
              <a:t>TOTAL</a:t>
            </a:r>
          </a:p>
        </p:txBody>
      </p:sp>
      <p:sp>
        <p:nvSpPr>
          <p:cNvPr id="81" name="Box81"/>
          <p:cNvSpPr txBox="1"/>
          <p:nvPr/>
        </p:nvSpPr>
        <p:spPr>
          <a:xfrm>
            <a:off x="5785800" y="3140000"/>
            <a:ext cx="700000" cy="43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1A1A2E"/>
                </a:solidFill>
                <a:latin typeface="Calibri"/>
              </a:rPr>
              <a:t>15</a:t>
            </a:r>
          </a:p>
        </p:txBody>
      </p:sp>
      <p:sp>
        <p:nvSpPr>
          <p:cNvPr id="82" name="Box82"/>
          <p:cNvSpPr txBox="1"/>
          <p:nvPr/>
        </p:nvSpPr>
        <p:spPr>
          <a:xfrm>
            <a:off x="6485800" y="3140000"/>
            <a:ext cx="700000" cy="43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1A1A2E"/>
                </a:solidFill>
                <a:latin typeface="Calibri"/>
              </a:rPr>
              <a:t>~415K</a:t>
            </a:r>
          </a:p>
        </p:txBody>
      </p:sp>
      <p:sp>
        <p:nvSpPr>
          <p:cNvPr id="83" name="Box83"/>
          <p:cNvSpPr txBox="1"/>
          <p:nvPr/>
        </p:nvSpPr>
        <p:spPr>
          <a:xfrm>
            <a:off x="7185800" y="3140000"/>
            <a:ext cx="1501000" cy="43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1A1A2E"/>
                </a:solidFill>
                <a:latin typeface="Calibri"/>
              </a:rPr>
              <a:t>4 disease-grounded types</a:t>
            </a:r>
          </a:p>
        </p:txBody>
      </p:sp>
      <p:sp>
        <p:nvSpPr>
          <p:cNvPr id="90" name="Box90"/>
          <p:cNvSpPr txBox="1"/>
          <p:nvPr/>
        </p:nvSpPr>
        <p:spPr>
          <a:xfrm>
            <a:off x="4885800" y="3720000"/>
            <a:ext cx="3801000" cy="7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200" b="1" dirty="0">
                <a:solidFill>
                  <a:srgbClr val="003366"/>
                </a:solidFill>
                <a:latin typeface="Calibri"/>
              </a:rPr>
              <a:t>Dataset stats: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Train: 332K | Val: 41K | Test: 41K  (patient-grouped, no leakage)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Dedup: perceptual hash | SKIP_EXISTING=True | resume-safe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lIns="182880" rIns="182880" tIns="91440" bIns="91440" wrap="square">
            <a:normAutofit/>
          </a:bodyPr>
          <a:lstStyle/>
          <a:p>
            <a:pPr indent="0" marL="0" algn="l"/>
            <a:r>
              <a:rPr lang="en-IN" sz="2400" b="1" dirty="0">
                <a:solidFill>
                  <a:srgbClr val="FFFFFF"/>
                </a:solidFill>
                <a:latin typeface="Calibri"/>
              </a:rPr>
              <a:t>Stage 7 VQA – R-LLaVA Training Architecture</a:t>
            </a:r>
          </a:p>
        </p:txBody>
      </p:sp>
      <p:sp>
        <p:nvSpPr>
          <p:cNvPr id="10" name="Box10"/>
          <p:cNvSpPr txBox="1"/>
          <p:nvPr/>
        </p:nvSpPr>
        <p:spPr>
          <a:xfrm>
            <a:off x="457200" y="990000"/>
            <a:ext cx="4000500" cy="320000"/>
          </a:xfrm>
          <a:prstGeom prst="rect">
            <a:avLst/>
          </a:prstGeom>
          <a:solidFill>
            <a:srgbClr val="003366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400" b="1" dirty="0">
                <a:solidFill>
                  <a:srgbClr val="FFFFFF"/>
                </a:solidFill>
                <a:latin typeface="Calibri"/>
              </a:rPr>
              <a:t>Stage I: Projector Pretraining</a:t>
            </a:r>
          </a:p>
        </p:txBody>
      </p:sp>
      <p:sp>
        <p:nvSpPr>
          <p:cNvPr id="11" name="Box11"/>
          <p:cNvSpPr txBox="1"/>
          <p:nvPr/>
        </p:nvSpPr>
        <p:spPr>
          <a:xfrm>
            <a:off x="457200" y="1310000"/>
            <a:ext cx="1400175" cy="4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Goal</a:t>
            </a:r>
          </a:p>
        </p:txBody>
      </p:sp>
      <p:sp>
        <p:nvSpPr>
          <p:cNvPr id="12" name="Box12"/>
          <p:cNvSpPr txBox="1"/>
          <p:nvPr/>
        </p:nvSpPr>
        <p:spPr>
          <a:xfrm>
            <a:off x="1857375" y="1310000"/>
            <a:ext cx="2600325" cy="40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Align CLIP vision features with LLM embedding space</a:t>
            </a:r>
          </a:p>
        </p:txBody>
      </p:sp>
      <p:sp>
        <p:nvSpPr>
          <p:cNvPr id="13" name="Box13"/>
          <p:cNvSpPr txBox="1"/>
          <p:nvPr/>
        </p:nvSpPr>
        <p:spPr>
          <a:xfrm>
            <a:off x="457200" y="1710000"/>
            <a:ext cx="1400175" cy="4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Loss</a:t>
            </a:r>
          </a:p>
        </p:txBody>
      </p:sp>
      <p:sp>
        <p:nvSpPr>
          <p:cNvPr id="14" name="Box14"/>
          <p:cNvSpPr txBox="1"/>
          <p:nvPr/>
        </p:nvSpPr>
        <p:spPr>
          <a:xfrm>
            <a:off x="1857375" y="1710000"/>
            <a:ext cx="2600325" cy="40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VICReg: variance + covariance regularization</a:t>
            </a:r>
          </a:p>
        </p:txBody>
      </p:sp>
      <p:sp>
        <p:nvSpPr>
          <p:cNvPr id="15" name="Box15"/>
          <p:cNvSpPr txBox="1"/>
          <p:nvPr/>
        </p:nvSpPr>
        <p:spPr>
          <a:xfrm>
            <a:off x="457200" y="2110000"/>
            <a:ext cx="1400175" cy="4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Trains</a:t>
            </a:r>
          </a:p>
        </p:txBody>
      </p:sp>
      <p:sp>
        <p:nvSpPr>
          <p:cNvPr id="16" name="Box16"/>
          <p:cNvSpPr txBox="1"/>
          <p:nvPr/>
        </p:nvSpPr>
        <p:spPr>
          <a:xfrm>
            <a:off x="1857375" y="2110000"/>
            <a:ext cx="2600325" cy="40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multi_modal_projector only (10.5M params, dequant to fp16)</a:t>
            </a:r>
          </a:p>
        </p:txBody>
      </p:sp>
      <p:sp>
        <p:nvSpPr>
          <p:cNvPr id="17" name="Box17"/>
          <p:cNvSpPr txBox="1"/>
          <p:nvPr/>
        </p:nvSpPr>
        <p:spPr>
          <a:xfrm>
            <a:off x="457200" y="2510000"/>
            <a:ext cx="1400175" cy="4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Data</a:t>
            </a:r>
          </a:p>
        </p:txBody>
      </p:sp>
      <p:sp>
        <p:nvSpPr>
          <p:cNvPr id="18" name="Box18"/>
          <p:cNvSpPr txBox="1"/>
          <p:nvPr/>
        </p:nvSpPr>
        <p:spPr>
          <a:xfrm>
            <a:off x="1857375" y="2510000"/>
            <a:ext cx="2600325" cy="40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331K unique dermoscopy images (no captions needed)</a:t>
            </a:r>
          </a:p>
        </p:txBody>
      </p:sp>
      <p:sp>
        <p:nvSpPr>
          <p:cNvPr id="19" name="Box19"/>
          <p:cNvSpPr txBox="1"/>
          <p:nvPr/>
        </p:nvSpPr>
        <p:spPr>
          <a:xfrm>
            <a:off x="457200" y="2910000"/>
            <a:ext cx="1400175" cy="4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Time</a:t>
            </a:r>
          </a:p>
        </p:txBody>
      </p:sp>
      <p:sp>
        <p:nvSpPr>
          <p:cNvPr id="20" name="Box20"/>
          <p:cNvSpPr txBox="1"/>
          <p:nvPr/>
        </p:nvSpPr>
        <p:spPr>
          <a:xfrm>
            <a:off x="1857375" y="2910000"/>
            <a:ext cx="2600325" cy="40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~20 min / epoch on 3xA100 | 3 epochs total</a:t>
            </a:r>
          </a:p>
        </p:txBody>
      </p:sp>
      <p:sp>
        <p:nvSpPr>
          <p:cNvPr id="21" name="Box21"/>
          <p:cNvSpPr txBox="1"/>
          <p:nvPr/>
        </p:nvSpPr>
        <p:spPr>
          <a:xfrm>
            <a:off x="457200" y="3310000"/>
            <a:ext cx="1400175" cy="4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Output</a:t>
            </a:r>
          </a:p>
        </p:txBody>
      </p:sp>
      <p:sp>
        <p:nvSpPr>
          <p:cNvPr id="22" name="Box22"/>
          <p:cNvSpPr txBox="1"/>
          <p:nvPr/>
        </p:nvSpPr>
        <p:spPr>
          <a:xfrm>
            <a:off x="1857375" y="3310000"/>
            <a:ext cx="2600325" cy="40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projector.pt (~40 MB) saved to stage1_best/</a:t>
            </a:r>
          </a:p>
        </p:txBody>
      </p:sp>
      <p:sp>
        <p:nvSpPr>
          <p:cNvPr id="99" name="Box99"/>
          <p:cNvSpPr txBox="1"/>
          <p:nvPr/>
        </p:nvSpPr>
        <p:spPr>
          <a:xfrm>
            <a:off x="457200" y="3890000"/>
            <a:ext cx="8229600" cy="6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Key config: TOKENS_PER_PATCH=584 | IMG_SIZE=336 | seq_len=2048 | GRID_PINPOINTS=5 | device_map=auto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Inference loading: Base model -&gt; Stage I projector.pt -&gt; Stage II LoRA (must train Stage II with Stage I loaded)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RAG: ChromaDB + all-MiniLM-L6-v2 | DermNet + StatPearls + MedQuAD | top-k=3 | threshold=0.25</a:t>
            </a:r>
          </a:p>
        </p:txBody>
      </p:sp>
      <p:sp>
        <p:nvSpPr>
          <p:cNvPr id="60" name="Box60"/>
          <p:cNvSpPr txBox="1"/>
          <p:nvPr/>
        </p:nvSpPr>
        <p:spPr>
          <a:xfrm>
            <a:off x="4686300" y="990000"/>
            <a:ext cx="4000500" cy="320000"/>
          </a:xfrm>
          <a:prstGeom prst="rect">
            <a:avLst/>
          </a:prstGeom>
          <a:solidFill>
            <a:srgbClr val="003366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400" b="1" dirty="0">
                <a:solidFill>
                  <a:srgbClr val="FFFFFF"/>
                </a:solidFill>
                <a:latin typeface="Calibri"/>
              </a:rPr>
              <a:t>Stage II: QLoRA Fine-tuning</a:t>
            </a:r>
          </a:p>
        </p:txBody>
      </p:sp>
      <p:sp>
        <p:nvSpPr>
          <p:cNvPr id="61" name="Box61"/>
          <p:cNvSpPr txBox="1"/>
          <p:nvPr/>
        </p:nvSpPr>
        <p:spPr>
          <a:xfrm>
            <a:off x="4686300" y="1310000"/>
            <a:ext cx="1400175" cy="4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Goal</a:t>
            </a:r>
          </a:p>
        </p:txBody>
      </p:sp>
      <p:sp>
        <p:nvSpPr>
          <p:cNvPr id="62" name="Box62"/>
          <p:cNvSpPr txBox="1"/>
          <p:nvPr/>
        </p:nvSpPr>
        <p:spPr>
          <a:xfrm>
            <a:off x="6086475" y="1310000"/>
            <a:ext cx="2600325" cy="40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Fine-tune on Stage6QA for ABCDE-aware VQA</a:t>
            </a:r>
          </a:p>
        </p:txBody>
      </p:sp>
      <p:sp>
        <p:nvSpPr>
          <p:cNvPr id="63" name="Box63"/>
          <p:cNvSpPr txBox="1"/>
          <p:nvPr/>
        </p:nvSpPr>
        <p:spPr>
          <a:xfrm>
            <a:off x="4686300" y="1710000"/>
            <a:ext cx="1400175" cy="4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LoRA</a:t>
            </a:r>
          </a:p>
        </p:txBody>
      </p:sp>
      <p:sp>
        <p:nvSpPr>
          <p:cNvPr id="64" name="Box64"/>
          <p:cNvSpPr txBox="1"/>
          <p:nvPr/>
        </p:nvSpPr>
        <p:spPr>
          <a:xfrm>
            <a:off x="6086475" y="1710000"/>
            <a:ext cx="2600325" cy="40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r=8, alpha=16, dropout=0.0 | targets: q/k/v/o_proj</a:t>
            </a:r>
          </a:p>
        </p:txBody>
      </p:sp>
      <p:sp>
        <p:nvSpPr>
          <p:cNvPr id="65" name="Box65"/>
          <p:cNvSpPr txBox="1"/>
          <p:nvPr/>
        </p:nvSpPr>
        <p:spPr>
          <a:xfrm>
            <a:off x="4686300" y="2110000"/>
            <a:ext cx="1400175" cy="4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Quant</a:t>
            </a:r>
          </a:p>
        </p:txBody>
      </p:sp>
      <p:sp>
        <p:nvSpPr>
          <p:cNvPr id="66" name="Box66"/>
          <p:cNvSpPr txBox="1"/>
          <p:nvPr/>
        </p:nvSpPr>
        <p:spPr>
          <a:xfrm>
            <a:off x="6086475" y="2110000"/>
            <a:ext cx="2600325" cy="40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NF4 4-bit base + fp16 LoRA adapter weights</a:t>
            </a:r>
          </a:p>
        </p:txBody>
      </p:sp>
      <p:sp>
        <p:nvSpPr>
          <p:cNvPr id="67" name="Box67"/>
          <p:cNvSpPr txBox="1"/>
          <p:nvPr/>
        </p:nvSpPr>
        <p:spPr>
          <a:xfrm>
            <a:off x="4686300" y="2510000"/>
            <a:ext cx="1400175" cy="4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Training</a:t>
            </a:r>
          </a:p>
        </p:txBody>
      </p:sp>
      <p:sp>
        <p:nvSpPr>
          <p:cNvPr id="68" name="Box68"/>
          <p:cNvSpPr txBox="1"/>
          <p:nvPr/>
        </p:nvSpPr>
        <p:spPr>
          <a:xfrm>
            <a:off x="6086475" y="2510000"/>
            <a:ext cx="2600325" cy="40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7 epochs | LR=2e-5 | batch=4 | grad_accum=4</a:t>
            </a:r>
          </a:p>
        </p:txBody>
      </p:sp>
      <p:sp>
        <p:nvSpPr>
          <p:cNvPr id="69" name="Box69"/>
          <p:cNvSpPr txBox="1"/>
          <p:nvPr/>
        </p:nvSpPr>
        <p:spPr>
          <a:xfrm>
            <a:off x="4686300" y="2910000"/>
            <a:ext cx="1400175" cy="4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Early stop</a:t>
            </a:r>
          </a:p>
        </p:txBody>
      </p:sp>
      <p:sp>
        <p:nvSpPr>
          <p:cNvPr id="70" name="Box70"/>
          <p:cNvSpPr txBox="1"/>
          <p:nvPr/>
        </p:nvSpPr>
        <p:spPr>
          <a:xfrm>
            <a:off x="6086475" y="2910000"/>
            <a:ext cx="2600325" cy="40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patience=5 epochs | best checkpoint saved</a:t>
            </a:r>
          </a:p>
        </p:txBody>
      </p:sp>
      <p:sp>
        <p:nvSpPr>
          <p:cNvPr id="71" name="Box71"/>
          <p:cNvSpPr txBox="1"/>
          <p:nvPr/>
        </p:nvSpPr>
        <p:spPr>
          <a:xfrm>
            <a:off x="4686300" y="3310000"/>
            <a:ext cx="1400175" cy="4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1" dirty="0">
                <a:solidFill>
                  <a:srgbClr val="003366"/>
                </a:solidFill>
                <a:latin typeface="Calibri"/>
              </a:rPr>
              <a:t>Output</a:t>
            </a:r>
          </a:p>
        </p:txBody>
      </p:sp>
      <p:sp>
        <p:nvSpPr>
          <p:cNvPr id="72" name="Box72"/>
          <p:cNvSpPr txBox="1"/>
          <p:nvPr/>
        </p:nvSpPr>
        <p:spPr>
          <a:xfrm>
            <a:off x="6086475" y="3310000"/>
            <a:ext cx="2600325" cy="400000"/>
          </a:xfrm>
          <a:prstGeom prst="rect">
            <a:avLst/>
          </a:prstGeom>
          <a:noFill/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adapter_model.safetensors (~25 MB) for inference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lIns="182880" rIns="182880" tIns="91440" bIns="91440" wrap="square">
            <a:normAutofit/>
          </a:bodyPr>
          <a:lstStyle/>
          <a:p>
            <a:pPr indent="0" marL="0" algn="l"/>
            <a:r>
              <a:rPr lang="en-IN" sz="2400" b="1" dirty="0">
                <a:solidFill>
                  <a:srgbClr val="FFFFFF"/>
                </a:solidFill>
                <a:latin typeface="Calibri"/>
              </a:rPr>
              <a:t>Stage 7 VQA – Training Graphs &amp; Metrics</a:t>
            </a:r>
          </a:p>
        </p:txBody>
      </p:sp>
      <p:sp>
        <p:nvSpPr>
          <p:cNvPr id="10" name="ImgPlaceholder10"/>
          <p:cNvSpPr txBox="1"/>
          <p:nvPr/>
        </p:nvSpPr>
        <p:spPr>
          <a:xfrm>
            <a:off x="457200" y="990000"/>
            <a:ext cx="3200000" cy="1800000"/>
          </a:xfrm>
          <a:prstGeom prst="rect">
            <a:avLst/>
          </a:prstGeom>
          <a:solidFill>
            <a:srgbClr val="E8F4FD"/>
          </a:solidFill>
          <a:ln w="19050">
            <a:solidFill>
              <a:srgbClr val="2563EB"/>
            </a:solidFill>
            <a:prstDash val="dash"/>
          </a:ln>
        </p:spPr>
        <p:txBody>
          <a:bodyPr anchorCtr="0" anchor="ctr" lIns="91440" rIns="91440" tIns="91440" bIns="91440" wrap="square">
            <a:normAutofit/>
          </a:bodyPr>
          <a:lstStyle/>
          <a:p>
            <a:pPr algn="ctr"/>
            <a:r>
              <a:rPr lang="en-IN" sz="1200" b="0" dirty="0">
                <a:solidFill>
                  <a:srgbClr val="2563EB"/>
                </a:solidFill>
                <a:latin typeface="Calibri"/>
              </a:rPr>
              <a:t>[ Training Loss
(Stage II LoRA, per step) ]</a:t>
            </a:r>
          </a:p>
        </p:txBody>
      </p:sp>
      <p:sp>
        <p:nvSpPr>
          <p:cNvPr id="11" name="ImgPlaceholder11"/>
          <p:cNvSpPr txBox="1"/>
          <p:nvPr/>
        </p:nvSpPr>
        <p:spPr>
          <a:xfrm>
            <a:off x="3885800" y="990000"/>
            <a:ext cx="3200000" cy="1800000"/>
          </a:xfrm>
          <a:prstGeom prst="rect">
            <a:avLst/>
          </a:prstGeom>
          <a:solidFill>
            <a:srgbClr val="E8F4FD"/>
          </a:solidFill>
          <a:ln w="19050">
            <a:solidFill>
              <a:srgbClr val="2563EB"/>
            </a:solidFill>
            <a:prstDash val="dash"/>
          </a:ln>
        </p:spPr>
        <p:txBody>
          <a:bodyPr anchorCtr="0" anchor="ctr" lIns="91440" rIns="91440" tIns="91440" bIns="91440" wrap="square">
            <a:normAutofit/>
          </a:bodyPr>
          <a:lstStyle/>
          <a:p>
            <a:pPr algn="ctr"/>
            <a:r>
              <a:rPr lang="en-IN" sz="1200" b="0" dirty="0">
                <a:solidFill>
                  <a:srgbClr val="2563EB"/>
                </a:solidFill>
                <a:latin typeface="Calibri"/>
              </a:rPr>
              <a:t>[ Validation Loss
(per epoch) ]</a:t>
            </a:r>
          </a:p>
        </p:txBody>
      </p:sp>
      <p:sp>
        <p:nvSpPr>
          <p:cNvPr id="12" name="ImgPlaceholder12"/>
          <p:cNvSpPr txBox="1"/>
          <p:nvPr/>
        </p:nvSpPr>
        <p:spPr>
          <a:xfrm>
            <a:off x="457200" y="3018600"/>
            <a:ext cx="3200000" cy="1800000"/>
          </a:xfrm>
          <a:prstGeom prst="rect">
            <a:avLst/>
          </a:prstGeom>
          <a:solidFill>
            <a:srgbClr val="E8F4FD"/>
          </a:solidFill>
          <a:ln w="19050">
            <a:solidFill>
              <a:srgbClr val="2563EB"/>
            </a:solidFill>
            <a:prstDash val="dash"/>
          </a:ln>
        </p:spPr>
        <p:txBody>
          <a:bodyPr anchorCtr="0" anchor="ctr" lIns="91440" rIns="91440" tIns="91440" bIns="91440" wrap="square">
            <a:normAutofit/>
          </a:bodyPr>
          <a:lstStyle/>
          <a:p>
            <a:pPr algn="ctr"/>
            <a:r>
              <a:rPr lang="en-IN" sz="1200" b="0" dirty="0">
                <a:solidFill>
                  <a:srgbClr val="2563EB"/>
                </a:solidFill>
                <a:latin typeface="Calibri"/>
              </a:rPr>
              <a:t>[ BLEU-4 Progression
(per epoch) ]</a:t>
            </a:r>
          </a:p>
        </p:txBody>
      </p:sp>
      <p:sp>
        <p:nvSpPr>
          <p:cNvPr id="13" name="ImgPlaceholder13"/>
          <p:cNvSpPr txBox="1"/>
          <p:nvPr/>
        </p:nvSpPr>
        <p:spPr>
          <a:xfrm>
            <a:off x="3885800" y="3018600"/>
            <a:ext cx="3200000" cy="1800000"/>
          </a:xfrm>
          <a:prstGeom prst="rect">
            <a:avLst/>
          </a:prstGeom>
          <a:solidFill>
            <a:srgbClr val="E8F4FD"/>
          </a:solidFill>
          <a:ln w="19050">
            <a:solidFill>
              <a:srgbClr val="2563EB"/>
            </a:solidFill>
            <a:prstDash val="dash"/>
          </a:ln>
        </p:spPr>
        <p:txBody>
          <a:bodyPr anchorCtr="0" anchor="ctr" lIns="91440" rIns="91440" tIns="91440" bIns="91440" wrap="square">
            <a:normAutofit/>
          </a:bodyPr>
          <a:lstStyle/>
          <a:p>
            <a:pPr algn="ctr"/>
            <a:r>
              <a:rPr lang="en-IN" sz="1200" b="0" dirty="0">
                <a:solidFill>
                  <a:srgbClr val="2563EB"/>
                </a:solidFill>
                <a:latin typeface="Calibri"/>
              </a:rPr>
              <a:t>[ ROUGE-L Progression
(per epoch) ]</a:t>
            </a:r>
          </a:p>
        </p:txBody>
      </p:sp>
      <p:sp>
        <p:nvSpPr>
          <p:cNvPr id="20" name="Box20"/>
          <p:cNvSpPr txBox="1"/>
          <p:nvPr/>
        </p:nvSpPr>
        <p:spPr>
          <a:xfrm>
            <a:off x="7314400" y="990000"/>
            <a:ext cx="1372400" cy="38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100"/>
              </a:spcBef>
            </a:pPr>
            <a:r>
              <a:rPr lang="en-IN" sz="1300" b="1" dirty="0">
                <a:solidFill>
                  <a:srgbClr val="003366"/>
                </a:solidFill>
                <a:latin typeface="Calibri"/>
              </a:rPr>
              <a:t>Graphs to insert: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Training_Loss.png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Validation_Loss.png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BLEU_4_Progression.png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ROUGE_L_Progression.png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METEOR_Progression.png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Exact_Match_Progression.png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Recall_at_K.png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Context_Retention.png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/>
            </a:r>
          </a:p>
          <a:p>
            <a:pPr indent="0" marL="0">
              <a:spcBef>
                <a:spcPts val="100"/>
              </a:spcBef>
            </a:pPr>
            <a:r>
              <a:rPr lang="en-IN" sz="1200" b="1" dirty="0">
                <a:solidFill>
                  <a:srgbClr val="003366"/>
                </a:solidFill>
                <a:latin typeface="Calibri"/>
              </a:rPr>
              <a:t>Target metrics: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BLEU-4   &gt; 0.15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ROUGE-L  &gt; 0.25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METEOR   &gt; 0.20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EM close &gt; 60%</a:t>
            </a:r>
          </a:p>
          <a:p>
            <a:pPr indent="0" marL="0">
              <a:spcBef>
                <a:spcPts val="10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Recall@K &gt; 0.70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lIns="182880" rIns="182880" tIns="91440" bIns="91440" wrap="square">
            <a:normAutofit/>
          </a:bodyPr>
          <a:lstStyle/>
          <a:p>
            <a:pPr indent="0" marL="0" algn="l"/>
            <a:r>
              <a:rPr lang="en-IN" sz="2400" b="1" dirty="0">
                <a:solidFill>
                  <a:srgbClr val="FFFFFF"/>
                </a:solidFill>
                <a:latin typeface="Calibri"/>
              </a:rPr>
              <a:t>Stage 7 – RAG Pipeline (Retrieval-Augmented Generation)</a:t>
            </a:r>
          </a:p>
        </p:txBody>
      </p:sp>
      <p:sp>
        <p:nvSpPr>
          <p:cNvPr id="10" name="B10"/>
          <p:cNvSpPr txBox="1"/>
          <p:nvPr/>
        </p:nvSpPr>
        <p:spPr>
          <a:xfrm>
            <a:off x="457200" y="1000000"/>
            <a:ext cx="4000000" cy="26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400" b="1" dirty="0">
                <a:solidFill>
                  <a:srgbClr val="003366"/>
                </a:solidFill>
                <a:latin typeface="Calibri"/>
              </a:rPr>
              <a:t>What is RAG?</a:t>
            </a:r>
          </a:p>
        </p:txBody>
      </p:sp>
      <p:sp>
        <p:nvSpPr>
          <p:cNvPr id="11" name="B11"/>
          <p:cNvSpPr txBox="1"/>
          <p:nvPr/>
        </p:nvSpPr>
        <p:spPr>
          <a:xfrm>
            <a:off x="457200" y="1260000"/>
            <a:ext cx="4000000" cy="56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50" b="0" dirty="0">
                <a:solidFill>
                  <a:srgbClr val="1A1A2E"/>
                </a:solidFill>
                <a:latin typeface="Calibri"/>
              </a:rPr>
              <a:t>R-LLaVA is a 7B VQA model — it can hallucinate on clinical questions</a:t>
            </a:r>
          </a:p>
          <a:p>
            <a:pPr indent="0" marL="0">
              <a:spcBef>
                <a:spcPts val="80"/>
              </a:spcBef>
            </a:pPr>
            <a:r>
              <a:rPr lang="en-IN" sz="1150" b="0" dirty="0">
                <a:solidFill>
                  <a:srgbClr val="1A1A2E"/>
                </a:solidFill>
                <a:latin typeface="Calibri"/>
              </a:rPr>
              <a:t>without grounding. RAG grounds answers in real dermatology evidence</a:t>
            </a:r>
          </a:p>
          <a:p>
            <a:pPr indent="0" marL="0">
              <a:spcBef>
                <a:spcPts val="80"/>
              </a:spcBef>
            </a:pPr>
            <a:r>
              <a:rPr lang="en-IN" sz="1150" b="0" dirty="0">
                <a:solidFill>
                  <a:srgbClr val="1A1A2E"/>
                </a:solidFill>
                <a:latin typeface="Calibri"/>
              </a:rPr>
              <a:t>retrieved at query time from ChromaDB, not baked into weights.</a:t>
            </a:r>
          </a:p>
        </p:txBody>
      </p:sp>
      <p:sp>
        <p:nvSpPr>
          <p:cNvPr id="20" name="B20"/>
          <p:cNvSpPr txBox="1"/>
          <p:nvPr/>
        </p:nvSpPr>
        <p:spPr>
          <a:xfrm>
            <a:off x="457200" y="1900000"/>
            <a:ext cx="300000" cy="56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20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B30"/>
          <p:cNvSpPr txBox="1"/>
          <p:nvPr/>
        </p:nvSpPr>
        <p:spPr>
          <a:xfrm>
            <a:off x="757200" y="1900000"/>
            <a:ext cx="3700000" cy="56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200" b="1" dirty="0">
                <a:solidFill>
                  <a:srgbClr val="2563EB"/>
                </a:solidFill>
                <a:latin typeface="Calibri"/>
              </a:rPr>
              <a:t>Question Router classifies query</a:t>
            </a:r>
          </a:p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374151"/>
                </a:solidFill>
                <a:latin typeface="Calibri"/>
              </a:rPr>
              <a:t>Routing: diagnosis -&gt; DermNet | abcde -&gt; AAD guidelines | treatment -&gt; AAD | risk -&gt; AAD</a:t>
            </a:r>
          </a:p>
        </p:txBody>
      </p:sp>
      <p:sp>
        <p:nvSpPr>
          <p:cNvPr id="21" name="B21"/>
          <p:cNvSpPr txBox="1"/>
          <p:nvPr/>
        </p:nvSpPr>
        <p:spPr>
          <a:xfrm>
            <a:off x="457200" y="2520000"/>
            <a:ext cx="300000" cy="56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20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B31"/>
          <p:cNvSpPr txBox="1"/>
          <p:nvPr/>
        </p:nvSpPr>
        <p:spPr>
          <a:xfrm>
            <a:off x="757200" y="2520000"/>
            <a:ext cx="3700000" cy="560000"/>
          </a:xfrm>
          <a:prstGeom prst="rect">
            <a:avLst/>
          </a:prstGeom>
          <a:solidFill>
            <a:srgbClr val="DCFCE7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200" b="1" dirty="0">
                <a:solidFill>
                  <a:srgbClr val="166534"/>
                </a:solidFill>
                <a:latin typeface="Calibri"/>
              </a:rPr>
              <a:t>DermatologyRAG embeds query</a:t>
            </a:r>
          </a:p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374151"/>
                </a:solidFill>
                <a:latin typeface="Calibri"/>
              </a:rPr>
              <a:t>all-MiniLM-L6-v2 (384-dim) encodes question -&gt; cosine similarity search in ChromaDB</a:t>
            </a:r>
          </a:p>
        </p:txBody>
      </p:sp>
      <p:sp>
        <p:nvSpPr>
          <p:cNvPr id="22" name="B22"/>
          <p:cNvSpPr txBox="1"/>
          <p:nvPr/>
        </p:nvSpPr>
        <p:spPr>
          <a:xfrm>
            <a:off x="457200" y="3140000"/>
            <a:ext cx="300000" cy="5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20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B32"/>
          <p:cNvSpPr txBox="1"/>
          <p:nvPr/>
        </p:nvSpPr>
        <p:spPr>
          <a:xfrm>
            <a:off x="757200" y="3140000"/>
            <a:ext cx="3700000" cy="560000"/>
          </a:xfrm>
          <a:prstGeom prst="rect">
            <a:avLst/>
          </a:prstGeom>
          <a:solidFill>
            <a:srgbClr val="F5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200" b="1" dirty="0">
                <a:solidFill>
                  <a:srgbClr val="7C3AED"/>
                </a:solidFill>
                <a:latin typeface="Calibri"/>
              </a:rPr>
              <a:t>Top-k chunks injected into prompt</a:t>
            </a:r>
          </a:p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374151"/>
                </a:solidFill>
                <a:latin typeface="Calibri"/>
              </a:rPr>
              <a:t>Top-3 chunks above threshold=0.25 prepended to R-LLaVA context window</a:t>
            </a:r>
          </a:p>
        </p:txBody>
      </p:sp>
      <p:sp>
        <p:nvSpPr>
          <p:cNvPr id="23" name="B23"/>
          <p:cNvSpPr txBox="1"/>
          <p:nvPr/>
        </p:nvSpPr>
        <p:spPr>
          <a:xfrm>
            <a:off x="457200" y="3760000"/>
            <a:ext cx="300000" cy="56000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20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B33"/>
          <p:cNvSpPr txBox="1"/>
          <p:nvPr/>
        </p:nvSpPr>
        <p:spPr>
          <a:xfrm>
            <a:off x="757200" y="3760000"/>
            <a:ext cx="3700000" cy="560000"/>
          </a:xfrm>
          <a:prstGeom prst="rect">
            <a:avLst/>
          </a:prstGeom>
          <a:solidFill>
            <a:srgbClr val="FEF3C7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200" b="1" dirty="0">
                <a:solidFill>
                  <a:srgbClr val="9A3412"/>
                </a:solidFill>
                <a:latin typeface="Calibri"/>
              </a:rPr>
              <a:t>LlamaReasoner synthesises evidence</a:t>
            </a:r>
          </a:p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374151"/>
                </a:solidFill>
                <a:latin typeface="Calibri"/>
              </a:rPr>
              <a:t>Llama 3.1 (8B via Ollama): 2-3 sentence reasoning summary from RAG + rules engine</a:t>
            </a:r>
          </a:p>
        </p:txBody>
      </p:sp>
      <p:sp>
        <p:nvSpPr>
          <p:cNvPr id="50" name="B50"/>
          <p:cNvSpPr txBox="1"/>
          <p:nvPr/>
        </p:nvSpPr>
        <p:spPr>
          <a:xfrm>
            <a:off x="4685800" y="1000000"/>
            <a:ext cx="4001000" cy="26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400" b="1" dirty="0">
                <a:solidFill>
                  <a:srgbClr val="003366"/>
                </a:solidFill>
                <a:latin typeface="Calibri"/>
              </a:rPr>
              <a:t>Knowledge Base (ChromaDB)</a:t>
            </a:r>
          </a:p>
        </p:txBody>
      </p:sp>
      <p:sp>
        <p:nvSpPr>
          <p:cNvPr id="60" name="B60"/>
          <p:cNvSpPr txBox="1"/>
          <p:nvPr/>
        </p:nvSpPr>
        <p:spPr>
          <a:xfrm>
            <a:off x="4685800" y="1260000"/>
            <a:ext cx="4001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50" b="1" dirty="0">
                <a:solidFill>
                  <a:srgbClr val="166534"/>
                </a:solidFill>
                <a:latin typeface="Calibri"/>
              </a:rPr>
              <a:t>statpearls/</a:t>
            </a:r>
          </a:p>
          <a:p>
            <a:pPr indent="0" marL="0">
              <a:spcBef>
                <a:spcPts val="80"/>
              </a:spcBef>
            </a:pPr>
            <a:r>
              <a:rPr lang="en-IN" sz="1050" b="0" dirty="0">
                <a:solidFill>
                  <a:srgbClr val="374151"/>
                </a:solidFill>
                <a:latin typeface="Calibri"/>
              </a:rPr>
              <a:t>6 files — MEL, BCC, SCC, ACK, SEK, NEV clinical summaries</a:t>
            </a:r>
          </a:p>
        </p:txBody>
      </p:sp>
      <p:sp>
        <p:nvSpPr>
          <p:cNvPr id="61" name="B61"/>
          <p:cNvSpPr txBox="1"/>
          <p:nvPr/>
        </p:nvSpPr>
        <p:spPr>
          <a:xfrm>
            <a:off x="4685800" y="1640000"/>
            <a:ext cx="4001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50" b="1" dirty="0">
                <a:solidFill>
                  <a:srgbClr val="2563EB"/>
                </a:solidFill>
                <a:latin typeface="Calibri"/>
              </a:rPr>
              <a:t>abcde_guidelines/</a:t>
            </a:r>
          </a:p>
          <a:p>
            <a:pPr indent="0" marL="0">
              <a:spcBef>
                <a:spcPts val="80"/>
              </a:spcBef>
            </a:pPr>
            <a:r>
              <a:rPr lang="en-IN" sz="1050" b="0" dirty="0">
                <a:solidFill>
                  <a:srgbClr val="374151"/>
                </a:solidFill>
                <a:latin typeface="Calibri"/>
              </a:rPr>
              <a:t>2 files — AAD ABCDE rule + ABCD dermoscopy criteria</a:t>
            </a:r>
          </a:p>
        </p:txBody>
      </p:sp>
      <p:sp>
        <p:nvSpPr>
          <p:cNvPr id="62" name="B62"/>
          <p:cNvSpPr txBox="1"/>
          <p:nvPr/>
        </p:nvSpPr>
        <p:spPr>
          <a:xfrm>
            <a:off x="4685800" y="2020000"/>
            <a:ext cx="4001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50" b="1" dirty="0">
                <a:solidFill>
                  <a:srgbClr val="9A3412"/>
                </a:solidFill>
                <a:latin typeface="Calibri"/>
              </a:rPr>
              <a:t>aad_guidelines/</a:t>
            </a:r>
          </a:p>
          <a:p>
            <a:pPr indent="0" marL="0">
              <a:spcBef>
                <a:spcPts val="80"/>
              </a:spcBef>
            </a:pPr>
            <a:r>
              <a:rPr lang="en-IN" sz="1050" b="0" dirty="0">
                <a:solidFill>
                  <a:srgbClr val="374151"/>
                </a:solidFill>
                <a:latin typeface="Calibri"/>
              </a:rPr>
              <a:t>3 files — MEL, BCC, SCC treatment guidelines</a:t>
            </a:r>
          </a:p>
        </p:txBody>
      </p:sp>
      <p:sp>
        <p:nvSpPr>
          <p:cNvPr id="63" name="B63"/>
          <p:cNvSpPr txBox="1"/>
          <p:nvPr/>
        </p:nvSpPr>
        <p:spPr>
          <a:xfrm>
            <a:off x="4685800" y="2400000"/>
            <a:ext cx="4001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50" b="1" dirty="0">
                <a:solidFill>
                  <a:srgbClr val="7C3AED"/>
                </a:solidFill>
                <a:latin typeface="Calibri"/>
              </a:rPr>
              <a:t>dermnet/</a:t>
            </a:r>
          </a:p>
          <a:p>
            <a:pPr indent="0" marL="0">
              <a:spcBef>
                <a:spcPts val="80"/>
              </a:spcBef>
            </a:pPr>
            <a:r>
              <a:rPr lang="en-IN" sz="1050" b="0" dirty="0">
                <a:solidFill>
                  <a:srgbClr val="374151"/>
                </a:solidFill>
                <a:latin typeface="Calibri"/>
              </a:rPr>
              <a:t>6 files — DermNet disease descriptions per class</a:t>
            </a:r>
          </a:p>
        </p:txBody>
      </p:sp>
      <p:sp>
        <p:nvSpPr>
          <p:cNvPr id="64" name="B64"/>
          <p:cNvSpPr txBox="1"/>
          <p:nvPr/>
        </p:nvSpPr>
        <p:spPr>
          <a:xfrm>
            <a:off x="4685800" y="2780000"/>
            <a:ext cx="4001000" cy="38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50" b="1" dirty="0">
                <a:solidFill>
                  <a:srgbClr val="0369A1"/>
                </a:solidFill>
                <a:latin typeface="Calibri"/>
              </a:rPr>
              <a:t>medquad/</a:t>
            </a:r>
          </a:p>
          <a:p>
            <a:pPr indent="0" marL="0">
              <a:spcBef>
                <a:spcPts val="80"/>
              </a:spcBef>
            </a:pPr>
            <a:r>
              <a:rPr lang="en-IN" sz="1050" b="0" dirty="0">
                <a:solidFill>
                  <a:srgbClr val="374151"/>
                </a:solidFill>
                <a:latin typeface="Calibri"/>
              </a:rPr>
              <a:t>~300 files — MedQuAD XML parsed dermatology QA pairs</a:t>
            </a:r>
          </a:p>
        </p:txBody>
      </p:sp>
      <p:sp>
        <p:nvSpPr>
          <p:cNvPr id="70" name="B70"/>
          <p:cNvSpPr txBox="1"/>
          <p:nvPr/>
        </p:nvSpPr>
        <p:spPr>
          <a:xfrm>
            <a:off x="4685800" y="3260000"/>
            <a:ext cx="4001000" cy="6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200" b="1" dirty="0">
                <a:solidFill>
                  <a:srgbClr val="003366"/>
                </a:solidFill>
                <a:latin typeface="Calibri"/>
              </a:rPr>
              <a:t>Config:</a:t>
            </a:r>
          </a:p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Embedding: all-MiniLM-L6-v2 (384-dim, CPU)</a:t>
            </a:r>
          </a:p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Chunk: 350 words | overlap: 60 | min: 40 chars</a:t>
            </a:r>
          </a:p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Top-k: 3 | Similarity threshold: 0.25 | cosine distance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lIns="182880" rIns="182880" tIns="91440" bIns="91440" wrap="square">
            <a:normAutofit/>
          </a:bodyPr>
          <a:lstStyle/>
          <a:p>
            <a:pPr indent="0" marL="0" algn="l"/>
            <a:r>
              <a:rPr lang="en-IN" sz="2400" b="1" dirty="0">
                <a:solidFill>
                  <a:srgbClr val="FFFFFF"/>
                </a:solidFill>
                <a:latin typeface="Calibri"/>
              </a:rPr>
              <a:t>Stage 7 – RAG Evaluation Metrics</a:t>
            </a:r>
          </a:p>
        </p:txBody>
      </p:sp>
      <p:sp>
        <p:nvSpPr>
          <p:cNvPr id="10" name="B10"/>
          <p:cNvSpPr txBox="1"/>
          <p:nvPr/>
        </p:nvSpPr>
        <p:spPr>
          <a:xfrm>
            <a:off x="457200" y="1000000"/>
            <a:ext cx="4200000" cy="26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350" b="1" dirty="0">
                <a:solidFill>
                  <a:srgbClr val="003366"/>
                </a:solidFill>
                <a:latin typeface="Calibri"/>
              </a:rPr>
              <a:t>RAG Retrieval Metrics (to be computed)</a:t>
            </a:r>
          </a:p>
        </p:txBody>
      </p:sp>
      <p:sp>
        <p:nvSpPr>
          <p:cNvPr id="20" name="B20"/>
          <p:cNvSpPr txBox="1"/>
          <p:nvPr/>
        </p:nvSpPr>
        <p:spPr>
          <a:xfrm>
            <a:off x="457200" y="1260000"/>
            <a:ext cx="1800000" cy="38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50" b="1" dirty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21" name="B21"/>
          <p:cNvSpPr txBox="1"/>
          <p:nvPr/>
        </p:nvSpPr>
        <p:spPr>
          <a:xfrm>
            <a:off x="2257200" y="1260000"/>
            <a:ext cx="1500000" cy="38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50" b="1" dirty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22" name="B22"/>
          <p:cNvSpPr txBox="1"/>
          <p:nvPr/>
        </p:nvSpPr>
        <p:spPr>
          <a:xfrm>
            <a:off x="3757200" y="1260000"/>
            <a:ext cx="500000" cy="38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50" b="1" dirty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23" name="B23"/>
          <p:cNvSpPr txBox="1"/>
          <p:nvPr/>
        </p:nvSpPr>
        <p:spPr>
          <a:xfrm>
            <a:off x="4257200" y="1260000"/>
            <a:ext cx="400000" cy="38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50" b="1" dirty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30" name="B30"/>
          <p:cNvSpPr txBox="1"/>
          <p:nvPr/>
        </p:nvSpPr>
        <p:spPr>
          <a:xfrm>
            <a:off x="457200" y="1640000"/>
            <a:ext cx="1800000" cy="360000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1" dirty="0">
                <a:solidFill>
                  <a:srgbClr val="1A1A2E"/>
                </a:solidFill>
                <a:latin typeface="Calibri"/>
              </a:rPr>
              <a:t>Precision@K</a:t>
            </a:r>
          </a:p>
        </p:txBody>
      </p:sp>
      <p:sp>
        <p:nvSpPr>
          <p:cNvPr id="31" name="B31"/>
          <p:cNvSpPr txBox="1"/>
          <p:nvPr/>
        </p:nvSpPr>
        <p:spPr>
          <a:xfrm>
            <a:off x="2257200" y="1640000"/>
            <a:ext cx="1500000" cy="360000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Fraction of retrieved chunks that are relevant</a:t>
            </a:r>
          </a:p>
        </p:txBody>
      </p:sp>
      <p:sp>
        <p:nvSpPr>
          <p:cNvPr id="32" name="B32"/>
          <p:cNvSpPr txBox="1"/>
          <p:nvPr/>
        </p:nvSpPr>
        <p:spPr>
          <a:xfrm>
            <a:off x="3757200" y="1640000"/>
            <a:ext cx="500000" cy="360000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&gt;0.70</a:t>
            </a:r>
          </a:p>
        </p:txBody>
      </p:sp>
      <p:sp>
        <p:nvSpPr>
          <p:cNvPr id="33" name="B33"/>
          <p:cNvSpPr txBox="1"/>
          <p:nvPr/>
        </p:nvSpPr>
        <p:spPr>
          <a:xfrm>
            <a:off x="4257200" y="1640000"/>
            <a:ext cx="400000" cy="360000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2563EB"/>
                </a:solidFill>
                <a:latin typeface="Calibri"/>
              </a:rPr>
              <a:t>—</a:t>
            </a:r>
          </a:p>
        </p:txBody>
      </p:sp>
      <p:sp>
        <p:nvSpPr>
          <p:cNvPr id="34" name="B34"/>
          <p:cNvSpPr txBox="1"/>
          <p:nvPr/>
        </p:nvSpPr>
        <p:spPr>
          <a:xfrm>
            <a:off x="457200" y="2000000"/>
            <a:ext cx="18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1" dirty="0">
                <a:solidFill>
                  <a:srgbClr val="1A1A2E"/>
                </a:solidFill>
                <a:latin typeface="Calibri"/>
              </a:rPr>
              <a:t>Recall@K</a:t>
            </a:r>
          </a:p>
        </p:txBody>
      </p:sp>
      <p:sp>
        <p:nvSpPr>
          <p:cNvPr id="35" name="B35"/>
          <p:cNvSpPr txBox="1"/>
          <p:nvPr/>
        </p:nvSpPr>
        <p:spPr>
          <a:xfrm>
            <a:off x="2257200" y="2000000"/>
            <a:ext cx="15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Fraction of relevant chunks that are retrieved</a:t>
            </a:r>
          </a:p>
        </p:txBody>
      </p:sp>
      <p:sp>
        <p:nvSpPr>
          <p:cNvPr id="36" name="B36"/>
          <p:cNvSpPr txBox="1"/>
          <p:nvPr/>
        </p:nvSpPr>
        <p:spPr>
          <a:xfrm>
            <a:off x="3757200" y="2000000"/>
            <a:ext cx="5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&gt;0.65</a:t>
            </a:r>
          </a:p>
        </p:txBody>
      </p:sp>
      <p:sp>
        <p:nvSpPr>
          <p:cNvPr id="37" name="B37"/>
          <p:cNvSpPr txBox="1"/>
          <p:nvPr/>
        </p:nvSpPr>
        <p:spPr>
          <a:xfrm>
            <a:off x="4257200" y="2000000"/>
            <a:ext cx="4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2563EB"/>
                </a:solidFill>
                <a:latin typeface="Calibri"/>
              </a:rPr>
              <a:t>—</a:t>
            </a:r>
          </a:p>
        </p:txBody>
      </p:sp>
      <p:sp>
        <p:nvSpPr>
          <p:cNvPr id="38" name="B38"/>
          <p:cNvSpPr txBox="1"/>
          <p:nvPr/>
        </p:nvSpPr>
        <p:spPr>
          <a:xfrm>
            <a:off x="457200" y="2360000"/>
            <a:ext cx="1800000" cy="360000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1" dirty="0">
                <a:solidFill>
                  <a:srgbClr val="1A1A2E"/>
                </a:solidFill>
                <a:latin typeface="Calibri"/>
              </a:rPr>
              <a:t>MRR</a:t>
            </a:r>
          </a:p>
        </p:txBody>
      </p:sp>
      <p:sp>
        <p:nvSpPr>
          <p:cNvPr id="39" name="B39"/>
          <p:cNvSpPr txBox="1"/>
          <p:nvPr/>
        </p:nvSpPr>
        <p:spPr>
          <a:xfrm>
            <a:off x="2257200" y="2360000"/>
            <a:ext cx="1500000" cy="360000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Mean Reciprocal Rank of first relevant chunk</a:t>
            </a:r>
          </a:p>
        </p:txBody>
      </p:sp>
      <p:sp>
        <p:nvSpPr>
          <p:cNvPr id="40" name="B40"/>
          <p:cNvSpPr txBox="1"/>
          <p:nvPr/>
        </p:nvSpPr>
        <p:spPr>
          <a:xfrm>
            <a:off x="3757200" y="2360000"/>
            <a:ext cx="500000" cy="360000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&gt;0.75</a:t>
            </a:r>
          </a:p>
        </p:txBody>
      </p:sp>
      <p:sp>
        <p:nvSpPr>
          <p:cNvPr id="41" name="B41"/>
          <p:cNvSpPr txBox="1"/>
          <p:nvPr/>
        </p:nvSpPr>
        <p:spPr>
          <a:xfrm>
            <a:off x="4257200" y="2360000"/>
            <a:ext cx="400000" cy="360000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2563EB"/>
                </a:solidFill>
                <a:latin typeface="Calibri"/>
              </a:rPr>
              <a:t>—</a:t>
            </a:r>
          </a:p>
        </p:txBody>
      </p:sp>
      <p:sp>
        <p:nvSpPr>
          <p:cNvPr id="42" name="B42"/>
          <p:cNvSpPr txBox="1"/>
          <p:nvPr/>
        </p:nvSpPr>
        <p:spPr>
          <a:xfrm>
            <a:off x="457200" y="2720000"/>
            <a:ext cx="18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1" dirty="0">
                <a:solidFill>
                  <a:srgbClr val="1A1A2E"/>
                </a:solidFill>
                <a:latin typeface="Calibri"/>
              </a:rPr>
              <a:t>Hit Rate</a:t>
            </a:r>
          </a:p>
        </p:txBody>
      </p:sp>
      <p:sp>
        <p:nvSpPr>
          <p:cNvPr id="43" name="B43"/>
          <p:cNvSpPr txBox="1"/>
          <p:nvPr/>
        </p:nvSpPr>
        <p:spPr>
          <a:xfrm>
            <a:off x="2257200" y="2720000"/>
            <a:ext cx="15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% queries with at least 1 relevant chunk</a:t>
            </a:r>
          </a:p>
        </p:txBody>
      </p:sp>
      <p:sp>
        <p:nvSpPr>
          <p:cNvPr id="44" name="B44"/>
          <p:cNvSpPr txBox="1"/>
          <p:nvPr/>
        </p:nvSpPr>
        <p:spPr>
          <a:xfrm>
            <a:off x="3757200" y="2720000"/>
            <a:ext cx="5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&gt;0.80</a:t>
            </a:r>
          </a:p>
        </p:txBody>
      </p:sp>
      <p:sp>
        <p:nvSpPr>
          <p:cNvPr id="45" name="B45"/>
          <p:cNvSpPr txBox="1"/>
          <p:nvPr/>
        </p:nvSpPr>
        <p:spPr>
          <a:xfrm>
            <a:off x="4257200" y="2720000"/>
            <a:ext cx="4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2563EB"/>
                </a:solidFill>
                <a:latin typeface="Calibri"/>
              </a:rPr>
              <a:t>—</a:t>
            </a:r>
          </a:p>
        </p:txBody>
      </p:sp>
      <p:sp>
        <p:nvSpPr>
          <p:cNvPr id="46" name="B46"/>
          <p:cNvSpPr txBox="1"/>
          <p:nvPr/>
        </p:nvSpPr>
        <p:spPr>
          <a:xfrm>
            <a:off x="457200" y="3080000"/>
            <a:ext cx="1800000" cy="360000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1" dirty="0">
                <a:solidFill>
                  <a:srgbClr val="1A1A2E"/>
                </a:solidFill>
                <a:latin typeface="Calibri"/>
              </a:rPr>
              <a:t>Answer Faithfulness</a:t>
            </a:r>
          </a:p>
        </p:txBody>
      </p:sp>
      <p:sp>
        <p:nvSpPr>
          <p:cNvPr id="47" name="B47"/>
          <p:cNvSpPr txBox="1"/>
          <p:nvPr/>
        </p:nvSpPr>
        <p:spPr>
          <a:xfrm>
            <a:off x="2257200" y="3080000"/>
            <a:ext cx="1500000" cy="360000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Answer grounded in retrieved context?</a:t>
            </a:r>
          </a:p>
        </p:txBody>
      </p:sp>
      <p:sp>
        <p:nvSpPr>
          <p:cNvPr id="48" name="B48"/>
          <p:cNvSpPr txBox="1"/>
          <p:nvPr/>
        </p:nvSpPr>
        <p:spPr>
          <a:xfrm>
            <a:off x="3757200" y="3080000"/>
            <a:ext cx="500000" cy="360000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&gt;0.75</a:t>
            </a:r>
          </a:p>
        </p:txBody>
      </p:sp>
      <p:sp>
        <p:nvSpPr>
          <p:cNvPr id="49" name="B49"/>
          <p:cNvSpPr txBox="1"/>
          <p:nvPr/>
        </p:nvSpPr>
        <p:spPr>
          <a:xfrm>
            <a:off x="4257200" y="3080000"/>
            <a:ext cx="400000" cy="360000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2563EB"/>
                </a:solidFill>
                <a:latin typeface="Calibri"/>
              </a:rPr>
              <a:t>—</a:t>
            </a:r>
          </a:p>
        </p:txBody>
      </p:sp>
      <p:sp>
        <p:nvSpPr>
          <p:cNvPr id="50" name="B50"/>
          <p:cNvSpPr txBox="1"/>
          <p:nvPr/>
        </p:nvSpPr>
        <p:spPr>
          <a:xfrm>
            <a:off x="457200" y="3440000"/>
            <a:ext cx="18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1" dirty="0">
                <a:solidFill>
                  <a:srgbClr val="1A1A2E"/>
                </a:solidFill>
                <a:latin typeface="Calibri"/>
              </a:rPr>
              <a:t>Latency</a:t>
            </a:r>
          </a:p>
        </p:txBody>
      </p:sp>
      <p:sp>
        <p:nvSpPr>
          <p:cNvPr id="51" name="B51"/>
          <p:cNvSpPr txBox="1"/>
          <p:nvPr/>
        </p:nvSpPr>
        <p:spPr>
          <a:xfrm>
            <a:off x="2257200" y="3440000"/>
            <a:ext cx="15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End-to-end retrieval time per query</a:t>
            </a:r>
          </a:p>
        </p:txBody>
      </p:sp>
      <p:sp>
        <p:nvSpPr>
          <p:cNvPr id="52" name="B52"/>
          <p:cNvSpPr txBox="1"/>
          <p:nvPr/>
        </p:nvSpPr>
        <p:spPr>
          <a:xfrm>
            <a:off x="3757200" y="3440000"/>
            <a:ext cx="5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&lt;100ms</a:t>
            </a:r>
          </a:p>
        </p:txBody>
      </p:sp>
      <p:sp>
        <p:nvSpPr>
          <p:cNvPr id="53" name="B53"/>
          <p:cNvSpPr txBox="1"/>
          <p:nvPr/>
        </p:nvSpPr>
        <p:spPr>
          <a:xfrm>
            <a:off x="4257200" y="3440000"/>
            <a:ext cx="4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2563EB"/>
                </a:solidFill>
                <a:latin typeface="Calibri"/>
              </a:rPr>
              <a:t>—</a:t>
            </a:r>
          </a:p>
        </p:txBody>
      </p:sp>
      <p:sp>
        <p:nvSpPr>
          <p:cNvPr id="80" name="B80"/>
          <p:cNvSpPr txBox="1"/>
          <p:nvPr/>
        </p:nvSpPr>
        <p:spPr>
          <a:xfrm>
            <a:off x="457200" y="3950000"/>
            <a:ext cx="4200000" cy="2600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250" b="1" dirty="0">
                <a:solidFill>
                  <a:srgbClr val="2563EB"/>
                </a:solidFill>
                <a:latin typeface="Calibri"/>
              </a:rPr>
              <a:t>Question Routing -&gt; RAG Source Filter</a:t>
            </a:r>
          </a:p>
        </p:txBody>
      </p:sp>
      <p:sp>
        <p:nvSpPr>
          <p:cNvPr id="90" name="B90"/>
          <p:cNvSpPr txBox="1"/>
          <p:nvPr/>
        </p:nvSpPr>
        <p:spPr>
          <a:xfrm>
            <a:off x="457200" y="4210000"/>
            <a:ext cx="1400000" cy="3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50" b="1" dirty="0">
                <a:solidFill>
                  <a:srgbClr val="2563EB"/>
                </a:solidFill>
                <a:latin typeface="Calibri"/>
              </a:rPr>
              <a:t>diagnosis</a:t>
            </a:r>
          </a:p>
        </p:txBody>
      </p:sp>
      <p:sp>
        <p:nvSpPr>
          <p:cNvPr id="91" name="B91"/>
          <p:cNvSpPr txBox="1"/>
          <p:nvPr/>
        </p:nvSpPr>
        <p:spPr>
          <a:xfrm>
            <a:off x="1857200" y="4210000"/>
            <a:ext cx="1400000" cy="3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00" b="0" dirty="0">
                <a:solidFill>
                  <a:srgbClr val="1A1A2E"/>
                </a:solidFill>
                <a:latin typeface="Calibri"/>
              </a:rPr>
              <a:t>dermnet</a:t>
            </a:r>
          </a:p>
        </p:txBody>
      </p:sp>
      <p:sp>
        <p:nvSpPr>
          <p:cNvPr id="92" name="B92"/>
          <p:cNvSpPr txBox="1"/>
          <p:nvPr/>
        </p:nvSpPr>
        <p:spPr>
          <a:xfrm>
            <a:off x="3257200" y="4210000"/>
            <a:ext cx="1400000" cy="3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00" b="0" dirty="0">
                <a:solidFill>
                  <a:srgbClr val="374151"/>
                </a:solidFill>
                <a:latin typeface="Calibri"/>
              </a:rPr>
              <a:t>DermNet disease pages</a:t>
            </a:r>
          </a:p>
        </p:txBody>
      </p:sp>
      <p:sp>
        <p:nvSpPr>
          <p:cNvPr id="93" name="B93"/>
          <p:cNvSpPr txBox="1"/>
          <p:nvPr/>
        </p:nvSpPr>
        <p:spPr>
          <a:xfrm>
            <a:off x="457200" y="4510000"/>
            <a:ext cx="14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50" b="1" dirty="0">
                <a:solidFill>
                  <a:srgbClr val="2563EB"/>
                </a:solidFill>
                <a:latin typeface="Calibri"/>
              </a:rPr>
              <a:t>abcde</a:t>
            </a:r>
          </a:p>
        </p:txBody>
      </p:sp>
      <p:sp>
        <p:nvSpPr>
          <p:cNvPr id="94" name="B94"/>
          <p:cNvSpPr txBox="1"/>
          <p:nvPr/>
        </p:nvSpPr>
        <p:spPr>
          <a:xfrm>
            <a:off x="1857200" y="4510000"/>
            <a:ext cx="14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00" b="0" dirty="0">
                <a:solidFill>
                  <a:srgbClr val="1A1A2E"/>
                </a:solidFill>
                <a:latin typeface="Calibri"/>
              </a:rPr>
              <a:t>abcde_guidelines</a:t>
            </a:r>
          </a:p>
        </p:txBody>
      </p:sp>
      <p:sp>
        <p:nvSpPr>
          <p:cNvPr id="95" name="B95"/>
          <p:cNvSpPr txBox="1"/>
          <p:nvPr/>
        </p:nvSpPr>
        <p:spPr>
          <a:xfrm>
            <a:off x="3257200" y="4510000"/>
            <a:ext cx="14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00" b="0" dirty="0">
                <a:solidFill>
                  <a:srgbClr val="374151"/>
                </a:solidFill>
                <a:latin typeface="Calibri"/>
              </a:rPr>
              <a:t>AAD ABCDE + ABCD rule</a:t>
            </a:r>
          </a:p>
        </p:txBody>
      </p:sp>
      <p:sp>
        <p:nvSpPr>
          <p:cNvPr id="96" name="B96"/>
          <p:cNvSpPr txBox="1"/>
          <p:nvPr/>
        </p:nvSpPr>
        <p:spPr>
          <a:xfrm>
            <a:off x="457200" y="4810000"/>
            <a:ext cx="1400000" cy="3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50" b="1" dirty="0">
                <a:solidFill>
                  <a:srgbClr val="2563EB"/>
                </a:solidFill>
                <a:latin typeface="Calibri"/>
              </a:rPr>
              <a:t>risk</a:t>
            </a:r>
          </a:p>
        </p:txBody>
      </p:sp>
      <p:sp>
        <p:nvSpPr>
          <p:cNvPr id="97" name="B97"/>
          <p:cNvSpPr txBox="1"/>
          <p:nvPr/>
        </p:nvSpPr>
        <p:spPr>
          <a:xfrm>
            <a:off x="1857200" y="4810000"/>
            <a:ext cx="1400000" cy="3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00" b="0" dirty="0">
                <a:solidFill>
                  <a:srgbClr val="1A1A2E"/>
                </a:solidFill>
                <a:latin typeface="Calibri"/>
              </a:rPr>
              <a:t>aad_guidelines</a:t>
            </a:r>
          </a:p>
        </p:txBody>
      </p:sp>
      <p:sp>
        <p:nvSpPr>
          <p:cNvPr id="98" name="B98"/>
          <p:cNvSpPr txBox="1"/>
          <p:nvPr/>
        </p:nvSpPr>
        <p:spPr>
          <a:xfrm>
            <a:off x="3257200" y="4810000"/>
            <a:ext cx="1400000" cy="3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00" b="0" dirty="0">
                <a:solidFill>
                  <a:srgbClr val="374151"/>
                </a:solidFill>
                <a:latin typeface="Calibri"/>
              </a:rPr>
              <a:t>AAD risk + treatment guidelines</a:t>
            </a:r>
          </a:p>
        </p:txBody>
      </p:sp>
      <p:sp>
        <p:nvSpPr>
          <p:cNvPr id="99" name="B99"/>
          <p:cNvSpPr txBox="1"/>
          <p:nvPr/>
        </p:nvSpPr>
        <p:spPr>
          <a:xfrm>
            <a:off x="457200" y="5110000"/>
            <a:ext cx="14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50" b="1" dirty="0">
                <a:solidFill>
                  <a:srgbClr val="2563EB"/>
                </a:solidFill>
                <a:latin typeface="Calibri"/>
              </a:rPr>
              <a:t>treatment</a:t>
            </a:r>
          </a:p>
        </p:txBody>
      </p:sp>
      <p:sp>
        <p:nvSpPr>
          <p:cNvPr id="100" name="B100"/>
          <p:cNvSpPr txBox="1"/>
          <p:nvPr/>
        </p:nvSpPr>
        <p:spPr>
          <a:xfrm>
            <a:off x="1857200" y="5110000"/>
            <a:ext cx="14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00" b="0" dirty="0">
                <a:solidFill>
                  <a:srgbClr val="1A1A2E"/>
                </a:solidFill>
                <a:latin typeface="Calibri"/>
              </a:rPr>
              <a:t>aad_guidelines</a:t>
            </a:r>
          </a:p>
        </p:txBody>
      </p:sp>
      <p:sp>
        <p:nvSpPr>
          <p:cNvPr id="101" name="B101"/>
          <p:cNvSpPr txBox="1"/>
          <p:nvPr/>
        </p:nvSpPr>
        <p:spPr>
          <a:xfrm>
            <a:off x="3257200" y="5110000"/>
            <a:ext cx="14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00" b="0" dirty="0">
                <a:solidFill>
                  <a:srgbClr val="374151"/>
                </a:solidFill>
                <a:latin typeface="Calibri"/>
              </a:rPr>
              <a:t>AAD surgery + excision guidelines</a:t>
            </a:r>
          </a:p>
        </p:txBody>
      </p:sp>
      <p:sp>
        <p:nvSpPr>
          <p:cNvPr id="102" name="B102"/>
          <p:cNvSpPr txBox="1"/>
          <p:nvPr/>
        </p:nvSpPr>
        <p:spPr>
          <a:xfrm>
            <a:off x="457200" y="5410000"/>
            <a:ext cx="1400000" cy="3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50" b="1" dirty="0">
                <a:solidFill>
                  <a:srgbClr val="2563EB"/>
                </a:solidFill>
                <a:latin typeface="Calibri"/>
              </a:rPr>
              <a:t>general</a:t>
            </a:r>
          </a:p>
        </p:txBody>
      </p:sp>
      <p:sp>
        <p:nvSpPr>
          <p:cNvPr id="103" name="B103"/>
          <p:cNvSpPr txBox="1"/>
          <p:nvPr/>
        </p:nvSpPr>
        <p:spPr>
          <a:xfrm>
            <a:off x="1857200" y="5410000"/>
            <a:ext cx="1400000" cy="3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00" b="0" dirty="0">
                <a:solidFill>
                  <a:srgbClr val="1A1A2E"/>
                </a:solidFill>
                <a:latin typeface="Calibri"/>
              </a:rPr>
              <a:t>None (all sources)</a:t>
            </a:r>
          </a:p>
        </p:txBody>
      </p:sp>
      <p:sp>
        <p:nvSpPr>
          <p:cNvPr id="104" name="B104"/>
          <p:cNvSpPr txBox="1"/>
          <p:nvPr/>
        </p:nvSpPr>
        <p:spPr>
          <a:xfrm>
            <a:off x="3257200" y="5410000"/>
            <a:ext cx="1400000" cy="300000"/>
          </a:xfrm>
          <a:prstGeom prst="rect">
            <a:avLst/>
          </a:prstGeom>
          <a:solidFill>
            <a:srgbClr val="EBF3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000" b="0" dirty="0">
                <a:solidFill>
                  <a:srgbClr val="374151"/>
                </a:solidFill>
                <a:latin typeface="Calibri"/>
              </a:rPr>
              <a:t>Unfiltered cosine search</a:t>
            </a:r>
          </a:p>
        </p:txBody>
      </p:sp>
      <p:sp>
        <p:nvSpPr>
          <p:cNvPr id="110" name="B110"/>
          <p:cNvSpPr txBox="1"/>
          <p:nvPr/>
        </p:nvSpPr>
        <p:spPr>
          <a:xfrm>
            <a:off x="4885800" y="1000000"/>
            <a:ext cx="3801000" cy="26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350" b="1" dirty="0">
                <a:solidFill>
                  <a:srgbClr val="003366"/>
                </a:solidFill>
                <a:latin typeface="Calibri"/>
              </a:rPr>
              <a:t>Graphs — Insert after evaluation</a:t>
            </a:r>
          </a:p>
        </p:txBody>
      </p:sp>
      <p:sp>
        <p:nvSpPr>
          <p:cNvPr id="120" name="PH120"/>
          <p:cNvSpPr txBox="1"/>
          <p:nvPr/>
        </p:nvSpPr>
        <p:spPr>
          <a:xfrm>
            <a:off x="4885800" y="1300000"/>
            <a:ext cx="1850500" cy="1050000"/>
          </a:xfrm>
          <a:prstGeom prst="rect">
            <a:avLst/>
          </a:prstGeom>
          <a:solidFill>
            <a:srgbClr val="E8F4FD"/>
          </a:solidFill>
          <a:ln w="19050">
            <a:solidFill>
              <a:srgbClr val="2563EB"/>
            </a:solidFill>
            <a:prstDash val="dash"/>
          </a:ln>
        </p:spPr>
        <p:txBody>
          <a:bodyPr anchorCtr="0" anchor="ctr" lIns="91440" rIns="91440" tIns="91440" bIns="91440" wrap="square">
            <a:normAutofit/>
          </a:bodyPr>
          <a:lstStyle/>
          <a:p>
            <a:pPr algn="ctr"/>
            <a:r>
              <a:rPr lang="en-IN" sz="1100" b="0" dirty="0">
                <a:solidFill>
                  <a:srgbClr val="2563EB"/>
                </a:solidFill>
                <a:latin typeface="Calibri"/>
              </a:rPr>
              <a:t>[ Precision@K vs K curve ]</a:t>
            </a:r>
          </a:p>
        </p:txBody>
      </p:sp>
      <p:sp>
        <p:nvSpPr>
          <p:cNvPr id="121" name="PH121"/>
          <p:cNvSpPr txBox="1"/>
          <p:nvPr/>
        </p:nvSpPr>
        <p:spPr>
          <a:xfrm>
            <a:off x="6836300" y="1300000"/>
            <a:ext cx="1850500" cy="1050000"/>
          </a:xfrm>
          <a:prstGeom prst="rect">
            <a:avLst/>
          </a:prstGeom>
          <a:solidFill>
            <a:srgbClr val="E8F4FD"/>
          </a:solidFill>
          <a:ln w="19050">
            <a:solidFill>
              <a:srgbClr val="2563EB"/>
            </a:solidFill>
            <a:prstDash val="dash"/>
          </a:ln>
        </p:spPr>
        <p:txBody>
          <a:bodyPr anchorCtr="0" anchor="ctr" lIns="91440" rIns="91440" tIns="91440" bIns="91440" wrap="square">
            <a:normAutofit/>
          </a:bodyPr>
          <a:lstStyle/>
          <a:p>
            <a:pPr algn="ctr"/>
            <a:r>
              <a:rPr lang="en-IN" sz="1100" b="0" dirty="0">
                <a:solidFill>
                  <a:srgbClr val="2563EB"/>
                </a:solidFill>
                <a:latin typeface="Calibri"/>
              </a:rPr>
              <a:t>[ Recall@K vs K curve ]</a:t>
            </a:r>
          </a:p>
        </p:txBody>
      </p:sp>
      <p:sp>
        <p:nvSpPr>
          <p:cNvPr id="122" name="PH122"/>
          <p:cNvSpPr txBox="1"/>
          <p:nvPr/>
        </p:nvSpPr>
        <p:spPr>
          <a:xfrm>
            <a:off x="4885800" y="2450000"/>
            <a:ext cx="1850500" cy="1050000"/>
          </a:xfrm>
          <a:prstGeom prst="rect">
            <a:avLst/>
          </a:prstGeom>
          <a:solidFill>
            <a:srgbClr val="E8F4FD"/>
          </a:solidFill>
          <a:ln w="19050">
            <a:solidFill>
              <a:srgbClr val="2563EB"/>
            </a:solidFill>
            <a:prstDash val="dash"/>
          </a:ln>
        </p:spPr>
        <p:txBody>
          <a:bodyPr anchorCtr="0" anchor="ctr" lIns="91440" rIns="91440" tIns="91440" bIns="91440" wrap="square">
            <a:normAutofit/>
          </a:bodyPr>
          <a:lstStyle/>
          <a:p>
            <a:pPr algn="ctr"/>
            <a:r>
              <a:rPr lang="en-IN" sz="1100" b="0" dirty="0">
                <a:solidFill>
                  <a:srgbClr val="2563EB"/>
                </a:solidFill>
                <a:latin typeface="Calibri"/>
              </a:rPr>
              <a:t>[ Answer Faithfulness per Q-type ]</a:t>
            </a:r>
          </a:p>
        </p:txBody>
      </p:sp>
      <p:sp>
        <p:nvSpPr>
          <p:cNvPr id="123" name="PH123"/>
          <p:cNvSpPr txBox="1"/>
          <p:nvPr/>
        </p:nvSpPr>
        <p:spPr>
          <a:xfrm>
            <a:off x="6836300" y="2450000"/>
            <a:ext cx="1850500" cy="1050000"/>
          </a:xfrm>
          <a:prstGeom prst="rect">
            <a:avLst/>
          </a:prstGeom>
          <a:solidFill>
            <a:srgbClr val="E8F4FD"/>
          </a:solidFill>
          <a:ln w="19050">
            <a:solidFill>
              <a:srgbClr val="2563EB"/>
            </a:solidFill>
            <a:prstDash val="dash"/>
          </a:ln>
        </p:spPr>
        <p:txBody>
          <a:bodyPr anchorCtr="0" anchor="ctr" lIns="91440" rIns="91440" tIns="91440" bIns="91440" wrap="square">
            <a:normAutofit/>
          </a:bodyPr>
          <a:lstStyle/>
          <a:p>
            <a:pPr algn="ctr"/>
            <a:r>
              <a:rPr lang="en-IN" sz="1100" b="0" dirty="0">
                <a:solidFill>
                  <a:srgbClr val="2563EB"/>
                </a:solidFill>
                <a:latin typeface="Calibri"/>
              </a:rPr>
              <a:t>[ Hit Rate per source filter ]</a:t>
            </a:r>
          </a:p>
        </p:txBody>
      </p:sp>
      <p:sp>
        <p:nvSpPr>
          <p:cNvPr id="130" name="B130"/>
          <p:cNvSpPr txBox="1"/>
          <p:nvPr/>
        </p:nvSpPr>
        <p:spPr>
          <a:xfrm>
            <a:off x="4885800" y="3600000"/>
            <a:ext cx="3801000" cy="2600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200" b="1" dirty="0">
                <a:solidFill>
                  <a:srgbClr val="166534"/>
                </a:solidFill>
                <a:latin typeface="Calibri"/>
              </a:rPr>
              <a:t>Sample RAG-grounded answer snippet</a:t>
            </a:r>
          </a:p>
        </p:txBody>
      </p:sp>
      <p:sp>
        <p:nvSpPr>
          <p:cNvPr id="131" name="B131"/>
          <p:cNvSpPr txBox="1"/>
          <p:nvPr/>
        </p:nvSpPr>
        <p:spPr>
          <a:xfrm>
            <a:off x="4885800" y="3860000"/>
            <a:ext cx="380100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anchorCtr="0" anchor="t" lIns="91440" rIns="91440" tIns="91440" bIns="91440" wrap="square">
            <a:normAutofit/>
          </a:bodyPr>
          <a:lstStyle/>
          <a:p>
            <a:pPr indent="0" marL="0">
              <a:spcBef>
                <a:spcPts val="80"/>
              </a:spcBef>
            </a:pPr>
            <a:r>
              <a:rPr lang="en-IN" sz="1100" b="1" dirty="0">
                <a:solidFill>
                  <a:srgbClr val="1A1A2E"/>
                </a:solidFill>
                <a:latin typeface="Calibri"/>
              </a:rPr>
              <a:t>Q: What treatment is recommended for high-risk melanoma?</a:t>
            </a:r>
          </a:p>
          <a:p>
            <a:pPr indent="0" marL="0">
              <a:spcBef>
                <a:spcPts val="80"/>
              </a:spcBef>
            </a:pPr>
            <a:r>
              <a:rPr lang="en-IN" sz="900" b="0" dirty="0">
                <a:solidFill>
                  <a:srgbClr val="1A1A2E"/>
                </a:solidFill>
                <a:latin typeface="Calibri"/>
              </a:rPr>
              <a:t/>
            </a:r>
          </a:p>
          <a:p>
            <a:pPr indent="0" marL="0">
              <a:spcBef>
                <a:spcPts val="80"/>
              </a:spcBef>
            </a:pPr>
            <a:r>
              <a:rPr lang="en-IN" sz="1000" b="0" dirty="0">
                <a:solidFill>
                  <a:srgbClr val="2563EB"/>
                </a:solidFill>
                <a:latin typeface="Calibri"/>
              </a:rPr>
              <a:t>[Retrieved: aad_guidelines | score=0.87]</a:t>
            </a:r>
          </a:p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Wide local excision with 1-2cm margins is recommended for</a:t>
            </a:r>
          </a:p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melanoma &gt;1mm Breslow depth. Sentinel lymph node biopsy</a:t>
            </a:r>
          </a:p>
          <a:p>
            <a:pPr indent="0" marL="0">
              <a:spcBef>
                <a:spcPts val="80"/>
              </a:spcBef>
            </a:pPr>
            <a:r>
              <a:rPr lang="en-IN" sz="1100" b="0" dirty="0">
                <a:solidFill>
                  <a:srgbClr val="1A1A2E"/>
                </a:solidFill>
                <a:latin typeface="Calibri"/>
              </a:rPr>
              <a:t>is indicated. Adjuvant immunotherapy for Stage III/IV.</a:t>
            </a:r>
          </a:p>
          <a:p>
            <a:pPr indent="0" marL="0">
              <a:spcBef>
                <a:spcPts val="80"/>
              </a:spcBef>
            </a:pPr>
            <a:r>
              <a:rPr lang="en-IN" sz="900" b="0" dirty="0">
                <a:solidFill>
                  <a:srgbClr val="1A1A2E"/>
                </a:solidFill>
                <a:latin typeface="Calibri"/>
              </a:rPr>
              <a:t/>
            </a:r>
          </a:p>
          <a:p>
            <a:pPr indent="0" marL="0">
              <a:spcBef>
                <a:spcPts val="80"/>
              </a:spcBef>
            </a:pPr>
            <a:r>
              <a:rPr lang="en-IN" sz="1050" b="0" dirty="0">
                <a:solidFill>
                  <a:srgbClr val="9A3412"/>
                </a:solidFill>
                <a:latin typeface="Calibri"/>
              </a:rPr>
              <a:t>Rules engine: MEL | risk=HIGH | A=0.87 -&gt; Refer to dermatologist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