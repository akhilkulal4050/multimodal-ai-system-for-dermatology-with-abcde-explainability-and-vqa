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6858000" cx="9144000"/>
  <p:notesSz cx="6858000" cy="9144000"/>
  <p:embeddedFontLst>
    <p:embeddedFont>
      <p:font typeface="Roboto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CB4CCE3-8C7E-4868-A028-0D70661C6606}">
  <a:tblStyle styleId="{2CB4CCE3-8C7E-4868-A028-0D70661C6606}" styleName="Table_0">
    <a:wholeTbl>
      <a:tcTxStyle b="off" i="off">
        <a:font>
          <a:latin typeface="Trebuchet MS"/>
          <a:ea typeface="Trebuchet MS"/>
          <a:cs typeface="Trebuchet M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EF4E7"/>
          </a:solidFill>
        </a:fill>
      </a:tcStyle>
    </a:wholeTbl>
    <a:band1H>
      <a:tcTxStyle/>
      <a:tcStyle>
        <a:fill>
          <a:solidFill>
            <a:srgbClr val="DBE9CB"/>
          </a:solidFill>
        </a:fill>
      </a:tcStyle>
    </a:band1H>
    <a:band2H>
      <a:tcTxStyle/>
    </a:band2H>
    <a:band1V>
      <a:tcTxStyle/>
      <a:tcStyle>
        <a:fill>
          <a:solidFill>
            <a:srgbClr val="DBE9CB"/>
          </a:solidFill>
        </a:fill>
      </a:tcStyle>
    </a:band1V>
    <a:band2V>
      <a:tcTxStyle/>
    </a:band2V>
    <a:lastCol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B584804D-C5FD-4781-B5ED-083A65130E3D}" styleName="Table_1">
    <a:wholeTbl>
      <a:tcTxStyle b="off" i="off">
        <a:font>
          <a:latin typeface="Trebuchet MS"/>
          <a:ea typeface="Trebuchet MS"/>
          <a:cs typeface="Trebuchet M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F0E7"/>
          </a:solidFill>
        </a:fill>
      </a:tcStyle>
    </a:wholeTbl>
    <a:band1H>
      <a:tcTxStyle/>
      <a:tcStyle>
        <a:fill>
          <a:solidFill>
            <a:srgbClr val="CFDFCB"/>
          </a:solidFill>
        </a:fill>
      </a:tcStyle>
    </a:band1H>
    <a:band2H>
      <a:tcTxStyle/>
    </a:band2H>
    <a:band1V>
      <a:tcTxStyle/>
      <a:tcStyle>
        <a:fill>
          <a:solidFill>
            <a:srgbClr val="CFDFCB"/>
          </a:solidFill>
        </a:fill>
      </a:tcStyle>
    </a:band1V>
    <a:band2V>
      <a:tcTxStyle/>
    </a:band2V>
    <a:lastCol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fill>
          <a:solidFill>
            <a:schemeClr val="accent2"/>
          </a:solidFill>
        </a:fill>
      </a:tcStyle>
    </a:lastCol>
    <a:firstCol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fill>
          <a:solidFill>
            <a:schemeClr val="accent2"/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2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2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font" Target="fonts/Roboto-regular.fntdata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font" Target="fonts/Roboto-italic.fntdata"/><Relationship Id="rId21" Type="http://schemas.openxmlformats.org/officeDocument/2006/relationships/slide" Target="slides/slide15.xml"/><Relationship Id="rId43" Type="http://schemas.openxmlformats.org/officeDocument/2006/relationships/font" Target="fonts/Roboto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848ff84766_0_8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848ff84766_0_8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876f2a524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876f2a524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a07fdb89a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a07fdb89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2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24" name="Google Shape;24;p2"/>
            <p:cNvCxnSpPr/>
            <p:nvPr/>
          </p:nvCxnSpPr>
          <p:spPr>
            <a:xfrm flipH="1" rot="10800000">
              <a:off x="5130830" y="4175605"/>
              <a:ext cx="4022475" cy="2682396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" name="Google Shape;25;p2"/>
            <p:cNvCxnSpPr/>
            <p:nvPr/>
          </p:nvCxnSpPr>
          <p:spPr>
            <a:xfrm>
              <a:off x="7042707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" name="Google Shape;26;p2"/>
            <p:cNvSpPr/>
            <p:nvPr/>
          </p:nvSpPr>
          <p:spPr>
            <a:xfrm>
              <a:off x="6891896" y="1"/>
              <a:ext cx="2269442" cy="6866466"/>
            </a:xfrm>
            <a:custGeom>
              <a:rect b="b" l="l" r="r" t="t"/>
              <a:pathLst>
                <a:path extrusionOk="0" h="6866466" w="2269442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7205158" y="-8467"/>
              <a:ext cx="1948147" cy="6866467"/>
            </a:xfrm>
            <a:custGeom>
              <a:rect b="b" l="l" r="r" t="t"/>
              <a:pathLst>
                <a:path extrusionOk="0" h="6866467" w="194814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637896" y="3920066"/>
              <a:ext cx="2513565" cy="2937933"/>
            </a:xfrm>
            <a:custGeom>
              <a:rect b="b" l="l" r="r" t="t"/>
              <a:pathLst>
                <a:path extrusionOk="0" h="3810000" w="3259667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7010429" y="-8467"/>
              <a:ext cx="2142876" cy="6866467"/>
            </a:xfrm>
            <a:custGeom>
              <a:rect b="b" l="l" r="r" t="t"/>
              <a:pathLst>
                <a:path extrusionOk="0" h="6866467" w="28532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3"/>
              </a:srgbClr>
            </a:solidFill>
            <a:ln>
              <a:noFill/>
            </a:ln>
          </p:spPr>
        </p:sp>
        <p:sp>
          <p:nvSpPr>
            <p:cNvPr id="30" name="Google Shape;30;p2"/>
            <p:cNvSpPr/>
            <p:nvPr/>
          </p:nvSpPr>
          <p:spPr>
            <a:xfrm>
              <a:off x="8295776" y="-8467"/>
              <a:ext cx="857530" cy="6866467"/>
            </a:xfrm>
            <a:custGeom>
              <a:rect b="b" l="l" r="r" t="t"/>
              <a:pathLst>
                <a:path extrusionOk="0" h="6866467" w="1286933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rgbClr val="BFE471">
                <a:alpha val="6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077231" y="-8468"/>
              <a:ext cx="1066770" cy="6866467"/>
            </a:xfrm>
            <a:custGeom>
              <a:rect b="b" l="l" r="r" t="t"/>
              <a:pathLst>
                <a:path extrusionOk="0" h="6866467" w="1270244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060297" y="4893733"/>
              <a:ext cx="1094086" cy="1964267"/>
            </a:xfrm>
            <a:custGeom>
              <a:rect b="b" l="l" r="r" t="t"/>
              <a:pathLst>
                <a:path extrusionOk="0" h="3268133" w="18203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-8466" y="-8468"/>
              <a:ext cx="863600" cy="5698067"/>
            </a:xfrm>
            <a:custGeom>
              <a:rect b="b" l="l" r="r" t="t"/>
              <a:pathLst>
                <a:path extrusionOk="0" h="5698067" w="863600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4705"/>
              </a:schemeClr>
            </a:solidFill>
            <a:ln>
              <a:noFill/>
            </a:ln>
          </p:spPr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130595" y="2404534"/>
            <a:ext cx="5826719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130595" y="4050834"/>
            <a:ext cx="5826719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42" name="Google Shape;42;p3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 txBox="1"/>
          <p:nvPr>
            <p:ph type="title"/>
          </p:nvPr>
        </p:nvSpPr>
        <p:spPr>
          <a:xfrm>
            <a:off x="609598" y="2700868"/>
            <a:ext cx="6347715" cy="1826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" type="body"/>
          </p:nvPr>
        </p:nvSpPr>
        <p:spPr>
          <a:xfrm>
            <a:off x="609598" y="4527448"/>
            <a:ext cx="6347715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 txBox="1"/>
          <p:nvPr>
            <p:ph type="title"/>
          </p:nvPr>
        </p:nvSpPr>
        <p:spPr>
          <a:xfrm>
            <a:off x="609600" y="609600"/>
            <a:ext cx="6347714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609600" y="2160589"/>
            <a:ext cx="3088109" cy="3880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3869204" y="2160590"/>
            <a:ext cx="3088110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55" name="Google Shape;55;p5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"/>
          <p:cNvSpPr txBox="1"/>
          <p:nvPr>
            <p:ph idx="1" type="body"/>
          </p:nvPr>
        </p:nvSpPr>
        <p:spPr>
          <a:xfrm>
            <a:off x="609599" y="2160983"/>
            <a:ext cx="309067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61" name="Google Shape;61;p6"/>
          <p:cNvSpPr txBox="1"/>
          <p:nvPr>
            <p:ph idx="2" type="body"/>
          </p:nvPr>
        </p:nvSpPr>
        <p:spPr>
          <a:xfrm>
            <a:off x="609599" y="2737246"/>
            <a:ext cx="3090672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2" name="Google Shape;62;p6"/>
          <p:cNvSpPr txBox="1"/>
          <p:nvPr>
            <p:ph idx="3" type="body"/>
          </p:nvPr>
        </p:nvSpPr>
        <p:spPr>
          <a:xfrm>
            <a:off x="3866640" y="2160983"/>
            <a:ext cx="309067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63" name="Google Shape;63;p6"/>
          <p:cNvSpPr txBox="1"/>
          <p:nvPr>
            <p:ph idx="4" type="body"/>
          </p:nvPr>
        </p:nvSpPr>
        <p:spPr>
          <a:xfrm>
            <a:off x="3866640" y="2737246"/>
            <a:ext cx="3090672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4" name="Google Shape;64;p6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6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"/>
          <p:cNvSpPr txBox="1"/>
          <p:nvPr>
            <p:ph type="title"/>
          </p:nvPr>
        </p:nvSpPr>
        <p:spPr>
          <a:xfrm>
            <a:off x="609599" y="609600"/>
            <a:ext cx="6347714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7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8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8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 txBox="1"/>
          <p:nvPr>
            <p:ph type="title"/>
          </p:nvPr>
        </p:nvSpPr>
        <p:spPr>
          <a:xfrm>
            <a:off x="609599" y="1498604"/>
            <a:ext cx="2790182" cy="12784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"/>
          <p:cNvSpPr txBox="1"/>
          <p:nvPr>
            <p:ph idx="1" type="body"/>
          </p:nvPr>
        </p:nvSpPr>
        <p:spPr>
          <a:xfrm>
            <a:off x="3571275" y="514925"/>
            <a:ext cx="3386037" cy="5526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9" name="Google Shape;79;p9"/>
          <p:cNvSpPr txBox="1"/>
          <p:nvPr>
            <p:ph idx="2" type="body"/>
          </p:nvPr>
        </p:nvSpPr>
        <p:spPr>
          <a:xfrm>
            <a:off x="609599" y="2777069"/>
            <a:ext cx="2790182" cy="2584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840"/>
              <a:buNone/>
              <a:defRPr sz="105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9pPr>
          </a:lstStyle>
          <a:p/>
        </p:txBody>
      </p:sp>
      <p:sp>
        <p:nvSpPr>
          <p:cNvPr id="80" name="Google Shape;80;p9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9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 txBox="1"/>
          <p:nvPr>
            <p:ph type="title"/>
          </p:nvPr>
        </p:nvSpPr>
        <p:spPr>
          <a:xfrm>
            <a:off x="609599" y="4800600"/>
            <a:ext cx="6347714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/>
          <p:nvPr>
            <p:ph idx="2" type="pic"/>
          </p:nvPr>
        </p:nvSpPr>
        <p:spPr>
          <a:xfrm>
            <a:off x="609599" y="609600"/>
            <a:ext cx="6347714" cy="3845718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0"/>
          <p:cNvSpPr txBox="1"/>
          <p:nvPr>
            <p:ph idx="1" type="body"/>
          </p:nvPr>
        </p:nvSpPr>
        <p:spPr>
          <a:xfrm>
            <a:off x="609599" y="5367338"/>
            <a:ext cx="6347714" cy="674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7" name="Google Shape;87;p10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0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0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 txBox="1"/>
          <p:nvPr>
            <p:ph type="title"/>
          </p:nvPr>
        </p:nvSpPr>
        <p:spPr>
          <a:xfrm>
            <a:off x="609600" y="609600"/>
            <a:ext cx="6347714" cy="34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" type="body"/>
          </p:nvPr>
        </p:nvSpPr>
        <p:spPr>
          <a:xfrm>
            <a:off x="609600" y="4470400"/>
            <a:ext cx="6347714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11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1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/>
          <p:nvPr>
            <p:ph type="title"/>
          </p:nvPr>
        </p:nvSpPr>
        <p:spPr>
          <a:xfrm>
            <a:off x="774885" y="609600"/>
            <a:ext cx="6072182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1" type="body"/>
          </p:nvPr>
        </p:nvSpPr>
        <p:spPr>
          <a:xfrm>
            <a:off x="1101074" y="3632200"/>
            <a:ext cx="54198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2" type="body"/>
          </p:nvPr>
        </p:nvSpPr>
        <p:spPr>
          <a:xfrm>
            <a:off x="609598" y="4470400"/>
            <a:ext cx="6347715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0" name="Google Shape;100;p12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2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2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3" name="Google Shape;103;p12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8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04" name="Google Shape;104;p12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8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/>
          <p:nvPr>
            <p:ph type="title"/>
          </p:nvPr>
        </p:nvSpPr>
        <p:spPr>
          <a:xfrm>
            <a:off x="609598" y="1931988"/>
            <a:ext cx="6347715" cy="25954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3"/>
          <p:cNvSpPr txBox="1"/>
          <p:nvPr>
            <p:ph idx="1" type="body"/>
          </p:nvPr>
        </p:nvSpPr>
        <p:spPr>
          <a:xfrm>
            <a:off x="609598" y="4527448"/>
            <a:ext cx="6347715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8" name="Google Shape;108;p13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type="title"/>
          </p:nvPr>
        </p:nvSpPr>
        <p:spPr>
          <a:xfrm>
            <a:off x="774885" y="609600"/>
            <a:ext cx="6072182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09597" y="4013200"/>
            <a:ext cx="6347716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idx="2" type="body"/>
          </p:nvPr>
        </p:nvSpPr>
        <p:spPr>
          <a:xfrm>
            <a:off x="609598" y="4527448"/>
            <a:ext cx="6347715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p14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4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4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8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8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 txBox="1"/>
          <p:nvPr>
            <p:ph type="title"/>
          </p:nvPr>
        </p:nvSpPr>
        <p:spPr>
          <a:xfrm>
            <a:off x="615848" y="609600"/>
            <a:ext cx="6341465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5"/>
          <p:cNvSpPr txBox="1"/>
          <p:nvPr>
            <p:ph idx="1" type="body"/>
          </p:nvPr>
        </p:nvSpPr>
        <p:spPr>
          <a:xfrm>
            <a:off x="609597" y="4013200"/>
            <a:ext cx="6347716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3" name="Google Shape;123;p15"/>
          <p:cNvSpPr txBox="1"/>
          <p:nvPr>
            <p:ph idx="2" type="body"/>
          </p:nvPr>
        </p:nvSpPr>
        <p:spPr>
          <a:xfrm>
            <a:off x="609598" y="4527448"/>
            <a:ext cx="6347715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15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5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5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6"/>
          <p:cNvSpPr txBox="1"/>
          <p:nvPr>
            <p:ph idx="1" type="body"/>
          </p:nvPr>
        </p:nvSpPr>
        <p:spPr>
          <a:xfrm rot="5400000">
            <a:off x="1843070" y="927120"/>
            <a:ext cx="3880773" cy="6347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0" name="Google Shape;130;p16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6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6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>
            <p:ph type="title"/>
          </p:nvPr>
        </p:nvSpPr>
        <p:spPr>
          <a:xfrm rot="5400000">
            <a:off x="3840993" y="2745920"/>
            <a:ext cx="5251451" cy="978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7"/>
          <p:cNvSpPr txBox="1"/>
          <p:nvPr>
            <p:ph idx="1" type="body"/>
          </p:nvPr>
        </p:nvSpPr>
        <p:spPr>
          <a:xfrm rot="5400000">
            <a:off x="581386" y="637813"/>
            <a:ext cx="5251451" cy="51950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6" name="Google Shape;136;p17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7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7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Google Shape;7;p1"/>
            <p:cNvSpPr/>
            <p:nvPr/>
          </p:nvSpPr>
          <p:spPr>
            <a:xfrm>
              <a:off x="-8467" y="4013200"/>
              <a:ext cx="457200" cy="2853267"/>
            </a:xfrm>
            <a:custGeom>
              <a:rect b="b" l="l" r="r" t="t"/>
              <a:pathLst>
                <a:path extrusionOk="0" h="2853267" w="457200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" name="Google Shape;8;p1"/>
            <p:cNvCxnSpPr/>
            <p:nvPr/>
          </p:nvCxnSpPr>
          <p:spPr>
            <a:xfrm flipH="1" rot="10800000">
              <a:off x="5130830" y="4175605"/>
              <a:ext cx="4022475" cy="2682396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" name="Google Shape;9;p1"/>
            <p:cNvCxnSpPr/>
            <p:nvPr/>
          </p:nvCxnSpPr>
          <p:spPr>
            <a:xfrm>
              <a:off x="7042707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" name="Google Shape;10;p1"/>
            <p:cNvSpPr/>
            <p:nvPr/>
          </p:nvSpPr>
          <p:spPr>
            <a:xfrm>
              <a:off x="6891896" y="1"/>
              <a:ext cx="2269442" cy="6866466"/>
            </a:xfrm>
            <a:custGeom>
              <a:rect b="b" l="l" r="r" t="t"/>
              <a:pathLst>
                <a:path extrusionOk="0" h="6866466" w="2269442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1"/>
            <p:cNvSpPr/>
            <p:nvPr/>
          </p:nvSpPr>
          <p:spPr>
            <a:xfrm>
              <a:off x="7205158" y="-8467"/>
              <a:ext cx="1948147" cy="6866467"/>
            </a:xfrm>
            <a:custGeom>
              <a:rect b="b" l="l" r="r" t="t"/>
              <a:pathLst>
                <a:path extrusionOk="0" h="6866467" w="194814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6637896" y="3920066"/>
              <a:ext cx="2513565" cy="2937933"/>
            </a:xfrm>
            <a:custGeom>
              <a:rect b="b" l="l" r="r" t="t"/>
              <a:pathLst>
                <a:path extrusionOk="0" h="3810000" w="3259667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7010429" y="-8467"/>
              <a:ext cx="2142876" cy="6866467"/>
            </a:xfrm>
            <a:custGeom>
              <a:rect b="b" l="l" r="r" t="t"/>
              <a:pathLst>
                <a:path extrusionOk="0" h="6866467" w="28532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3"/>
              </a:srgbClr>
            </a:solidFill>
            <a:ln>
              <a:noFill/>
            </a:ln>
          </p:spPr>
        </p:sp>
        <p:sp>
          <p:nvSpPr>
            <p:cNvPr id="14" name="Google Shape;14;p1"/>
            <p:cNvSpPr/>
            <p:nvPr/>
          </p:nvSpPr>
          <p:spPr>
            <a:xfrm>
              <a:off x="8295776" y="-8467"/>
              <a:ext cx="857530" cy="6866467"/>
            </a:xfrm>
            <a:custGeom>
              <a:rect b="b" l="l" r="r" t="t"/>
              <a:pathLst>
                <a:path extrusionOk="0" h="6866467" w="1286933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rgbClr val="BFE471">
                <a:alpha val="6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8077231" y="-8468"/>
              <a:ext cx="1066770" cy="6866467"/>
            </a:xfrm>
            <a:custGeom>
              <a:rect b="b" l="l" r="r" t="t"/>
              <a:pathLst>
                <a:path extrusionOk="0" h="6866467" w="1270244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8060297" y="4893733"/>
              <a:ext cx="1094086" cy="1964267"/>
            </a:xfrm>
            <a:custGeom>
              <a:rect b="b" l="l" r="r" t="t"/>
              <a:pathLst>
                <a:path extrusionOk="0" h="3268133" w="18203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" name="Google Shape;17;p1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" name="Google Shape;18;p1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9719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59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59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9" name="Google Shape;19;p1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0" name="Google Shape;20;p1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1" name="Google Shape;21;p1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ncbi.nlm.nih.gov/pmc/articles/PMC11920274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ocs.opencv.org/4.x/d3/dc0/group__imgproc__shape.html#ga8ea7a3017b288220c3bb7c6c71496488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arxiv.org/abs/2301.10077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academic.oup.com/bioinformatics/article/36/4/1234/5566506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www.frontiersin.org/articles/10.3389/frai.2025.1608837/full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powerdrill.ai/discover/discover-R-LLaVA-Improving-Med-VQA-cm2uxqs320whv016kwr2clma0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www.ncbi.nlm.nih.gov/pmc/articles/PMC11920274/" TargetMode="External"/><Relationship Id="rId4" Type="http://schemas.openxmlformats.org/officeDocument/2006/relationships/hyperlink" Target="https://arxiv.org/abs/2301.10077" TargetMode="External"/><Relationship Id="rId9" Type="http://schemas.openxmlformats.org/officeDocument/2006/relationships/hyperlink" Target="https://arxiv.org/abs/2307.12365" TargetMode="External"/><Relationship Id="rId5" Type="http://schemas.openxmlformats.org/officeDocument/2006/relationships/hyperlink" Target="https://powerdrill.ai/discover/discover-R-LLaVA-Improving-Med-VQA-cm2uxqs320whv016kwr2clma0" TargetMode="External"/><Relationship Id="rId6" Type="http://schemas.openxmlformats.org/officeDocument/2006/relationships/hyperlink" Target="https://academic.oup.com/bioinformatics/article/36/4/1234/5566506" TargetMode="External"/><Relationship Id="rId7" Type="http://schemas.openxmlformats.org/officeDocument/2006/relationships/hyperlink" Target="https://arxiv.org/html/2508.21793v1" TargetMode="External"/><Relationship Id="rId8" Type="http://schemas.openxmlformats.org/officeDocument/2006/relationships/hyperlink" Target="https://arxiv.org/abs/2204.08484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arxiv.org/abs/2103.11539" TargetMode="External"/><Relationship Id="rId4" Type="http://schemas.openxmlformats.org/officeDocument/2006/relationships/hyperlink" Target="https://www.esann.org/sites/default/files/proceedings/2025/ES2025-106.pdf" TargetMode="External"/><Relationship Id="rId5" Type="http://schemas.openxmlformats.org/officeDocument/2006/relationships/hyperlink" Target="https://pmc.ncbi.nlm.nih.gov/pmc/articles/PMC12048531/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/>
          <p:nvPr>
            <p:ph type="ctrTitle"/>
          </p:nvPr>
        </p:nvSpPr>
        <p:spPr>
          <a:xfrm>
            <a:off x="1130595" y="2404534"/>
            <a:ext cx="5826719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Trebuchet MS"/>
              <a:buNone/>
            </a:pPr>
            <a:r>
              <a:rPr lang="en-IN" sz="4400">
                <a:solidFill>
                  <a:srgbClr val="002060"/>
                </a:solidFill>
              </a:rPr>
              <a:t>Multimodal AI System for Dermatology</a:t>
            </a:r>
            <a:endParaRPr sz="44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400"/>
              <a:buFont typeface="Trebuchet MS"/>
              <a:buNone/>
            </a:pPr>
            <a:r>
              <a:rPr lang="en-IN" sz="4400">
                <a:solidFill>
                  <a:srgbClr val="002060"/>
                </a:solidFill>
              </a:rPr>
              <a:t>with ABCDE Explainability and VQA</a:t>
            </a:r>
            <a:endParaRPr sz="4400"/>
          </a:p>
        </p:txBody>
      </p:sp>
      <p:sp>
        <p:nvSpPr>
          <p:cNvPr id="144" name="Google Shape;144;p18"/>
          <p:cNvSpPr txBox="1"/>
          <p:nvPr>
            <p:ph idx="1" type="subTitle"/>
          </p:nvPr>
        </p:nvSpPr>
        <p:spPr>
          <a:xfrm>
            <a:off x="1130595" y="4050834"/>
            <a:ext cx="5826719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106666"/>
              <a:buNone/>
            </a:pPr>
            <a:r>
              <a:rPr lang="en-IN"/>
              <a:t>-By Akhil Kulal (242240005)</a:t>
            </a:r>
            <a:endParaRPr/>
          </a:p>
          <a:p>
            <a:pPr indent="0" lvl="0" marL="0" rtl="0" algn="r">
              <a:spcBef>
                <a:spcPts val="1000"/>
              </a:spcBef>
              <a:spcAft>
                <a:spcPts val="0"/>
              </a:spcAft>
              <a:buSzPct val="106666"/>
              <a:buNone/>
            </a:pPr>
            <a:r>
              <a:rPr lang="en-IN"/>
              <a:t>Under the guidance of Prof. Manasi Kulkarni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Introduction &amp; Motivation</a:t>
            </a:r>
            <a:endParaRPr/>
          </a:p>
        </p:txBody>
      </p:sp>
      <p:sp>
        <p:nvSpPr>
          <p:cNvPr id="150" name="Google Shape;150;p19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59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/>
              <a:t>Skin cancer is a major global health concern.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/>
              <a:t>Diagnosis uses the ABCDE rule (Asymmetry, Border, Color, Diameter, Evolution).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/>
              <a:t>Existing AI: mostly image-only classification.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/>
              <a:t>Need for multimodal, explainable, interactive systems.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>
            <p:ph type="title"/>
          </p:nvPr>
        </p:nvSpPr>
        <p:spPr>
          <a:xfrm>
            <a:off x="609599" y="156237"/>
            <a:ext cx="6347713" cy="833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Problem Statement</a:t>
            </a:r>
            <a:endParaRPr/>
          </a:p>
        </p:txBody>
      </p:sp>
      <p:sp>
        <p:nvSpPr>
          <p:cNvPr id="156" name="Google Shape;156;p20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59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/>
              <a:t>Manual diagnosis is subjective and error-prone.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/>
              <a:t>Current AI systems are image-only, ignoring medical history.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/>
              <a:t>ABCDE diagnostic criteria are not fully automated.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/>
              <a:t>No interactive, explainable AI exists for dermatology.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"/>
          <p:cNvSpPr txBox="1"/>
          <p:nvPr>
            <p:ph type="title"/>
          </p:nvPr>
        </p:nvSpPr>
        <p:spPr>
          <a:xfrm>
            <a:off x="578679" y="0"/>
            <a:ext cx="6347713" cy="816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Literature Survey</a:t>
            </a:r>
            <a:endParaRPr/>
          </a:p>
        </p:txBody>
      </p:sp>
      <p:sp>
        <p:nvSpPr>
          <p:cNvPr id="162" name="Google Shape;162;p21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59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graphicFrame>
        <p:nvGraphicFramePr>
          <p:cNvPr id="163" name="Google Shape;163;p21"/>
          <p:cNvGraphicFramePr/>
          <p:nvPr/>
        </p:nvGraphicFramePr>
        <p:xfrm>
          <a:off x="234843" y="8166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{2CB4CCE3-8C7E-4868-A028-0D70661C6606}</a:tableStyleId>
              </a:tblPr>
              <a:tblGrid>
                <a:gridCol w="1234825"/>
                <a:gridCol w="1212125"/>
                <a:gridCol w="1468750"/>
                <a:gridCol w="1232525"/>
                <a:gridCol w="1194200"/>
                <a:gridCol w="1547300"/>
                <a:gridCol w="244025"/>
              </a:tblGrid>
              <a:tr h="682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Author &amp; Year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Title of Paper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Model Used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Dataset Used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Insights gained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Limitations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  <a:tr h="1109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/>
                        <a:t>Siyuan Yan , 2025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A multimodal vision foundation model for clinical dermatology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/>
                        <a:t>ARCUNet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/>
                        <a:t>ISIC 2016,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/>
                        <a:t>ISIC 2017,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/>
                        <a:t>ISIC 2018,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/>
                        <a:t>PH2 Dataset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Best-in-class skin lesion segmentation (SLS stage)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/>
                        <a:t>Limited interpretability in clinical field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Kuang et al., 2025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R-LLaVA: Improving Med-VQA with Visual Regions of Interest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/>
                        <a:t>R-LLaVa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/>
                        <a:t>Medical VQA Datasets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Advanced multimodal VQA with RLHF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High computational cost, language fidelity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  <a:tr h="39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Borisma et al., 2023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EfficientFormerV2: Optimized Transformer for Classification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/>
                        <a:t>EfficientFormerV2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HAM10000, ISIC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Efficient, accurate hierarchical lesion classification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Handling class imbalance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  <a:tr h="39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Lee et al., 2020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BioBERT: Pretrained Biomedical Language Representation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BioBERT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PubMed, PMC, MIMIC-III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Core biomedical NLP for report extraction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Limited entity diversity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  <a:tr h="39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Zhang et al., 2022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BioGPT: Generative Pretrained Transformer for Biomedicine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PubMed abstracts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BioGPT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Clinical report summarization &amp; generation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Need diverse fine-tuning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Literature Survey</a:t>
            </a:r>
            <a:endParaRPr/>
          </a:p>
        </p:txBody>
      </p:sp>
      <p:sp>
        <p:nvSpPr>
          <p:cNvPr id="169" name="Google Shape;169;p22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59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graphicFrame>
        <p:nvGraphicFramePr>
          <p:cNvPr id="170" name="Google Shape;170;p22"/>
          <p:cNvGraphicFramePr/>
          <p:nvPr/>
        </p:nvGraphicFramePr>
        <p:xfrm>
          <a:off x="294807" y="12720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{2CB4CCE3-8C7E-4868-A028-0D70661C6606}</a:tableStyleId>
              </a:tblPr>
              <a:tblGrid>
                <a:gridCol w="1234825"/>
                <a:gridCol w="1212125"/>
                <a:gridCol w="1468750"/>
                <a:gridCol w="1232525"/>
                <a:gridCol w="1194200"/>
                <a:gridCol w="1547300"/>
                <a:gridCol w="244025"/>
              </a:tblGrid>
              <a:tr h="682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Author &amp; Year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Title of Paper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Model Used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Dataset Used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Insights gained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Limitations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  <a:tr h="98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Yi et al., 2025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Multimodal medical image fusion with self-supervised learning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Self-supervised Fusion CNN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MIMIC Chest X-ray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Label-efficient medical image fusion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Generalizability and clinical validation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Wang &amp; Yang, 2025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MoE-Health: Mixture of Experts for Multimodal Healthcare Prediction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MoE-Health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/>
                        <a:t>MIMICIV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Robust fusion of diverse clinical data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Expert scaling, interpretability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  <a:tr h="39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OpenRLHF Team, 2025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GRPO: Group Relative Policy Optimization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GRPO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Synthetic/EHR data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Efficient RLHF training for VQA models</a:t>
                      </a:r>
                      <a:endParaRPr b="1"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Computation overhead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  <a:tr h="46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PaddlePaddle Team, 2021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PaddleOCR + BioBERT for Medical Documents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PaddleOCR + BioBERT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Public OCR datasets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Accurate OCR and NLP for clinical report pipeline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Issues with handwriting and noisy docs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  <a:tr h="39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Huang et al., 2025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Leveraging segmentation maps to improve skin lesion classification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Transformer with segmentation fusion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ISIC, PH2 dermatology images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Enhances HC via segmentation-classification integration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Computational overhead</a:t>
                      </a:r>
                      <a:endParaRPr sz="10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3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Gap Identification</a:t>
            </a:r>
            <a:endParaRPr/>
          </a:p>
        </p:txBody>
      </p:sp>
      <p:sp>
        <p:nvSpPr>
          <p:cNvPr id="176" name="Google Shape;176;p23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58318" lvl="0" marL="342900" rtl="0" algn="l"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8888"/>
              <a:buChar char="►"/>
            </a:pPr>
            <a:r>
              <a:rPr lang="en-IN"/>
              <a:t>Image-only AI, ignores medical history.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8888"/>
              <a:buChar char="►"/>
            </a:pPr>
            <a:r>
              <a:rPr lang="en-IN"/>
              <a:t>No consistent ABCDE automation.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IN" sz="2000"/>
              <a:t>Previous solutions struggle with computational complexity, clinical interpretability, and domain-specific adaptation when integrating multimodal data, segmentation, and vision-language tasks for skin lesion analysis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IN" sz="2000"/>
              <a:t>Most existing medical AI models have difficulty handling real-world clinical documents (e.g., noisy or handwritten reports), fusing diverse data types, and achieving consistent performance for rare lesion classes.</a:t>
            </a:r>
            <a:endParaRPr/>
          </a:p>
          <a:p>
            <a:pPr indent="-258318" lvl="0" marL="34290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Objective</a:t>
            </a:r>
            <a:endParaRPr/>
          </a:p>
        </p:txBody>
      </p:sp>
      <p:sp>
        <p:nvSpPr>
          <p:cNvPr id="182" name="Google Shape;182;p24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59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Automate segmentation &amp; classification of skin lesions.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Extract ABCDE values for explainability.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Process medical reports using NLP.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Fuse image + text → JSON output.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Enable VQA for clinicians/patients.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5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Scope of the Project</a:t>
            </a:r>
            <a:endParaRPr/>
          </a:p>
        </p:txBody>
      </p:sp>
      <p:sp>
        <p:nvSpPr>
          <p:cNvPr id="188" name="Google Shape;188;p25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59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End-to-end diagnostic pipeline: Image + Text + Q&amp;A.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Stages: Preprocessing, Segmentation, ROI Cropping, Classification, MedProc, Fusion, VQA.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Deployment: React (Frontend) + FastAPI (Backend).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Methodology Overview</a:t>
            </a:r>
            <a:endParaRPr/>
          </a:p>
        </p:txBody>
      </p:sp>
      <p:sp>
        <p:nvSpPr>
          <p:cNvPr id="194" name="Google Shape;194;p26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59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/>
              <a:t>Stage 1: Preprocessing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/>
              <a:t>Stage 2: Skin Lesion Segmentation (SLS)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/>
              <a:t>Stage 3: ROI Cropping (SLRC)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/>
              <a:t>Stage 4: Hierarchical Classification (HC + ABCDE)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/>
              <a:t>Stage 5: Medical Report Processing (MedProc)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/>
              <a:t>Stage 6: IT Fusion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/>
              <a:t>Stage 7: Visual Question Answering (VQA)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/>
          <p:nvPr>
            <p:ph type="title"/>
          </p:nvPr>
        </p:nvSpPr>
        <p:spPr>
          <a:xfrm>
            <a:off x="609600" y="132400"/>
            <a:ext cx="63477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System Architecture Diagram</a:t>
            </a:r>
            <a:endParaRPr/>
          </a:p>
        </p:txBody>
      </p:sp>
      <p:sp>
        <p:nvSpPr>
          <p:cNvPr id="200" name="Google Shape;200;p27"/>
          <p:cNvSpPr/>
          <p:nvPr/>
        </p:nvSpPr>
        <p:spPr>
          <a:xfrm>
            <a:off x="146350" y="3070350"/>
            <a:ext cx="1305600" cy="7173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Patient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01" name="Google Shape;201;p27"/>
          <p:cNvCxnSpPr>
            <a:stCxn id="200" idx="3"/>
          </p:cNvCxnSpPr>
          <p:nvPr/>
        </p:nvCxnSpPr>
        <p:spPr>
          <a:xfrm flipH="1" rot="10800000">
            <a:off x="1451950" y="1626900"/>
            <a:ext cx="2123400" cy="180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2" name="Google Shape;202;p27"/>
          <p:cNvSpPr/>
          <p:nvPr/>
        </p:nvSpPr>
        <p:spPr>
          <a:xfrm>
            <a:off x="3584800" y="1466400"/>
            <a:ext cx="3651300" cy="14232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Frontend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03" name="Google Shape;203;p27"/>
          <p:cNvCxnSpPr>
            <a:stCxn id="202" idx="2"/>
          </p:cNvCxnSpPr>
          <p:nvPr/>
        </p:nvCxnSpPr>
        <p:spPr>
          <a:xfrm flipH="1">
            <a:off x="5030050" y="2889600"/>
            <a:ext cx="380400" cy="149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4" name="Google Shape;204;p27"/>
          <p:cNvSpPr/>
          <p:nvPr/>
        </p:nvSpPr>
        <p:spPr>
          <a:xfrm>
            <a:off x="4268050" y="4384600"/>
            <a:ext cx="2970000" cy="11334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Backend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5" name="Google Shape;205;p27"/>
          <p:cNvSpPr txBox="1"/>
          <p:nvPr/>
        </p:nvSpPr>
        <p:spPr>
          <a:xfrm rot="-2319588">
            <a:off x="1337275" y="2084716"/>
            <a:ext cx="2045798" cy="52315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A</a:t>
            </a:r>
            <a:r>
              <a:rPr lang="en-IN" sz="19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sks quest</a:t>
            </a:r>
            <a:r>
              <a:rPr lang="en-IN" sz="15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i</a:t>
            </a:r>
            <a:r>
              <a:rPr lang="en-IN" sz="19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on</a:t>
            </a:r>
            <a:r>
              <a:rPr lang="en-IN" sz="2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IN" sz="22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22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6" name="Google Shape;206;p27"/>
          <p:cNvSpPr txBox="1"/>
          <p:nvPr/>
        </p:nvSpPr>
        <p:spPr>
          <a:xfrm rot="-4428282">
            <a:off x="4289555" y="3407701"/>
            <a:ext cx="1398289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API Call</a:t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07" name="Google Shape;207;p27"/>
          <p:cNvCxnSpPr>
            <a:stCxn id="200" idx="3"/>
          </p:cNvCxnSpPr>
          <p:nvPr/>
        </p:nvCxnSpPr>
        <p:spPr>
          <a:xfrm flipH="1" rot="10800000">
            <a:off x="1451950" y="2487900"/>
            <a:ext cx="2123400" cy="94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8" name="Google Shape;208;p27"/>
          <p:cNvSpPr txBox="1"/>
          <p:nvPr/>
        </p:nvSpPr>
        <p:spPr>
          <a:xfrm rot="-1457479">
            <a:off x="1577078" y="2942093"/>
            <a:ext cx="2367176" cy="73888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Upload image/ pdf/ text whenever asked</a:t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09" name="Google Shape;209;p27"/>
          <p:cNvCxnSpPr/>
          <p:nvPr/>
        </p:nvCxnSpPr>
        <p:spPr>
          <a:xfrm flipH="1" rot="10800000">
            <a:off x="5753050" y="2918200"/>
            <a:ext cx="232500" cy="146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0" name="Google Shape;210;p27"/>
          <p:cNvSpPr txBox="1"/>
          <p:nvPr/>
        </p:nvSpPr>
        <p:spPr>
          <a:xfrm rot="-4946560">
            <a:off x="5215290" y="3251365"/>
            <a:ext cx="1765536" cy="4617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API Response</a:t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11" name="Google Shape;211;p27"/>
          <p:cNvCxnSpPr>
            <a:stCxn id="202" idx="0"/>
            <a:endCxn id="200" idx="0"/>
          </p:cNvCxnSpPr>
          <p:nvPr/>
        </p:nvCxnSpPr>
        <p:spPr>
          <a:xfrm rot="5400000">
            <a:off x="2302750" y="-37200"/>
            <a:ext cx="1604100" cy="4611300"/>
          </a:xfrm>
          <a:prstGeom prst="curvedConnector3">
            <a:avLst>
              <a:gd fmla="val -1484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" name="Google Shape;212;p27"/>
          <p:cNvSpPr txBox="1"/>
          <p:nvPr/>
        </p:nvSpPr>
        <p:spPr>
          <a:xfrm rot="-1485649">
            <a:off x="1495390" y="1149074"/>
            <a:ext cx="1257070" cy="7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Answer + evidence</a:t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/>
          <p:nvPr>
            <p:ph type="title"/>
          </p:nvPr>
        </p:nvSpPr>
        <p:spPr>
          <a:xfrm>
            <a:off x="666975" y="150475"/>
            <a:ext cx="6347700" cy="69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System Architecture - Frontend</a:t>
            </a:r>
            <a:endParaRPr/>
          </a:p>
        </p:txBody>
      </p:sp>
      <p:sp>
        <p:nvSpPr>
          <p:cNvPr id="218" name="Google Shape;218;p28"/>
          <p:cNvSpPr/>
          <p:nvPr/>
        </p:nvSpPr>
        <p:spPr>
          <a:xfrm>
            <a:off x="1494975" y="2134000"/>
            <a:ext cx="1721700" cy="832200"/>
          </a:xfrm>
          <a:prstGeom prst="rect">
            <a:avLst/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Chatbot UI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9" name="Google Shape;219;p28"/>
          <p:cNvSpPr/>
          <p:nvPr/>
        </p:nvSpPr>
        <p:spPr>
          <a:xfrm>
            <a:off x="3991425" y="2530850"/>
            <a:ext cx="1721700" cy="6972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API Client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0" name="Google Shape;220;p28"/>
          <p:cNvSpPr/>
          <p:nvPr/>
        </p:nvSpPr>
        <p:spPr>
          <a:xfrm>
            <a:off x="1810650" y="4252525"/>
            <a:ext cx="1936800" cy="832200"/>
          </a:xfrm>
          <a:prstGeom prst="rect">
            <a:avLst/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Upload Manager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1" name="Google Shape;221;p28"/>
          <p:cNvSpPr/>
          <p:nvPr/>
        </p:nvSpPr>
        <p:spPr>
          <a:xfrm>
            <a:off x="5870900" y="3520825"/>
            <a:ext cx="1721700" cy="8322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Result Display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22" name="Google Shape;222;p28"/>
          <p:cNvCxnSpPr>
            <a:stCxn id="221" idx="0"/>
          </p:cNvCxnSpPr>
          <p:nvPr/>
        </p:nvCxnSpPr>
        <p:spPr>
          <a:xfrm flipH="1" rot="5400000">
            <a:off x="2585300" y="-625625"/>
            <a:ext cx="2166600" cy="61263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28"/>
          <p:cNvCxnSpPr>
            <a:endCxn id="224" idx="0"/>
          </p:cNvCxnSpPr>
          <p:nvPr/>
        </p:nvCxnSpPr>
        <p:spPr>
          <a:xfrm>
            <a:off x="662975" y="1339775"/>
            <a:ext cx="28500" cy="195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4" name="Google Shape;224;p28"/>
          <p:cNvSpPr/>
          <p:nvPr/>
        </p:nvSpPr>
        <p:spPr>
          <a:xfrm>
            <a:off x="218075" y="3291275"/>
            <a:ext cx="946800" cy="8322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Patient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5" name="Google Shape;225;p28"/>
          <p:cNvSpPr txBox="1"/>
          <p:nvPr/>
        </p:nvSpPr>
        <p:spPr>
          <a:xfrm>
            <a:off x="2484950" y="1253950"/>
            <a:ext cx="668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Answer + evidence</a:t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26" name="Google Shape;226;p28"/>
          <p:cNvCxnSpPr>
            <a:stCxn id="218" idx="3"/>
            <a:endCxn id="219" idx="1"/>
          </p:cNvCxnSpPr>
          <p:nvPr/>
        </p:nvCxnSpPr>
        <p:spPr>
          <a:xfrm>
            <a:off x="3216675" y="2550100"/>
            <a:ext cx="774900" cy="32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" name="Google Shape;227;p28"/>
          <p:cNvCxnSpPr>
            <a:endCxn id="219" idx="2"/>
          </p:cNvCxnSpPr>
          <p:nvPr/>
        </p:nvCxnSpPr>
        <p:spPr>
          <a:xfrm flipH="1" rot="10800000">
            <a:off x="3747375" y="3228050"/>
            <a:ext cx="1104900" cy="144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8" name="Google Shape;228;p28"/>
          <p:cNvCxnSpPr>
            <a:stCxn id="219" idx="2"/>
          </p:cNvCxnSpPr>
          <p:nvPr/>
        </p:nvCxnSpPr>
        <p:spPr>
          <a:xfrm>
            <a:off x="4852275" y="3228050"/>
            <a:ext cx="14400" cy="208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9" name="Google Shape;229;p28"/>
          <p:cNvSpPr/>
          <p:nvPr/>
        </p:nvSpPr>
        <p:spPr>
          <a:xfrm>
            <a:off x="3911025" y="5314250"/>
            <a:ext cx="1896900" cy="7164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Backend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30" name="Google Shape;230;p28"/>
          <p:cNvCxnSpPr>
            <a:stCxn id="224" idx="3"/>
            <a:endCxn id="218" idx="1"/>
          </p:cNvCxnSpPr>
          <p:nvPr/>
        </p:nvCxnSpPr>
        <p:spPr>
          <a:xfrm flipH="1" rot="10800000">
            <a:off x="1164875" y="2549975"/>
            <a:ext cx="330000" cy="115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" name="Google Shape;231;p28"/>
          <p:cNvCxnSpPr>
            <a:stCxn id="224" idx="3"/>
            <a:endCxn id="220" idx="1"/>
          </p:cNvCxnSpPr>
          <p:nvPr/>
        </p:nvCxnSpPr>
        <p:spPr>
          <a:xfrm>
            <a:off x="1164875" y="3707375"/>
            <a:ext cx="645900" cy="96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" name="Google Shape;232;p28"/>
          <p:cNvCxnSpPr>
            <a:stCxn id="219" idx="3"/>
            <a:endCxn id="221" idx="0"/>
          </p:cNvCxnSpPr>
          <p:nvPr/>
        </p:nvCxnSpPr>
        <p:spPr>
          <a:xfrm>
            <a:off x="5713125" y="2879450"/>
            <a:ext cx="1018500" cy="64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3" name="Google Shape;233;p28"/>
          <p:cNvSpPr txBox="1"/>
          <p:nvPr/>
        </p:nvSpPr>
        <p:spPr>
          <a:xfrm rot="1259034">
            <a:off x="3202897" y="2435918"/>
            <a:ext cx="1104981" cy="6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Send Question</a:t>
            </a:r>
            <a:endParaRPr sz="15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4" name="Google Shape;234;p28"/>
          <p:cNvSpPr txBox="1"/>
          <p:nvPr/>
        </p:nvSpPr>
        <p:spPr>
          <a:xfrm rot="1780431">
            <a:off x="5743676" y="2860449"/>
            <a:ext cx="900493" cy="73885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Show results</a:t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5" name="Google Shape;235;p28"/>
          <p:cNvSpPr txBox="1"/>
          <p:nvPr/>
        </p:nvSpPr>
        <p:spPr>
          <a:xfrm rot="-4617446">
            <a:off x="675754" y="2657501"/>
            <a:ext cx="1128615" cy="3847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Ask Question</a:t>
            </a:r>
            <a:endParaRPr sz="13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9"/>
          <p:cNvSpPr txBox="1"/>
          <p:nvPr>
            <p:ph type="title"/>
          </p:nvPr>
        </p:nvSpPr>
        <p:spPr>
          <a:xfrm>
            <a:off x="638275" y="0"/>
            <a:ext cx="6347700" cy="69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System Architecture - Backend</a:t>
            </a:r>
            <a:endParaRPr/>
          </a:p>
        </p:txBody>
      </p:sp>
      <p:sp>
        <p:nvSpPr>
          <p:cNvPr id="241" name="Google Shape;241;p29"/>
          <p:cNvSpPr/>
          <p:nvPr/>
        </p:nvSpPr>
        <p:spPr>
          <a:xfrm>
            <a:off x="289825" y="3436250"/>
            <a:ext cx="1492200" cy="616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Fast API Orchestrator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42" name="Google Shape;242;p29"/>
          <p:cNvCxnSpPr/>
          <p:nvPr/>
        </p:nvCxnSpPr>
        <p:spPr>
          <a:xfrm>
            <a:off x="1007275" y="4053050"/>
            <a:ext cx="14400" cy="116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3" name="Google Shape;243;p29"/>
          <p:cNvSpPr/>
          <p:nvPr/>
        </p:nvSpPr>
        <p:spPr>
          <a:xfrm>
            <a:off x="433225" y="5197300"/>
            <a:ext cx="1205400" cy="616800"/>
          </a:xfrm>
          <a:prstGeom prst="rect">
            <a:avLst/>
          </a:prstGeom>
          <a:solidFill>
            <a:srgbClr val="BFE471">
              <a:alpha val="698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SLS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44" name="Google Shape;244;p29"/>
          <p:cNvCxnSpPr>
            <a:stCxn id="243" idx="3"/>
          </p:cNvCxnSpPr>
          <p:nvPr/>
        </p:nvCxnSpPr>
        <p:spPr>
          <a:xfrm flipH="1" rot="10800000">
            <a:off x="1638625" y="5472100"/>
            <a:ext cx="645600" cy="3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5" name="Google Shape;245;p29"/>
          <p:cNvSpPr/>
          <p:nvPr/>
        </p:nvSpPr>
        <p:spPr>
          <a:xfrm>
            <a:off x="2284225" y="5237800"/>
            <a:ext cx="1075800" cy="502200"/>
          </a:xfrm>
          <a:prstGeom prst="rect">
            <a:avLst/>
          </a:prstGeom>
          <a:solidFill>
            <a:srgbClr val="BFE471">
              <a:alpha val="698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SLRC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46" name="Google Shape;246;p29"/>
          <p:cNvCxnSpPr>
            <a:stCxn id="245" idx="3"/>
          </p:cNvCxnSpPr>
          <p:nvPr/>
        </p:nvCxnSpPr>
        <p:spPr>
          <a:xfrm flipH="1" rot="10800000">
            <a:off x="3360025" y="5472100"/>
            <a:ext cx="717600" cy="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7" name="Google Shape;247;p29"/>
          <p:cNvSpPr/>
          <p:nvPr/>
        </p:nvSpPr>
        <p:spPr>
          <a:xfrm>
            <a:off x="4077625" y="5254600"/>
            <a:ext cx="1075800" cy="502200"/>
          </a:xfrm>
          <a:prstGeom prst="rect">
            <a:avLst/>
          </a:prstGeom>
          <a:solidFill>
            <a:srgbClr val="BFE471">
              <a:alpha val="698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HC+ABCDE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8" name="Google Shape;248;p29"/>
          <p:cNvSpPr/>
          <p:nvPr/>
        </p:nvSpPr>
        <p:spPr>
          <a:xfrm>
            <a:off x="4027075" y="4123400"/>
            <a:ext cx="1176900" cy="4161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MedProc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49" name="Google Shape;249;p29"/>
          <p:cNvCxnSpPr>
            <a:stCxn id="248" idx="3"/>
          </p:cNvCxnSpPr>
          <p:nvPr/>
        </p:nvCxnSpPr>
        <p:spPr>
          <a:xfrm flipH="1" rot="10800000">
            <a:off x="5203975" y="4295450"/>
            <a:ext cx="896400" cy="3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0" name="Google Shape;250;p29"/>
          <p:cNvCxnSpPr>
            <a:stCxn id="247" idx="3"/>
          </p:cNvCxnSpPr>
          <p:nvPr/>
        </p:nvCxnSpPr>
        <p:spPr>
          <a:xfrm flipH="1" rot="10800000">
            <a:off x="5153425" y="4453300"/>
            <a:ext cx="932700" cy="105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1" name="Google Shape;251;p29"/>
          <p:cNvSpPr/>
          <p:nvPr/>
        </p:nvSpPr>
        <p:spPr>
          <a:xfrm>
            <a:off x="6086125" y="4023050"/>
            <a:ext cx="1362900" cy="6168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IT Fusion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2" name="Google Shape;252;p29"/>
          <p:cNvSpPr/>
          <p:nvPr/>
        </p:nvSpPr>
        <p:spPr>
          <a:xfrm>
            <a:off x="7334325" y="2774775"/>
            <a:ext cx="1176900" cy="4161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VQA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3" name="Google Shape;253;p29"/>
          <p:cNvSpPr/>
          <p:nvPr/>
        </p:nvSpPr>
        <p:spPr>
          <a:xfrm>
            <a:off x="7176500" y="5558125"/>
            <a:ext cx="1592550" cy="616800"/>
          </a:xfrm>
          <a:prstGeom prst="flowChartDisplay">
            <a:avLst/>
          </a:prstGeom>
          <a:solidFill>
            <a:srgbClr val="BFE47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Database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54" name="Google Shape;254;p29"/>
          <p:cNvCxnSpPr>
            <a:stCxn id="252" idx="1"/>
            <a:endCxn id="241" idx="3"/>
          </p:cNvCxnSpPr>
          <p:nvPr/>
        </p:nvCxnSpPr>
        <p:spPr>
          <a:xfrm flipH="1">
            <a:off x="1781925" y="2982825"/>
            <a:ext cx="5552400" cy="76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5" name="Google Shape;255;p29"/>
          <p:cNvCxnSpPr>
            <a:stCxn id="243" idx="2"/>
          </p:cNvCxnSpPr>
          <p:nvPr/>
        </p:nvCxnSpPr>
        <p:spPr>
          <a:xfrm flipH="1" rot="-5400000">
            <a:off x="3265825" y="3584200"/>
            <a:ext cx="690900" cy="5150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29"/>
          <p:cNvCxnSpPr>
            <a:endCxn id="253" idx="1"/>
          </p:cNvCxnSpPr>
          <p:nvPr/>
        </p:nvCxnSpPr>
        <p:spPr>
          <a:xfrm flipH="1" rot="10800000">
            <a:off x="6157700" y="5866525"/>
            <a:ext cx="1018800" cy="65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" name="Google Shape;257;p29"/>
          <p:cNvCxnSpPr>
            <a:stCxn id="245" idx="2"/>
          </p:cNvCxnSpPr>
          <p:nvPr/>
        </p:nvCxnSpPr>
        <p:spPr>
          <a:xfrm flipH="1" rot="-5400000">
            <a:off x="4243825" y="4318300"/>
            <a:ext cx="420600" cy="3264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" name="Google Shape;258;p29"/>
          <p:cNvCxnSpPr>
            <a:endCxn id="253" idx="1"/>
          </p:cNvCxnSpPr>
          <p:nvPr/>
        </p:nvCxnSpPr>
        <p:spPr>
          <a:xfrm flipH="1" rot="10800000">
            <a:off x="6086000" y="5866525"/>
            <a:ext cx="1090500" cy="27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" name="Google Shape;259;p29"/>
          <p:cNvCxnSpPr>
            <a:endCxn id="252" idx="2"/>
          </p:cNvCxnSpPr>
          <p:nvPr/>
        </p:nvCxnSpPr>
        <p:spPr>
          <a:xfrm flipH="1" rot="10800000">
            <a:off x="7391775" y="3190875"/>
            <a:ext cx="531000" cy="84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" name="Google Shape;260;p29"/>
          <p:cNvCxnSpPr>
            <a:stCxn id="252" idx="2"/>
            <a:endCxn id="253" idx="0"/>
          </p:cNvCxnSpPr>
          <p:nvPr/>
        </p:nvCxnSpPr>
        <p:spPr>
          <a:xfrm>
            <a:off x="7922775" y="3190875"/>
            <a:ext cx="50100" cy="236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1" name="Google Shape;261;p29"/>
          <p:cNvSpPr txBox="1"/>
          <p:nvPr/>
        </p:nvSpPr>
        <p:spPr>
          <a:xfrm>
            <a:off x="705875" y="4611225"/>
            <a:ext cx="83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image</a:t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2" name="Google Shape;262;p29"/>
          <p:cNvSpPr txBox="1"/>
          <p:nvPr/>
        </p:nvSpPr>
        <p:spPr>
          <a:xfrm>
            <a:off x="3295200" y="6411700"/>
            <a:ext cx="127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mask</a:t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3" name="Google Shape;263;p29"/>
          <p:cNvSpPr txBox="1"/>
          <p:nvPr/>
        </p:nvSpPr>
        <p:spPr>
          <a:xfrm>
            <a:off x="1695925" y="5213750"/>
            <a:ext cx="53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mask</a:t>
            </a:r>
            <a:endParaRPr sz="12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4" name="Google Shape;264;p29"/>
          <p:cNvSpPr txBox="1"/>
          <p:nvPr/>
        </p:nvSpPr>
        <p:spPr>
          <a:xfrm rot="-408385">
            <a:off x="2793467" y="3052013"/>
            <a:ext cx="3586880" cy="27978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Answer JSON</a:t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5" name="Google Shape;265;p29"/>
          <p:cNvSpPr txBox="1"/>
          <p:nvPr/>
        </p:nvSpPr>
        <p:spPr>
          <a:xfrm>
            <a:off x="3690125" y="5853400"/>
            <a:ext cx="64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ROI</a:t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6" name="Google Shape;266;p29"/>
          <p:cNvSpPr txBox="1"/>
          <p:nvPr/>
        </p:nvSpPr>
        <p:spPr>
          <a:xfrm>
            <a:off x="3381500" y="5185100"/>
            <a:ext cx="64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ROI</a:t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7" name="Google Shape;267;p29"/>
          <p:cNvSpPr/>
          <p:nvPr/>
        </p:nvSpPr>
        <p:spPr>
          <a:xfrm>
            <a:off x="2642775" y="1153525"/>
            <a:ext cx="1592700" cy="2799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Frontend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8" name="Google Shape;268;p29"/>
          <p:cNvSpPr txBox="1"/>
          <p:nvPr/>
        </p:nvSpPr>
        <p:spPr>
          <a:xfrm>
            <a:off x="5368750" y="3979925"/>
            <a:ext cx="645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Text JSON</a:t>
            </a:r>
            <a:endParaRPr sz="15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9" name="Google Shape;269;p29"/>
          <p:cNvSpPr txBox="1"/>
          <p:nvPr/>
        </p:nvSpPr>
        <p:spPr>
          <a:xfrm rot="-2884376">
            <a:off x="5012509" y="4436109"/>
            <a:ext cx="1444363" cy="73882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Class</a:t>
            </a:r>
            <a:r>
              <a:rPr lang="en-IN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 ABCDE</a:t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0" name="Google Shape;270;p29"/>
          <p:cNvSpPr txBox="1"/>
          <p:nvPr/>
        </p:nvSpPr>
        <p:spPr>
          <a:xfrm rot="-3487006">
            <a:off x="6979636" y="3429429"/>
            <a:ext cx="1029175" cy="36919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IT JSON</a:t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1" name="Google Shape;271;p29"/>
          <p:cNvSpPr txBox="1"/>
          <p:nvPr/>
        </p:nvSpPr>
        <p:spPr>
          <a:xfrm>
            <a:off x="7779100" y="4525125"/>
            <a:ext cx="64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logs</a:t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72" name="Google Shape;272;p29"/>
          <p:cNvCxnSpPr>
            <a:stCxn id="267" idx="2"/>
            <a:endCxn id="241" idx="0"/>
          </p:cNvCxnSpPr>
          <p:nvPr/>
        </p:nvCxnSpPr>
        <p:spPr>
          <a:xfrm flipH="1">
            <a:off x="1035825" y="1433425"/>
            <a:ext cx="2403300" cy="200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3" name="Google Shape;273;p29"/>
          <p:cNvSpPr txBox="1"/>
          <p:nvPr/>
        </p:nvSpPr>
        <p:spPr>
          <a:xfrm rot="-2342172">
            <a:off x="1723450" y="2476955"/>
            <a:ext cx="1055554" cy="46178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API Call</a:t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74" name="Google Shape;274;p29"/>
          <p:cNvCxnSpPr>
            <a:stCxn id="241" idx="0"/>
            <a:endCxn id="267" idx="1"/>
          </p:cNvCxnSpPr>
          <p:nvPr/>
        </p:nvCxnSpPr>
        <p:spPr>
          <a:xfrm flipH="1" rot="10800000">
            <a:off x="1035925" y="1293350"/>
            <a:ext cx="1606800" cy="214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5" name="Google Shape;275;p29"/>
          <p:cNvSpPr txBox="1"/>
          <p:nvPr/>
        </p:nvSpPr>
        <p:spPr>
          <a:xfrm rot="-3046295">
            <a:off x="944436" y="1782461"/>
            <a:ext cx="1090584" cy="7387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API Response</a:t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76" name="Google Shape;276;p29"/>
          <p:cNvCxnSpPr>
            <a:stCxn id="251" idx="2"/>
          </p:cNvCxnSpPr>
          <p:nvPr/>
        </p:nvCxnSpPr>
        <p:spPr>
          <a:xfrm>
            <a:off x="6767575" y="4639850"/>
            <a:ext cx="915600" cy="88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7" name="Google Shape;277;p29"/>
          <p:cNvSpPr txBox="1"/>
          <p:nvPr/>
        </p:nvSpPr>
        <p:spPr>
          <a:xfrm rot="2699315">
            <a:off x="6693636" y="4712378"/>
            <a:ext cx="1063842" cy="73864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Fusion JSON</a:t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78" name="Google Shape;278;p29"/>
          <p:cNvCxnSpPr>
            <a:stCxn id="247" idx="2"/>
          </p:cNvCxnSpPr>
          <p:nvPr/>
        </p:nvCxnSpPr>
        <p:spPr>
          <a:xfrm flipH="1" rot="-5400000">
            <a:off x="5257675" y="5114650"/>
            <a:ext cx="257700" cy="1542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" name="Google Shape;279;p29"/>
          <p:cNvCxnSpPr/>
          <p:nvPr/>
        </p:nvCxnSpPr>
        <p:spPr>
          <a:xfrm flipH="1" rot="10800000">
            <a:off x="6104550" y="5762275"/>
            <a:ext cx="1180500" cy="23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0" name="Google Shape;280;p29"/>
          <p:cNvSpPr txBox="1"/>
          <p:nvPr/>
        </p:nvSpPr>
        <p:spPr>
          <a:xfrm rot="-474627">
            <a:off x="5115794" y="5627511"/>
            <a:ext cx="1870297" cy="4616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Class + ABCDE</a:t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81" name="Google Shape;281;p29"/>
          <p:cNvCxnSpPr>
            <a:stCxn id="245" idx="0"/>
          </p:cNvCxnSpPr>
          <p:nvPr/>
        </p:nvCxnSpPr>
        <p:spPr>
          <a:xfrm rot="-5400000">
            <a:off x="3200125" y="2386300"/>
            <a:ext cx="2473500" cy="3229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9"/>
          <p:cNvCxnSpPr>
            <a:endCxn id="252" idx="1"/>
          </p:cNvCxnSpPr>
          <p:nvPr/>
        </p:nvCxnSpPr>
        <p:spPr>
          <a:xfrm>
            <a:off x="5958525" y="2738025"/>
            <a:ext cx="1375800" cy="24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3" name="Google Shape;283;p29"/>
          <p:cNvSpPr txBox="1"/>
          <p:nvPr/>
        </p:nvSpPr>
        <p:spPr>
          <a:xfrm>
            <a:off x="4109925" y="2461200"/>
            <a:ext cx="89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ROI</a:t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84" name="Google Shape;284;p29"/>
          <p:cNvCxnSpPr>
            <a:stCxn id="248" idx="0"/>
          </p:cNvCxnSpPr>
          <p:nvPr/>
        </p:nvCxnSpPr>
        <p:spPr>
          <a:xfrm rot="-5400000">
            <a:off x="5708575" y="1193750"/>
            <a:ext cx="1836600" cy="4022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" name="Google Shape;285;p29"/>
          <p:cNvCxnSpPr/>
          <p:nvPr/>
        </p:nvCxnSpPr>
        <p:spPr>
          <a:xfrm>
            <a:off x="8571825" y="2273625"/>
            <a:ext cx="53100" cy="326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6" name="Google Shape;286;p29"/>
          <p:cNvSpPr txBox="1"/>
          <p:nvPr/>
        </p:nvSpPr>
        <p:spPr>
          <a:xfrm>
            <a:off x="5610175" y="1942175"/>
            <a:ext cx="137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Text JSON</a:t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87" name="Google Shape;287;p29"/>
          <p:cNvCxnSpPr>
            <a:stCxn id="267" idx="2"/>
            <a:endCxn id="248" idx="0"/>
          </p:cNvCxnSpPr>
          <p:nvPr/>
        </p:nvCxnSpPr>
        <p:spPr>
          <a:xfrm>
            <a:off x="3439125" y="1433425"/>
            <a:ext cx="1176300" cy="269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8" name="Google Shape;288;p29"/>
          <p:cNvSpPr txBox="1"/>
          <p:nvPr/>
        </p:nvSpPr>
        <p:spPr>
          <a:xfrm rot="4266549">
            <a:off x="3126798" y="1706006"/>
            <a:ext cx="1168435" cy="73866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Report + history</a:t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0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System Architecture </a:t>
            </a:r>
            <a:endParaRPr/>
          </a:p>
        </p:txBody>
      </p:sp>
      <p:sp>
        <p:nvSpPr>
          <p:cNvPr id="294" name="Google Shape;294;p30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59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Frontend: React-based chatbot for patient interaction.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Backend: FastAPI orchestrating AI models.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Stages: SLS, SLRC, HC, MedProc, IT Fusion, VQA.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Outputs: Classification + ABCDE + Q&amp;A answers.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1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Stages of Project I – Preprocessing</a:t>
            </a:r>
            <a:endParaRPr/>
          </a:p>
        </p:txBody>
      </p:sp>
      <p:graphicFrame>
        <p:nvGraphicFramePr>
          <p:cNvPr id="300" name="Google Shape;300;p31"/>
          <p:cNvGraphicFramePr/>
          <p:nvPr/>
        </p:nvGraphicFramePr>
        <p:xfrm>
          <a:off x="4572000" y="609600"/>
          <a:ext cx="3000000" cy="3000000"/>
        </p:xfrm>
        <a:graphic>
          <a:graphicData uri="http://schemas.openxmlformats.org/drawingml/2006/table">
            <a:tbl>
              <a:tblPr bandRow="1" firstCol="1" firstRow="1" lastCol="1">
                <a:noFill/>
                <a:tableStyleId>{B584804D-C5FD-4781-B5ED-083A65130E3D}</a:tableStyleId>
              </a:tblPr>
              <a:tblGrid>
                <a:gridCol w="1809750"/>
                <a:gridCol w="1809750"/>
              </a:tblGrid>
              <a:tr h="1633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Methods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n-IN" sz="1800"/>
                        <a:t>Image resizing, normalization, hair removal, OCR, tokenization.</a:t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  <a:tr h="1633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Models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n-IN" sz="1800"/>
                        <a:t>PaddleOCR (PDF-&gt;OCR)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76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Input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Skin Image(any size), Medical PDF / Unstructured text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76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Output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Resized image (as per required), Structured text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</a:tbl>
          </a:graphicData>
        </a:graphic>
      </p:graphicFrame>
      <p:sp>
        <p:nvSpPr>
          <p:cNvPr id="301" name="Google Shape;301;p31"/>
          <p:cNvSpPr/>
          <p:nvPr/>
        </p:nvSpPr>
        <p:spPr>
          <a:xfrm>
            <a:off x="609600" y="2279550"/>
            <a:ext cx="2403900" cy="11976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Input: Raw Image/PDF/Text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Task: Cleaning + Formatting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Image Resize/Normalize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OCR for PDFs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Text Cleanup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02" name="Google Shape;302;p31"/>
          <p:cNvCxnSpPr>
            <a:stCxn id="301" idx="2"/>
          </p:cNvCxnSpPr>
          <p:nvPr/>
        </p:nvCxnSpPr>
        <p:spPr>
          <a:xfrm flipH="1">
            <a:off x="1806150" y="3477150"/>
            <a:ext cx="5400" cy="105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3" name="Google Shape;303;p31"/>
          <p:cNvSpPr/>
          <p:nvPr/>
        </p:nvSpPr>
        <p:spPr>
          <a:xfrm>
            <a:off x="685800" y="4481850"/>
            <a:ext cx="2403900" cy="1004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Output: Cleaned Image/Text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2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Stages of Project II – Skin Lesion Segmentation(SLS)</a:t>
            </a:r>
            <a:endParaRPr/>
          </a:p>
        </p:txBody>
      </p:sp>
      <p:graphicFrame>
        <p:nvGraphicFramePr>
          <p:cNvPr id="309" name="Google Shape;309;p32"/>
          <p:cNvGraphicFramePr/>
          <p:nvPr/>
        </p:nvGraphicFramePr>
        <p:xfrm>
          <a:off x="3888387" y="1663742"/>
          <a:ext cx="3000000" cy="3000000"/>
        </p:xfrm>
        <a:graphic>
          <a:graphicData uri="http://schemas.openxmlformats.org/drawingml/2006/table">
            <a:tbl>
              <a:tblPr bandRow="1" firstCol="1" firstRow="1" lastCol="1">
                <a:noFill/>
                <a:tableStyleId>{B584804D-C5FD-4781-B5ED-083A65130E3D}</a:tableStyleId>
              </a:tblPr>
              <a:tblGrid>
                <a:gridCol w="1912800"/>
                <a:gridCol w="20590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Model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ARCUNet</a:t>
                      </a:r>
                      <a:endParaRPr sz="1500"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Input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Skin image(512*512)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Output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Binary Lesion Mask (512*512)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Evaluation Metrics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500">
                          <a:solidFill>
                            <a:schemeClr val="lt1"/>
                          </a:solidFill>
                        </a:rPr>
                        <a:t>Dice coefficient: ~94.7%</a:t>
                      </a:r>
                      <a:br>
                        <a:rPr lang="en-IN" sz="1500">
                          <a:solidFill>
                            <a:schemeClr val="lt1"/>
                          </a:solidFill>
                        </a:rPr>
                      </a:br>
                      <a:r>
                        <a:rPr b="0" lang="en-IN" sz="1500">
                          <a:solidFill>
                            <a:schemeClr val="lt1"/>
                          </a:solidFill>
                        </a:rPr>
                        <a:t>Jaccard: ~91.1%</a:t>
                      </a:r>
                      <a:br>
                        <a:rPr lang="en-IN" sz="1500">
                          <a:solidFill>
                            <a:schemeClr val="lt1"/>
                          </a:solidFill>
                        </a:rPr>
                      </a:br>
                      <a:r>
                        <a:rPr b="0" lang="en-IN" sz="1500">
                          <a:solidFill>
                            <a:schemeClr val="lt1"/>
                          </a:solidFill>
                        </a:rPr>
                        <a:t>Accuracy: ~98.2%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Task Performed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Convert the RGB Skin lesion to B/W image such that only lesion part is white colour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Paper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800" u="sng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https://www.ncbi.nlm.nih.gov/pmc/articles/PMC11920274/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noFill/>
                  </a:tcPr>
                </a:tc>
              </a:tr>
            </a:tbl>
          </a:graphicData>
        </a:graphic>
      </p:graphicFrame>
      <p:sp>
        <p:nvSpPr>
          <p:cNvPr id="310" name="Google Shape;310;p32"/>
          <p:cNvSpPr/>
          <p:nvPr/>
        </p:nvSpPr>
        <p:spPr>
          <a:xfrm>
            <a:off x="878975" y="1931825"/>
            <a:ext cx="1506900" cy="5796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Input: Skin Image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11" name="Google Shape;311;p32"/>
          <p:cNvCxnSpPr>
            <a:stCxn id="310" idx="2"/>
          </p:cNvCxnSpPr>
          <p:nvPr/>
        </p:nvCxnSpPr>
        <p:spPr>
          <a:xfrm>
            <a:off x="1632425" y="2511425"/>
            <a:ext cx="9600" cy="60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2" name="Google Shape;312;p32"/>
          <p:cNvSpPr/>
          <p:nvPr/>
        </p:nvSpPr>
        <p:spPr>
          <a:xfrm>
            <a:off x="907925" y="3119825"/>
            <a:ext cx="1449000" cy="8400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Preproc: Resize 512*512, Normalize, Hair Removal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13" name="Google Shape;313;p32"/>
          <p:cNvCxnSpPr>
            <a:stCxn id="312" idx="2"/>
          </p:cNvCxnSpPr>
          <p:nvPr/>
        </p:nvCxnSpPr>
        <p:spPr>
          <a:xfrm>
            <a:off x="1632425" y="3959825"/>
            <a:ext cx="9600" cy="60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4" name="Google Shape;314;p32"/>
          <p:cNvSpPr/>
          <p:nvPr/>
        </p:nvSpPr>
        <p:spPr>
          <a:xfrm>
            <a:off x="936950" y="4559175"/>
            <a:ext cx="1449000" cy="840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ARCUNet Segmentation CNN Input:512x512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15" name="Google Shape;315;p32"/>
          <p:cNvCxnSpPr>
            <a:stCxn id="314" idx="2"/>
          </p:cNvCxnSpPr>
          <p:nvPr/>
        </p:nvCxnSpPr>
        <p:spPr>
          <a:xfrm>
            <a:off x="1661450" y="5399175"/>
            <a:ext cx="9600" cy="5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6" name="Google Shape;316;p32"/>
          <p:cNvSpPr/>
          <p:nvPr/>
        </p:nvSpPr>
        <p:spPr>
          <a:xfrm>
            <a:off x="526400" y="5901675"/>
            <a:ext cx="2279700" cy="4638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Output: Lesion Mask (512x512)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3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Stages of Project III- Skin Lesion ROI Cropping</a:t>
            </a:r>
            <a:endParaRPr/>
          </a:p>
        </p:txBody>
      </p:sp>
      <p:graphicFrame>
        <p:nvGraphicFramePr>
          <p:cNvPr id="322" name="Google Shape;322;p33"/>
          <p:cNvGraphicFramePr/>
          <p:nvPr/>
        </p:nvGraphicFramePr>
        <p:xfrm>
          <a:off x="4122295" y="1918741"/>
          <a:ext cx="3000000" cy="3000000"/>
        </p:xfrm>
        <a:graphic>
          <a:graphicData uri="http://schemas.openxmlformats.org/drawingml/2006/table">
            <a:tbl>
              <a:tblPr bandRow="1" firstCol="1" firstRow="1" lastCol="1">
                <a:noFill/>
                <a:tableStyleId>{B584804D-C5FD-4781-B5ED-083A65130E3D}</a:tableStyleId>
              </a:tblPr>
              <a:tblGrid>
                <a:gridCol w="1981200"/>
                <a:gridCol w="1981200"/>
              </a:tblGrid>
              <a:tr h="718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Model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OpenCV+Connected Components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Input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Original Image + Segmentation Mask.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Output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Original Image + Segmentation Mask.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Task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Extract lesion region of interest.</a:t>
                      </a:r>
                      <a:endParaRPr sz="1500"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Paper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500" u="sng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https://docs.opencv.org/4.x/d3/dc0/group__imgproc__shape.html#ga8ea7a3017b288220c3bb7c6c71496488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noFill/>
                  </a:tcPr>
                </a:tc>
              </a:tr>
            </a:tbl>
          </a:graphicData>
        </a:graphic>
      </p:graphicFrame>
      <p:sp>
        <p:nvSpPr>
          <p:cNvPr id="323" name="Google Shape;323;p33"/>
          <p:cNvSpPr/>
          <p:nvPr/>
        </p:nvSpPr>
        <p:spPr>
          <a:xfrm>
            <a:off x="96600" y="2134900"/>
            <a:ext cx="1429500" cy="8016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 Lesion Mask from SLS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4" name="Google Shape;324;p33"/>
          <p:cNvSpPr/>
          <p:nvPr/>
        </p:nvSpPr>
        <p:spPr>
          <a:xfrm>
            <a:off x="2540350" y="2154000"/>
            <a:ext cx="1197600" cy="8016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Original Image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25" name="Google Shape;325;p33"/>
          <p:cNvCxnSpPr>
            <a:stCxn id="323" idx="2"/>
            <a:endCxn id="326" idx="0"/>
          </p:cNvCxnSpPr>
          <p:nvPr/>
        </p:nvCxnSpPr>
        <p:spPr>
          <a:xfrm>
            <a:off x="811350" y="2936500"/>
            <a:ext cx="1048200" cy="83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6" name="Google Shape;326;p33"/>
          <p:cNvSpPr/>
          <p:nvPr/>
        </p:nvSpPr>
        <p:spPr>
          <a:xfrm>
            <a:off x="907950" y="3767075"/>
            <a:ext cx="1902900" cy="801600"/>
          </a:xfrm>
          <a:prstGeom prst="rect">
            <a:avLst/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Preproc: Crop Bounding Box Resize 224x224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27" name="Google Shape;327;p33"/>
          <p:cNvCxnSpPr>
            <a:stCxn id="324" idx="2"/>
            <a:endCxn id="326" idx="0"/>
          </p:cNvCxnSpPr>
          <p:nvPr/>
        </p:nvCxnSpPr>
        <p:spPr>
          <a:xfrm flipH="1">
            <a:off x="1859350" y="2955600"/>
            <a:ext cx="1279800" cy="81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8" name="Google Shape;328;p33"/>
          <p:cNvCxnSpPr>
            <a:stCxn id="326" idx="2"/>
          </p:cNvCxnSpPr>
          <p:nvPr/>
        </p:nvCxnSpPr>
        <p:spPr>
          <a:xfrm>
            <a:off x="1859400" y="4568675"/>
            <a:ext cx="14400" cy="88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9" name="Google Shape;329;p33"/>
          <p:cNvSpPr/>
          <p:nvPr/>
        </p:nvSpPr>
        <p:spPr>
          <a:xfrm>
            <a:off x="948900" y="5457575"/>
            <a:ext cx="1835400" cy="6279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Output: ROI Image (224x224)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4"/>
          <p:cNvSpPr txBox="1"/>
          <p:nvPr>
            <p:ph type="title"/>
          </p:nvPr>
        </p:nvSpPr>
        <p:spPr>
          <a:xfrm>
            <a:off x="87999" y="68675"/>
            <a:ext cx="6347700" cy="13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88888"/>
              <a:buFont typeface="Trebuchet MS"/>
              <a:buNone/>
            </a:pPr>
            <a:r>
              <a:rPr lang="en-IN"/>
              <a:t>Stages of Project IV – Hierarchical Classification + ABCDE</a:t>
            </a:r>
            <a:endParaRPr/>
          </a:p>
        </p:txBody>
      </p:sp>
      <p:sp>
        <p:nvSpPr>
          <p:cNvPr id="335" name="Google Shape;335;p34"/>
          <p:cNvSpPr/>
          <p:nvPr/>
        </p:nvSpPr>
        <p:spPr>
          <a:xfrm>
            <a:off x="753350" y="1245975"/>
            <a:ext cx="1323300" cy="9066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Input: </a:t>
            </a: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ROI Image (224x224) (SLRC)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36" name="Google Shape;336;p34"/>
          <p:cNvCxnSpPr>
            <a:stCxn id="335" idx="2"/>
            <a:endCxn id="337" idx="0"/>
          </p:cNvCxnSpPr>
          <p:nvPr/>
        </p:nvCxnSpPr>
        <p:spPr>
          <a:xfrm flipH="1">
            <a:off x="646400" y="2152575"/>
            <a:ext cx="768600" cy="52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7" name="Google Shape;337;p34"/>
          <p:cNvSpPr/>
          <p:nvPr/>
        </p:nvSpPr>
        <p:spPr>
          <a:xfrm>
            <a:off x="63250" y="2676675"/>
            <a:ext cx="1166400" cy="9066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Preproc: Normalize, Augment (train only)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8" name="Google Shape;338;p34"/>
          <p:cNvSpPr/>
          <p:nvPr/>
        </p:nvSpPr>
        <p:spPr>
          <a:xfrm>
            <a:off x="63250" y="4107375"/>
            <a:ext cx="1166400" cy="13209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latin typeface="Trebuchet MS"/>
                <a:ea typeface="Trebuchet MS"/>
                <a:cs typeface="Trebuchet MS"/>
                <a:sym typeface="Trebuchet MS"/>
              </a:rPr>
              <a:t>Efficient Former V2</a:t>
            </a:r>
            <a:r>
              <a:rPr lang="en-IN" sz="1300">
                <a:latin typeface="Trebuchet MS"/>
                <a:ea typeface="Trebuchet MS"/>
                <a:cs typeface="Trebuchet MS"/>
                <a:sym typeface="Trebuchet MS"/>
              </a:rPr>
              <a:t>-S</a:t>
            </a:r>
            <a:endParaRPr sz="13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latin typeface="Trebuchet MS"/>
                <a:ea typeface="Trebuchet MS"/>
                <a:cs typeface="Trebuchet MS"/>
                <a:sym typeface="Trebuchet MS"/>
              </a:rPr>
              <a:t>Vision Transformer</a:t>
            </a:r>
            <a:endParaRPr sz="13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latin typeface="Trebuchet MS"/>
                <a:ea typeface="Trebuchet MS"/>
                <a:cs typeface="Trebuchet MS"/>
                <a:sym typeface="Trebuchet MS"/>
              </a:rPr>
              <a:t>Task: Classification</a:t>
            </a:r>
            <a:endParaRPr sz="13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39" name="Google Shape;339;p34"/>
          <p:cNvCxnSpPr>
            <a:stCxn id="337" idx="2"/>
            <a:endCxn id="338" idx="0"/>
          </p:cNvCxnSpPr>
          <p:nvPr/>
        </p:nvCxnSpPr>
        <p:spPr>
          <a:xfrm>
            <a:off x="646450" y="3583275"/>
            <a:ext cx="0" cy="52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0" name="Google Shape;340;p34"/>
          <p:cNvSpPr/>
          <p:nvPr/>
        </p:nvSpPr>
        <p:spPr>
          <a:xfrm>
            <a:off x="4988975" y="5853875"/>
            <a:ext cx="1449000" cy="8583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ABCDE Aggregator Combine A-E features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1" name="Google Shape;341;p34"/>
          <p:cNvSpPr/>
          <p:nvPr/>
        </p:nvSpPr>
        <p:spPr>
          <a:xfrm>
            <a:off x="4946700" y="1505475"/>
            <a:ext cx="985200" cy="6471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Lesion Mask (SLS)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42" name="Google Shape;342;p34"/>
          <p:cNvCxnSpPr>
            <a:stCxn id="341" idx="1"/>
            <a:endCxn id="343" idx="0"/>
          </p:cNvCxnSpPr>
          <p:nvPr/>
        </p:nvCxnSpPr>
        <p:spPr>
          <a:xfrm flipH="1">
            <a:off x="3757500" y="1829025"/>
            <a:ext cx="1189200" cy="76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3" name="Google Shape;343;p34"/>
          <p:cNvSpPr/>
          <p:nvPr/>
        </p:nvSpPr>
        <p:spPr>
          <a:xfrm>
            <a:off x="3076425" y="2597063"/>
            <a:ext cx="1362000" cy="5796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Symmetry analysis (area overlap)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44" name="Google Shape;344;p34"/>
          <p:cNvCxnSpPr>
            <a:stCxn id="343" idx="2"/>
            <a:endCxn id="345" idx="0"/>
          </p:cNvCxnSpPr>
          <p:nvPr/>
        </p:nvCxnSpPr>
        <p:spPr>
          <a:xfrm>
            <a:off x="3757425" y="3176663"/>
            <a:ext cx="0" cy="72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5" name="Google Shape;345;p34"/>
          <p:cNvSpPr/>
          <p:nvPr/>
        </p:nvSpPr>
        <p:spPr>
          <a:xfrm>
            <a:off x="3119925" y="3905963"/>
            <a:ext cx="1275000" cy="6375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A (</a:t>
            </a: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Asymmetry</a:t>
            </a: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) Value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46" name="Google Shape;346;p34"/>
          <p:cNvCxnSpPr>
            <a:stCxn id="345" idx="2"/>
            <a:endCxn id="340" idx="0"/>
          </p:cNvCxnSpPr>
          <p:nvPr/>
        </p:nvCxnSpPr>
        <p:spPr>
          <a:xfrm>
            <a:off x="3757425" y="4543463"/>
            <a:ext cx="1956000" cy="131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7" name="Google Shape;347;p34"/>
          <p:cNvSpPr/>
          <p:nvPr/>
        </p:nvSpPr>
        <p:spPr>
          <a:xfrm>
            <a:off x="7898875" y="598800"/>
            <a:ext cx="985200" cy="11385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MedProc JSON (symptoms + history)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48" name="Google Shape;348;p34"/>
          <p:cNvCxnSpPr>
            <a:stCxn id="341" idx="2"/>
            <a:endCxn id="349" idx="0"/>
          </p:cNvCxnSpPr>
          <p:nvPr/>
        </p:nvCxnSpPr>
        <p:spPr>
          <a:xfrm>
            <a:off x="5439300" y="2152575"/>
            <a:ext cx="0" cy="44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9" name="Google Shape;349;p34"/>
          <p:cNvSpPr/>
          <p:nvPr/>
        </p:nvSpPr>
        <p:spPr>
          <a:xfrm>
            <a:off x="4856100" y="2597075"/>
            <a:ext cx="1166400" cy="5796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Max Distance / mm scaling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50" name="Google Shape;350;p34"/>
          <p:cNvCxnSpPr>
            <a:stCxn id="335" idx="2"/>
            <a:endCxn id="351" idx="0"/>
          </p:cNvCxnSpPr>
          <p:nvPr/>
        </p:nvCxnSpPr>
        <p:spPr>
          <a:xfrm>
            <a:off x="1415000" y="2152575"/>
            <a:ext cx="801600" cy="52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1" name="Google Shape;351;p34"/>
          <p:cNvSpPr/>
          <p:nvPr/>
        </p:nvSpPr>
        <p:spPr>
          <a:xfrm>
            <a:off x="1591238" y="2676675"/>
            <a:ext cx="1251000" cy="9066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Color Clustering/ Variance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52" name="Google Shape;352;p34"/>
          <p:cNvCxnSpPr>
            <a:stCxn id="351" idx="2"/>
            <a:endCxn id="353" idx="0"/>
          </p:cNvCxnSpPr>
          <p:nvPr/>
        </p:nvCxnSpPr>
        <p:spPr>
          <a:xfrm>
            <a:off x="2216738" y="3583275"/>
            <a:ext cx="0" cy="68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3" name="Google Shape;353;p34"/>
          <p:cNvSpPr/>
          <p:nvPr/>
        </p:nvSpPr>
        <p:spPr>
          <a:xfrm>
            <a:off x="1579250" y="4263400"/>
            <a:ext cx="1275000" cy="624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C (Color Variance) Value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54" name="Google Shape;354;p34"/>
          <p:cNvCxnSpPr>
            <a:stCxn id="353" idx="2"/>
            <a:endCxn id="340" idx="1"/>
          </p:cNvCxnSpPr>
          <p:nvPr/>
        </p:nvCxnSpPr>
        <p:spPr>
          <a:xfrm>
            <a:off x="2216750" y="4887700"/>
            <a:ext cx="2772300" cy="139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5" name="Google Shape;355;p34"/>
          <p:cNvCxnSpPr>
            <a:stCxn id="349" idx="2"/>
            <a:endCxn id="356" idx="0"/>
          </p:cNvCxnSpPr>
          <p:nvPr/>
        </p:nvCxnSpPr>
        <p:spPr>
          <a:xfrm>
            <a:off x="5439300" y="3176675"/>
            <a:ext cx="0" cy="73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6" name="Google Shape;356;p34"/>
          <p:cNvSpPr/>
          <p:nvPr/>
        </p:nvSpPr>
        <p:spPr>
          <a:xfrm>
            <a:off x="4856100" y="3911950"/>
            <a:ext cx="1166400" cy="624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D (Diameter) Value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57" name="Google Shape;357;p34"/>
          <p:cNvCxnSpPr>
            <a:stCxn id="356" idx="2"/>
            <a:endCxn id="340" idx="0"/>
          </p:cNvCxnSpPr>
          <p:nvPr/>
        </p:nvCxnSpPr>
        <p:spPr>
          <a:xfrm>
            <a:off x="5439300" y="4536250"/>
            <a:ext cx="274200" cy="131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8" name="Google Shape;358;p34"/>
          <p:cNvSpPr/>
          <p:nvPr/>
        </p:nvSpPr>
        <p:spPr>
          <a:xfrm>
            <a:off x="6283175" y="2416100"/>
            <a:ext cx="1251000" cy="8583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Contour Complexity (compactness, fractal dim)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59" name="Google Shape;359;p34"/>
          <p:cNvCxnSpPr>
            <a:stCxn id="358" idx="2"/>
            <a:endCxn id="360" idx="0"/>
          </p:cNvCxnSpPr>
          <p:nvPr/>
        </p:nvCxnSpPr>
        <p:spPr>
          <a:xfrm>
            <a:off x="6908675" y="3274400"/>
            <a:ext cx="36300" cy="63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0" name="Google Shape;360;p34"/>
          <p:cNvSpPr/>
          <p:nvPr/>
        </p:nvSpPr>
        <p:spPr>
          <a:xfrm>
            <a:off x="6319475" y="3905350"/>
            <a:ext cx="1251000" cy="6375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B ( Border Irregularity) Value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61" name="Google Shape;361;p34"/>
          <p:cNvCxnSpPr>
            <a:stCxn id="360" idx="2"/>
            <a:endCxn id="340" idx="0"/>
          </p:cNvCxnSpPr>
          <p:nvPr/>
        </p:nvCxnSpPr>
        <p:spPr>
          <a:xfrm flipH="1">
            <a:off x="5713475" y="4542850"/>
            <a:ext cx="1231500" cy="131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2" name="Google Shape;362;p34"/>
          <p:cNvCxnSpPr>
            <a:stCxn id="347" idx="2"/>
            <a:endCxn id="363" idx="0"/>
          </p:cNvCxnSpPr>
          <p:nvPr/>
        </p:nvCxnSpPr>
        <p:spPr>
          <a:xfrm>
            <a:off x="8391475" y="1737300"/>
            <a:ext cx="0" cy="59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3" name="Google Shape;363;p34"/>
          <p:cNvSpPr/>
          <p:nvPr/>
        </p:nvSpPr>
        <p:spPr>
          <a:xfrm>
            <a:off x="7855375" y="2333300"/>
            <a:ext cx="1072200" cy="10239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Temporal changes (growth, symptoms)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64" name="Google Shape;364;p34"/>
          <p:cNvCxnSpPr>
            <a:stCxn id="363" idx="2"/>
            <a:endCxn id="365" idx="0"/>
          </p:cNvCxnSpPr>
          <p:nvPr/>
        </p:nvCxnSpPr>
        <p:spPr>
          <a:xfrm flipH="1">
            <a:off x="8369875" y="3357200"/>
            <a:ext cx="21600" cy="42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6" name="Google Shape;366;p34"/>
          <p:cNvCxnSpPr>
            <a:stCxn id="341" idx="3"/>
            <a:endCxn id="358" idx="0"/>
          </p:cNvCxnSpPr>
          <p:nvPr/>
        </p:nvCxnSpPr>
        <p:spPr>
          <a:xfrm>
            <a:off x="5931900" y="1829025"/>
            <a:ext cx="976800" cy="58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5" name="Google Shape;365;p34"/>
          <p:cNvSpPr/>
          <p:nvPr/>
        </p:nvSpPr>
        <p:spPr>
          <a:xfrm>
            <a:off x="7833625" y="3786500"/>
            <a:ext cx="1072200" cy="7680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E (Evolution) Value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67" name="Google Shape;367;p34"/>
          <p:cNvCxnSpPr>
            <a:stCxn id="365" idx="2"/>
            <a:endCxn id="340" idx="3"/>
          </p:cNvCxnSpPr>
          <p:nvPr/>
        </p:nvCxnSpPr>
        <p:spPr>
          <a:xfrm flipH="1">
            <a:off x="6438025" y="4554500"/>
            <a:ext cx="1931700" cy="172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8" name="Google Shape;368;p34"/>
          <p:cNvCxnSpPr>
            <a:stCxn id="340" idx="1"/>
            <a:endCxn id="369" idx="3"/>
          </p:cNvCxnSpPr>
          <p:nvPr/>
        </p:nvCxnSpPr>
        <p:spPr>
          <a:xfrm rot="10800000">
            <a:off x="3013775" y="6193925"/>
            <a:ext cx="1975200" cy="8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9" name="Google Shape;369;p34"/>
          <p:cNvSpPr/>
          <p:nvPr/>
        </p:nvSpPr>
        <p:spPr>
          <a:xfrm>
            <a:off x="1651675" y="5853875"/>
            <a:ext cx="1362000" cy="6801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Output: Class Label + ABCDE JSON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70" name="Google Shape;370;p34"/>
          <p:cNvCxnSpPr>
            <a:stCxn id="338" idx="2"/>
            <a:endCxn id="369" idx="1"/>
          </p:cNvCxnSpPr>
          <p:nvPr/>
        </p:nvCxnSpPr>
        <p:spPr>
          <a:xfrm>
            <a:off x="646450" y="5428275"/>
            <a:ext cx="1005300" cy="76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1" name="Google Shape;371;p34"/>
          <p:cNvSpPr/>
          <p:nvPr/>
        </p:nvSpPr>
        <p:spPr>
          <a:xfrm>
            <a:off x="1477850" y="2492050"/>
            <a:ext cx="1449000" cy="2839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2" name="Google Shape;372;p34"/>
          <p:cNvSpPr/>
          <p:nvPr/>
        </p:nvSpPr>
        <p:spPr>
          <a:xfrm>
            <a:off x="3013525" y="1439225"/>
            <a:ext cx="4559400" cy="5312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3" name="Google Shape;373;p34"/>
          <p:cNvSpPr/>
          <p:nvPr/>
        </p:nvSpPr>
        <p:spPr>
          <a:xfrm>
            <a:off x="7707900" y="280125"/>
            <a:ext cx="1362000" cy="4607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5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88888"/>
              <a:buFont typeface="Trebuchet MS"/>
              <a:buNone/>
            </a:pPr>
            <a:r>
              <a:rPr lang="en-IN"/>
              <a:t>Stages of Project IV – Hierarchical Classification + ABCDE</a:t>
            </a:r>
            <a:endParaRPr/>
          </a:p>
        </p:txBody>
      </p:sp>
      <p:graphicFrame>
        <p:nvGraphicFramePr>
          <p:cNvPr id="379" name="Google Shape;379;p35"/>
          <p:cNvGraphicFramePr/>
          <p:nvPr/>
        </p:nvGraphicFramePr>
        <p:xfrm>
          <a:off x="609600" y="2160588"/>
          <a:ext cx="3000000" cy="3000000"/>
        </p:xfrm>
        <a:graphic>
          <a:graphicData uri="http://schemas.openxmlformats.org/drawingml/2006/table">
            <a:tbl>
              <a:tblPr bandRow="1" firstCol="1" firstRow="1" lastCol="1">
                <a:noFill/>
                <a:tableStyleId>{B584804D-C5FD-4781-B5ED-083A65130E3D}</a:tableStyleId>
              </a:tblPr>
              <a:tblGrid>
                <a:gridCol w="3174200"/>
                <a:gridCol w="3174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Models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EfficientFormerV2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Input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Cropped ROI(224*224)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Outputs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Lesion Class (Melanoma, Benign, etc) + ABCDE values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Task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Classify lesion + generate explainable ABCD metrics.</a:t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Evaluation Metrics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800">
                          <a:solidFill>
                            <a:schemeClr val="lt1"/>
                          </a:solidFill>
                        </a:rPr>
                        <a:t>Accuracy: ~87-90%</a:t>
                      </a:r>
                      <a:br>
                        <a:rPr lang="en-IN" sz="1800"/>
                      </a:br>
                      <a:r>
                        <a:rPr b="0" lang="en-IN" sz="1800">
                          <a:solidFill>
                            <a:schemeClr val="lt1"/>
                          </a:solidFill>
                        </a:rPr>
                        <a:t>F1-score: ~0.88</a:t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Paper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800" u="sng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https://arxiv.org/abs/2301.10077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6"/>
          <p:cNvSpPr txBox="1"/>
          <p:nvPr>
            <p:ph type="title"/>
          </p:nvPr>
        </p:nvSpPr>
        <p:spPr>
          <a:xfrm>
            <a:off x="609599" y="609600"/>
            <a:ext cx="6347713" cy="7694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Stages of Project V - MedProc</a:t>
            </a:r>
            <a:endParaRPr/>
          </a:p>
        </p:txBody>
      </p:sp>
      <p:graphicFrame>
        <p:nvGraphicFramePr>
          <p:cNvPr id="385" name="Google Shape;385;p36"/>
          <p:cNvGraphicFramePr/>
          <p:nvPr/>
        </p:nvGraphicFramePr>
        <p:xfrm>
          <a:off x="3897443" y="1342119"/>
          <a:ext cx="3000000" cy="3000000"/>
        </p:xfrm>
        <a:graphic>
          <a:graphicData uri="http://schemas.openxmlformats.org/drawingml/2006/table">
            <a:tbl>
              <a:tblPr bandRow="1" firstCol="1" firstRow="1" lastCol="1">
                <a:noFill/>
                <a:tableStyleId>{B584804D-C5FD-4781-B5ED-083A65130E3D}</a:tableStyleId>
              </a:tblPr>
              <a:tblGrid>
                <a:gridCol w="2236025"/>
                <a:gridCol w="22360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Model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BioBERT</a:t>
                      </a:r>
                      <a:endParaRPr sz="1500"/>
                    </a:p>
                  </a:txBody>
                  <a:tcPr marT="45725" marB="45725" marR="91450" marL="91450">
                    <a:noFill/>
                  </a:tcPr>
                </a:tc>
              </a:tr>
              <a:tr h="23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Inputs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Medical History (Text) + Medical Report(size &lt;= 5MB)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Output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JSON Value(Symptoms+Suggestion + E Value)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Task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Extract relevant clinical info from reports.</a:t>
                      </a:r>
                      <a:endParaRPr sz="1500"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Evaluation Metrics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500">
                          <a:solidFill>
                            <a:schemeClr val="lt1"/>
                          </a:solidFill>
                        </a:rPr>
                        <a:t>F1-score: 0.85-0.88</a:t>
                      </a:r>
                      <a:br>
                        <a:rPr lang="en-IN" sz="1500"/>
                      </a:br>
                      <a:r>
                        <a:rPr b="0" lang="en-IN" sz="1500">
                          <a:solidFill>
                            <a:schemeClr val="lt1"/>
                          </a:solidFill>
                        </a:rPr>
                        <a:t>Precision/Recall: ~0.85-0.90</a:t>
                      </a:r>
                      <a:endParaRPr sz="1500"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Paper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500" u="sng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https://academic.oup.com/bioinformatics/article/36/4/1234/5566506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noFill/>
                  </a:tcPr>
                </a:tc>
              </a:tr>
            </a:tbl>
          </a:graphicData>
        </a:graphic>
      </p:graphicFrame>
      <p:sp>
        <p:nvSpPr>
          <p:cNvPr id="386" name="Google Shape;386;p36"/>
          <p:cNvSpPr/>
          <p:nvPr/>
        </p:nvSpPr>
        <p:spPr>
          <a:xfrm>
            <a:off x="125575" y="1748300"/>
            <a:ext cx="1284600" cy="5313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Medical Text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7" name="Google Shape;387;p36"/>
          <p:cNvSpPr/>
          <p:nvPr/>
        </p:nvSpPr>
        <p:spPr>
          <a:xfrm>
            <a:off x="2260250" y="1719325"/>
            <a:ext cx="1284600" cy="5313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Medical Report &lt;= 5MB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88" name="Google Shape;388;p36"/>
          <p:cNvCxnSpPr>
            <a:stCxn id="386" idx="2"/>
            <a:endCxn id="389" idx="0"/>
          </p:cNvCxnSpPr>
          <p:nvPr/>
        </p:nvCxnSpPr>
        <p:spPr>
          <a:xfrm>
            <a:off x="767875" y="2279600"/>
            <a:ext cx="1149300" cy="5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9" name="Google Shape;389;p36"/>
          <p:cNvSpPr/>
          <p:nvPr/>
        </p:nvSpPr>
        <p:spPr>
          <a:xfrm>
            <a:off x="289775" y="2878425"/>
            <a:ext cx="3255000" cy="4734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Preproc: OCR(PDF) Cleanup + Tokenization &lt;=512 tokens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90" name="Google Shape;390;p36"/>
          <p:cNvCxnSpPr>
            <a:stCxn id="387" idx="2"/>
            <a:endCxn id="389" idx="0"/>
          </p:cNvCxnSpPr>
          <p:nvPr/>
        </p:nvCxnSpPr>
        <p:spPr>
          <a:xfrm flipH="1">
            <a:off x="1917350" y="2250625"/>
            <a:ext cx="985200" cy="62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1" name="Google Shape;391;p36"/>
          <p:cNvCxnSpPr>
            <a:stCxn id="389" idx="2"/>
          </p:cNvCxnSpPr>
          <p:nvPr/>
        </p:nvCxnSpPr>
        <p:spPr>
          <a:xfrm flipH="1">
            <a:off x="1912475" y="3351825"/>
            <a:ext cx="4800" cy="80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2" name="Google Shape;392;p36"/>
          <p:cNvSpPr/>
          <p:nvPr/>
        </p:nvSpPr>
        <p:spPr>
          <a:xfrm>
            <a:off x="287375" y="4153425"/>
            <a:ext cx="3255000" cy="5988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BioBERT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Clinical NLP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Task: Entity &amp; Evolution Extraction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93" name="Google Shape;393;p36"/>
          <p:cNvCxnSpPr>
            <a:stCxn id="392" idx="2"/>
          </p:cNvCxnSpPr>
          <p:nvPr/>
        </p:nvCxnSpPr>
        <p:spPr>
          <a:xfrm>
            <a:off x="1914875" y="4752225"/>
            <a:ext cx="7200" cy="72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4" name="Google Shape;394;p36"/>
          <p:cNvSpPr/>
          <p:nvPr/>
        </p:nvSpPr>
        <p:spPr>
          <a:xfrm>
            <a:off x="247475" y="5476725"/>
            <a:ext cx="3342000" cy="531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Output: JSON (symptoms + treatment + E value)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7"/>
          <p:cNvSpPr txBox="1"/>
          <p:nvPr>
            <p:ph type="title"/>
          </p:nvPr>
        </p:nvSpPr>
        <p:spPr>
          <a:xfrm>
            <a:off x="435749" y="60650"/>
            <a:ext cx="6347700" cy="13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Stages of Project VI – IT Fusion (Image + Text)</a:t>
            </a:r>
            <a:endParaRPr/>
          </a:p>
        </p:txBody>
      </p:sp>
      <p:graphicFrame>
        <p:nvGraphicFramePr>
          <p:cNvPr id="400" name="Google Shape;400;p37"/>
          <p:cNvGraphicFramePr/>
          <p:nvPr/>
        </p:nvGraphicFramePr>
        <p:xfrm>
          <a:off x="4318985" y="1270001"/>
          <a:ext cx="3000000" cy="3000000"/>
        </p:xfrm>
        <a:graphic>
          <a:graphicData uri="http://schemas.openxmlformats.org/drawingml/2006/table">
            <a:tbl>
              <a:tblPr bandRow="1" firstCol="1" firstRow="1" lastCol="1">
                <a:noFill/>
                <a:tableStyleId>{B584804D-C5FD-4781-B5ED-083A65130E3D}</a:tableStyleId>
              </a:tblPr>
              <a:tblGrid>
                <a:gridCol w="2203575"/>
                <a:gridCol w="2203575"/>
              </a:tblGrid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Model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MARIA (</a:t>
                      </a:r>
                      <a:r>
                        <a:rPr b="0" i="0" lang="en-IN" sz="180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Multimodal Augmented Representation</a:t>
                      </a:r>
                      <a:r>
                        <a:rPr lang="en-IN" sz="1500"/>
                        <a:t>)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Inputs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From HC → Lesion class + ABCD values.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From MedProc → Entities + E value.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Output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Risk JSON (class, ABCDE, risk score, evidence</a:t>
                      </a:r>
                      <a:endParaRPr sz="1500"/>
                    </a:p>
                  </a:txBody>
                  <a:tcPr marT="45725" marB="45725" marR="91450" marL="91450">
                    <a:noFill/>
                  </a:tcPr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Task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Align multimodal features (image + text)</a:t>
                      </a:r>
                      <a:endParaRPr sz="1500"/>
                    </a:p>
                  </a:txBody>
                  <a:tcPr marT="45725" marB="45725" marR="91450" marL="91450">
                    <a:noFill/>
                  </a:tcPr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Evaluation Metrics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500">
                          <a:solidFill>
                            <a:schemeClr val="lt1"/>
                          </a:solidFill>
                        </a:rPr>
                        <a:t>Accuracy: ~90%</a:t>
                      </a:r>
                      <a:br>
                        <a:rPr lang="en-IN" sz="1500"/>
                      </a:br>
                      <a:r>
                        <a:rPr b="0" lang="en-IN" sz="1500">
                          <a:solidFill>
                            <a:schemeClr val="lt1"/>
                          </a:solidFill>
                        </a:rPr>
                        <a:t>Robustness to missing data</a:t>
                      </a:r>
                      <a:endParaRPr sz="1500"/>
                    </a:p>
                  </a:txBody>
                  <a:tcPr marT="45725" marB="45725" marR="91450" marL="91450">
                    <a:noFill/>
                  </a:tcPr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Paper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800" u="sng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https://www.frontiersin.org/articles/10.3389/frai.2025.1608837/full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noFill/>
                  </a:tcPr>
                </a:tc>
              </a:tr>
            </a:tbl>
          </a:graphicData>
        </a:graphic>
      </p:graphicFrame>
      <p:sp>
        <p:nvSpPr>
          <p:cNvPr id="401" name="Google Shape;401;p37"/>
          <p:cNvSpPr/>
          <p:nvPr/>
        </p:nvSpPr>
        <p:spPr>
          <a:xfrm>
            <a:off x="202850" y="2018775"/>
            <a:ext cx="1101000" cy="6279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MedProc JSON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2" name="Google Shape;402;p37"/>
          <p:cNvSpPr/>
          <p:nvPr/>
        </p:nvSpPr>
        <p:spPr>
          <a:xfrm>
            <a:off x="2337525" y="2038125"/>
            <a:ext cx="1477800" cy="6279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HC Output (Class + ABCDE)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403" name="Google Shape;403;p37"/>
          <p:cNvCxnSpPr>
            <a:stCxn id="401" idx="2"/>
            <a:endCxn id="404" idx="0"/>
          </p:cNvCxnSpPr>
          <p:nvPr/>
        </p:nvCxnSpPr>
        <p:spPr>
          <a:xfrm>
            <a:off x="753350" y="2646675"/>
            <a:ext cx="1256700" cy="63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5" name="Google Shape;405;p37"/>
          <p:cNvCxnSpPr>
            <a:stCxn id="402" idx="2"/>
            <a:endCxn id="404" idx="0"/>
          </p:cNvCxnSpPr>
          <p:nvPr/>
        </p:nvCxnSpPr>
        <p:spPr>
          <a:xfrm flipH="1">
            <a:off x="2010225" y="2666025"/>
            <a:ext cx="1066200" cy="61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4" name="Google Shape;404;p37"/>
          <p:cNvSpPr/>
          <p:nvPr/>
        </p:nvSpPr>
        <p:spPr>
          <a:xfrm>
            <a:off x="609600" y="3284000"/>
            <a:ext cx="2801100" cy="4734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Preproc: Feature Alignment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406" name="Google Shape;406;p37"/>
          <p:cNvCxnSpPr>
            <a:stCxn id="404" idx="2"/>
          </p:cNvCxnSpPr>
          <p:nvPr/>
        </p:nvCxnSpPr>
        <p:spPr>
          <a:xfrm flipH="1">
            <a:off x="2009250" y="3757400"/>
            <a:ext cx="900" cy="5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7" name="Google Shape;407;p37"/>
          <p:cNvSpPr/>
          <p:nvPr/>
        </p:nvSpPr>
        <p:spPr>
          <a:xfrm>
            <a:off x="1015200" y="4279100"/>
            <a:ext cx="1989900" cy="473400"/>
          </a:xfrm>
          <a:prstGeom prst="rect">
            <a:avLst/>
          </a:prstGeom>
          <a:solidFill>
            <a:srgbClr val="CC412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MARIA Model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Task: Image-Text Fusion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408" name="Google Shape;408;p37"/>
          <p:cNvCxnSpPr>
            <a:stCxn id="407" idx="2"/>
            <a:endCxn id="409" idx="0"/>
          </p:cNvCxnSpPr>
          <p:nvPr/>
        </p:nvCxnSpPr>
        <p:spPr>
          <a:xfrm flipH="1">
            <a:off x="2009550" y="4752500"/>
            <a:ext cx="600" cy="70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9" name="Google Shape;409;p37"/>
          <p:cNvSpPr/>
          <p:nvPr/>
        </p:nvSpPr>
        <p:spPr>
          <a:xfrm>
            <a:off x="1381350" y="5457375"/>
            <a:ext cx="1256700" cy="7050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Output: Risk JSON (score + evidence)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0" name="Google Shape;410;p37"/>
          <p:cNvSpPr/>
          <p:nvPr/>
        </p:nvSpPr>
        <p:spPr>
          <a:xfrm>
            <a:off x="0" y="1356100"/>
            <a:ext cx="3969900" cy="5212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8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Stages of Project VII – VQA</a:t>
            </a:r>
            <a:endParaRPr/>
          </a:p>
        </p:txBody>
      </p:sp>
      <p:graphicFrame>
        <p:nvGraphicFramePr>
          <p:cNvPr id="416" name="Google Shape;416;p38"/>
          <p:cNvGraphicFramePr/>
          <p:nvPr/>
        </p:nvGraphicFramePr>
        <p:xfrm>
          <a:off x="4318985" y="1270001"/>
          <a:ext cx="3000000" cy="3000000"/>
        </p:xfrm>
        <a:graphic>
          <a:graphicData uri="http://schemas.openxmlformats.org/drawingml/2006/table">
            <a:tbl>
              <a:tblPr bandRow="1" firstCol="1" firstRow="1" lastCol="1">
                <a:noFill/>
                <a:tableStyleId>{B584804D-C5FD-4781-B5ED-083A65130E3D}</a:tableStyleId>
              </a:tblPr>
              <a:tblGrid>
                <a:gridCol w="2203575"/>
                <a:gridCol w="2203575"/>
              </a:tblGrid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Model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R-LLaVa</a:t>
                      </a:r>
                      <a:endParaRPr sz="1500"/>
                    </a:p>
                  </a:txBody>
                  <a:tcPr marT="45725" marB="45725" marR="91450" marL="91450">
                    <a:noFill/>
                  </a:tcPr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Inputs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Question + ROI Image + IT Fusion JSON.</a:t>
                      </a:r>
                      <a:endParaRPr sz="1500"/>
                    </a:p>
                  </a:txBody>
                  <a:tcPr marT="45725" marB="45725" marR="91450" marL="91450">
                    <a:noFill/>
                  </a:tcPr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Output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Natural language answer + supporting evidence.</a:t>
                      </a:r>
                      <a:endParaRPr sz="1500"/>
                    </a:p>
                  </a:txBody>
                  <a:tcPr marT="45725" marB="45725" marR="91450" marL="91450">
                    <a:noFill/>
                  </a:tcPr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Task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Answer clinician/patient queries in interactive way.</a:t>
                      </a:r>
                      <a:endParaRPr sz="1500"/>
                    </a:p>
                  </a:txBody>
                  <a:tcPr marT="45725" marB="45725" marR="91450" marL="91450">
                    <a:noFill/>
                  </a:tcPr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Evaluation Metrics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500">
                          <a:solidFill>
                            <a:schemeClr val="lt1"/>
                          </a:solidFill>
                        </a:rPr>
                        <a:t>Accuracy: ~85-88%</a:t>
                      </a:r>
                      <a:br>
                        <a:rPr lang="en-IN" sz="1500"/>
                      </a:br>
                      <a:r>
                        <a:rPr b="0" lang="en-IN" sz="1500">
                          <a:solidFill>
                            <a:schemeClr val="lt1"/>
                          </a:solidFill>
                        </a:rPr>
                        <a:t>BLEU: 0.65-0.70</a:t>
                      </a:r>
                      <a:br>
                        <a:rPr lang="en-IN" sz="1500"/>
                      </a:br>
                      <a:r>
                        <a:rPr b="0" lang="en-IN" sz="1500">
                          <a:solidFill>
                            <a:schemeClr val="lt1"/>
                          </a:solidFill>
                        </a:rPr>
                        <a:t>Expert agreement: ~75-80%</a:t>
                      </a:r>
                      <a:endParaRPr sz="1500"/>
                    </a:p>
                  </a:txBody>
                  <a:tcPr marT="45725" marB="45725" marR="91450" marL="91450">
                    <a:noFill/>
                  </a:tcPr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Paper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500" u="sng">
                          <a:solidFill>
                            <a:schemeClr val="lt1"/>
                          </a:solidFill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https://powerdrill.ai/discover/discover-R-LLaVA-Improving-Med-VQA-cm2uxqs320whv016kwr2clma0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noFill/>
                  </a:tcPr>
                </a:tc>
              </a:tr>
            </a:tbl>
          </a:graphicData>
        </a:graphic>
      </p:graphicFrame>
      <p:sp>
        <p:nvSpPr>
          <p:cNvPr id="417" name="Google Shape;417;p38"/>
          <p:cNvSpPr/>
          <p:nvPr/>
        </p:nvSpPr>
        <p:spPr>
          <a:xfrm>
            <a:off x="202850" y="1680725"/>
            <a:ext cx="975600" cy="6375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ROI (224x224)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8" name="Google Shape;418;p38"/>
          <p:cNvSpPr/>
          <p:nvPr/>
        </p:nvSpPr>
        <p:spPr>
          <a:xfrm>
            <a:off x="1951150" y="1661375"/>
            <a:ext cx="1728900" cy="6762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Question &lt;= 128 tokens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9" name="Google Shape;419;p38"/>
          <p:cNvSpPr/>
          <p:nvPr/>
        </p:nvSpPr>
        <p:spPr>
          <a:xfrm>
            <a:off x="1864225" y="3197175"/>
            <a:ext cx="2211900" cy="5721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Preproc: Tokenize Question, Normalize ROI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0" name="Google Shape;420;p38"/>
          <p:cNvSpPr/>
          <p:nvPr/>
        </p:nvSpPr>
        <p:spPr>
          <a:xfrm>
            <a:off x="386375" y="3164475"/>
            <a:ext cx="869400" cy="5721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IT JSON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421" name="Google Shape;421;p38"/>
          <p:cNvCxnSpPr>
            <a:stCxn id="417" idx="2"/>
          </p:cNvCxnSpPr>
          <p:nvPr/>
        </p:nvCxnSpPr>
        <p:spPr>
          <a:xfrm flipH="1" rot="-5400000">
            <a:off x="1567250" y="1441625"/>
            <a:ext cx="502200" cy="2255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" name="Google Shape;422;p38"/>
          <p:cNvCxnSpPr>
            <a:stCxn id="418" idx="3"/>
          </p:cNvCxnSpPr>
          <p:nvPr/>
        </p:nvCxnSpPr>
        <p:spPr>
          <a:xfrm flipH="1">
            <a:off x="3100450" y="1999475"/>
            <a:ext cx="579600" cy="647100"/>
          </a:xfrm>
          <a:prstGeom prst="bentConnector4">
            <a:avLst>
              <a:gd fmla="val -41084" name="adj1"/>
              <a:gd fmla="val 76124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" name="Google Shape;423;p38"/>
          <p:cNvCxnSpPr>
            <a:endCxn id="419" idx="0"/>
          </p:cNvCxnSpPr>
          <p:nvPr/>
        </p:nvCxnSpPr>
        <p:spPr>
          <a:xfrm>
            <a:off x="2917075" y="2801175"/>
            <a:ext cx="53100" cy="39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4" name="Google Shape;424;p38"/>
          <p:cNvCxnSpPr>
            <a:endCxn id="419" idx="0"/>
          </p:cNvCxnSpPr>
          <p:nvPr/>
        </p:nvCxnSpPr>
        <p:spPr>
          <a:xfrm flipH="1">
            <a:off x="2970175" y="2530575"/>
            <a:ext cx="120600" cy="66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5" name="Google Shape;425;p38"/>
          <p:cNvSpPr/>
          <p:nvPr/>
        </p:nvSpPr>
        <p:spPr>
          <a:xfrm>
            <a:off x="1168750" y="4607425"/>
            <a:ext cx="2096100" cy="6471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R-LLaVA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Vision +Language Q&amp;A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426" name="Google Shape;426;p38"/>
          <p:cNvCxnSpPr>
            <a:stCxn id="420" idx="2"/>
          </p:cNvCxnSpPr>
          <p:nvPr/>
        </p:nvCxnSpPr>
        <p:spPr>
          <a:xfrm flipH="1">
            <a:off x="811475" y="3736575"/>
            <a:ext cx="9600" cy="118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" name="Google Shape;427;p38"/>
          <p:cNvCxnSpPr>
            <a:endCxn id="425" idx="1"/>
          </p:cNvCxnSpPr>
          <p:nvPr/>
        </p:nvCxnSpPr>
        <p:spPr>
          <a:xfrm flipH="1" rot="10800000">
            <a:off x="801550" y="4930975"/>
            <a:ext cx="3672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8" name="Google Shape;428;p38"/>
          <p:cNvCxnSpPr>
            <a:stCxn id="419" idx="2"/>
            <a:endCxn id="425" idx="0"/>
          </p:cNvCxnSpPr>
          <p:nvPr/>
        </p:nvCxnSpPr>
        <p:spPr>
          <a:xfrm flipH="1">
            <a:off x="2216875" y="3769275"/>
            <a:ext cx="753300" cy="83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9" name="Google Shape;429;p38"/>
          <p:cNvCxnSpPr>
            <a:stCxn id="425" idx="2"/>
          </p:cNvCxnSpPr>
          <p:nvPr/>
        </p:nvCxnSpPr>
        <p:spPr>
          <a:xfrm flipH="1">
            <a:off x="2212000" y="5254525"/>
            <a:ext cx="4800" cy="57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0" name="Google Shape;430;p38"/>
          <p:cNvSpPr/>
          <p:nvPr/>
        </p:nvSpPr>
        <p:spPr>
          <a:xfrm>
            <a:off x="977950" y="5824525"/>
            <a:ext cx="2472900" cy="6762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Output: Answer + Evidence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31" name="Google Shape;431;p38"/>
          <p:cNvSpPr/>
          <p:nvPr/>
        </p:nvSpPr>
        <p:spPr>
          <a:xfrm>
            <a:off x="38625" y="1255700"/>
            <a:ext cx="4221000" cy="5496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9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Stagewise Datasets</a:t>
            </a:r>
            <a:endParaRPr/>
          </a:p>
        </p:txBody>
      </p:sp>
      <p:graphicFrame>
        <p:nvGraphicFramePr>
          <p:cNvPr id="437" name="Google Shape;437;p39"/>
          <p:cNvGraphicFramePr/>
          <p:nvPr/>
        </p:nvGraphicFramePr>
        <p:xfrm>
          <a:off x="609600" y="1635933"/>
          <a:ext cx="3000000" cy="3000000"/>
        </p:xfrm>
        <a:graphic>
          <a:graphicData uri="http://schemas.openxmlformats.org/drawingml/2006/table">
            <a:tbl>
              <a:tblPr bandRow="1" firstCol="1" firstRow="1" lastCol="1">
                <a:noFill/>
                <a:tableStyleId>{B584804D-C5FD-4781-B5ED-083A65130E3D}</a:tableStyleId>
              </a:tblPr>
              <a:tblGrid>
                <a:gridCol w="3174200"/>
                <a:gridCol w="3174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Stages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Datasets required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SLS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ISIC 2016,2017,2018 PH2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ROI Cropping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Same as SLS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HC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ISIC 2018, PH2, Derm7pt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MedProc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MIMIC-III, MIMIC-IV, PAD-UFES-20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IT Fusion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PAD-UFES-20, Custom Combination (HAM10000+MIMIC Reports), Derm7pt (Lesion+Attributes)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VQA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MedVQA, DermaVQA, Custom Dataset (HAM10000+PAD-UFES-20+reports) generate QA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0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Development </a:t>
            </a:r>
            <a:endParaRPr/>
          </a:p>
        </p:txBody>
      </p:sp>
      <p:sp>
        <p:nvSpPr>
          <p:cNvPr id="443" name="Google Shape;443;p40"/>
          <p:cNvSpPr/>
          <p:nvPr/>
        </p:nvSpPr>
        <p:spPr>
          <a:xfrm>
            <a:off x="251150" y="1866550"/>
            <a:ext cx="1728900" cy="7632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Preprocessing Image Resize/ OCR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Output: Cleaned data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444" name="Google Shape;444;p40"/>
          <p:cNvCxnSpPr>
            <a:stCxn id="443" idx="3"/>
            <a:endCxn id="445" idx="1"/>
          </p:cNvCxnSpPr>
          <p:nvPr/>
        </p:nvCxnSpPr>
        <p:spPr>
          <a:xfrm>
            <a:off x="1980050" y="2248150"/>
            <a:ext cx="5892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5" name="Google Shape;445;p40"/>
          <p:cNvSpPr/>
          <p:nvPr/>
        </p:nvSpPr>
        <p:spPr>
          <a:xfrm>
            <a:off x="2569325" y="1786900"/>
            <a:ext cx="1957800" cy="92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SLS (ARCUNet)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Input Image: 512x512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 Output: Lesion Mask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446" name="Google Shape;446;p40"/>
          <p:cNvCxnSpPr>
            <a:stCxn id="445" idx="3"/>
          </p:cNvCxnSpPr>
          <p:nvPr/>
        </p:nvCxnSpPr>
        <p:spPr>
          <a:xfrm flipH="1" rot="10800000">
            <a:off x="4527125" y="2245750"/>
            <a:ext cx="8628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7" name="Google Shape;447;p40"/>
          <p:cNvSpPr/>
          <p:nvPr/>
        </p:nvSpPr>
        <p:spPr>
          <a:xfrm>
            <a:off x="5389950" y="1784500"/>
            <a:ext cx="2318100" cy="9273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SLRC (OpenCV + Connected Components)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Input: Image + Mask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Output: ROI Crop 224  x 224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448" name="Google Shape;448;p40"/>
          <p:cNvCxnSpPr>
            <a:stCxn id="447" idx="2"/>
          </p:cNvCxnSpPr>
          <p:nvPr/>
        </p:nvCxnSpPr>
        <p:spPr>
          <a:xfrm>
            <a:off x="6549000" y="2711800"/>
            <a:ext cx="14400" cy="83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9" name="Google Shape;449;p40"/>
          <p:cNvSpPr/>
          <p:nvPr/>
        </p:nvSpPr>
        <p:spPr>
          <a:xfrm>
            <a:off x="5389950" y="3544900"/>
            <a:ext cx="2318100" cy="10143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HC EfficientFormerV2-s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Input: ROI Crop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Output: Lesion Class + ABCD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50" name="Google Shape;450;p40"/>
          <p:cNvSpPr/>
          <p:nvPr/>
        </p:nvSpPr>
        <p:spPr>
          <a:xfrm>
            <a:off x="5389950" y="5380150"/>
            <a:ext cx="2257200" cy="833100"/>
          </a:xfrm>
          <a:prstGeom prst="rect">
            <a:avLst/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MedProc (BIOBert)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Input: Text &lt;= 512 tokens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Output: Entities + E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51" name="Google Shape;451;p40"/>
          <p:cNvSpPr/>
          <p:nvPr/>
        </p:nvSpPr>
        <p:spPr>
          <a:xfrm>
            <a:off x="2636950" y="4452875"/>
            <a:ext cx="1890300" cy="927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IT Fusion (MARIA)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Input: HC + MedProc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Output: Risk JSON (ABCDE + Evidence)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452" name="Google Shape;452;p40"/>
          <p:cNvCxnSpPr>
            <a:stCxn id="449" idx="1"/>
            <a:endCxn id="451" idx="3"/>
          </p:cNvCxnSpPr>
          <p:nvPr/>
        </p:nvCxnSpPr>
        <p:spPr>
          <a:xfrm flipH="1">
            <a:off x="4527150" y="4052050"/>
            <a:ext cx="862800" cy="86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3" name="Google Shape;453;p40"/>
          <p:cNvCxnSpPr>
            <a:stCxn id="450" idx="1"/>
            <a:endCxn id="451" idx="3"/>
          </p:cNvCxnSpPr>
          <p:nvPr/>
        </p:nvCxnSpPr>
        <p:spPr>
          <a:xfrm rot="10800000">
            <a:off x="4527150" y="4916500"/>
            <a:ext cx="862800" cy="8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4" name="Google Shape;454;p40"/>
          <p:cNvCxnSpPr>
            <a:stCxn id="451" idx="1"/>
            <a:endCxn id="455" idx="3"/>
          </p:cNvCxnSpPr>
          <p:nvPr/>
        </p:nvCxnSpPr>
        <p:spPr>
          <a:xfrm flipH="1">
            <a:off x="1902850" y="4916525"/>
            <a:ext cx="7341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5" name="Google Shape;455;p40"/>
          <p:cNvSpPr/>
          <p:nvPr/>
        </p:nvSpPr>
        <p:spPr>
          <a:xfrm>
            <a:off x="328250" y="4390025"/>
            <a:ext cx="1574700" cy="1062600"/>
          </a:xfrm>
          <a:prstGeom prst="rect">
            <a:avLst/>
          </a:prstGeom>
          <a:solidFill>
            <a:srgbClr val="DD7E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VQA (R-LLaVA)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Input: Question + ROI +JSON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Output: Answer + Evidence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56" name="Google Shape;456;p40"/>
          <p:cNvSpPr/>
          <p:nvPr/>
        </p:nvSpPr>
        <p:spPr>
          <a:xfrm>
            <a:off x="48300" y="1410225"/>
            <a:ext cx="8258700" cy="4926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1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Experimental Setup &amp; Preprocessing   </a:t>
            </a:r>
            <a:endParaRPr/>
          </a:p>
        </p:txBody>
      </p:sp>
      <p:sp>
        <p:nvSpPr>
          <p:cNvPr id="462" name="Google Shape;462;p41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59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Image size: 224×224 / 512×512.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Text: ≤512 tokens.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Hardware: NVIDIA GPU, PyTorch, FastAPI, React.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Preprocessing: Hair removal, OCR for PDF, Tokenization.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2"/>
          <p:cNvSpPr txBox="1"/>
          <p:nvPr>
            <p:ph type="title"/>
          </p:nvPr>
        </p:nvSpPr>
        <p:spPr>
          <a:xfrm>
            <a:off x="526300" y="2850"/>
            <a:ext cx="6347700" cy="7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Project Timeline</a:t>
            </a:r>
            <a:endParaRPr/>
          </a:p>
        </p:txBody>
      </p:sp>
      <p:grpSp>
        <p:nvGrpSpPr>
          <p:cNvPr id="468" name="Google Shape;468;p42"/>
          <p:cNvGrpSpPr/>
          <p:nvPr/>
        </p:nvGrpSpPr>
        <p:grpSpPr>
          <a:xfrm>
            <a:off x="6734227" y="695354"/>
            <a:ext cx="2162651" cy="6065954"/>
            <a:chOff x="6616600" y="1431525"/>
            <a:chExt cx="2043900" cy="2927725"/>
          </a:xfrm>
        </p:grpSpPr>
        <p:sp>
          <p:nvSpPr>
            <p:cNvPr id="469" name="Google Shape;469;p42"/>
            <p:cNvSpPr/>
            <p:nvPr/>
          </p:nvSpPr>
          <p:spPr>
            <a:xfrm>
              <a:off x="6616600" y="1431550"/>
              <a:ext cx="2043900" cy="2927700"/>
            </a:xfrm>
            <a:prstGeom prst="rect">
              <a:avLst/>
            </a:prstGeom>
            <a:noFill/>
            <a:ln cap="flat" cmpd="sng" w="9525">
              <a:solidFill>
                <a:srgbClr val="BE2F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42"/>
            <p:cNvSpPr/>
            <p:nvPr/>
          </p:nvSpPr>
          <p:spPr>
            <a:xfrm flipH="1" rot="10800000">
              <a:off x="6616600" y="1431525"/>
              <a:ext cx="2043900" cy="126900"/>
            </a:xfrm>
            <a:prstGeom prst="rect">
              <a:avLst/>
            </a:prstGeom>
            <a:solidFill>
              <a:srgbClr val="BE2F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42"/>
            <p:cNvSpPr txBox="1"/>
            <p:nvPr/>
          </p:nvSpPr>
          <p:spPr>
            <a:xfrm>
              <a:off x="6616600" y="1558422"/>
              <a:ext cx="804600" cy="39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4000">
                  <a:solidFill>
                    <a:srgbClr val="BE2F22"/>
                  </a:solidFill>
                  <a:latin typeface="Roboto"/>
                  <a:ea typeface="Roboto"/>
                  <a:cs typeface="Roboto"/>
                  <a:sym typeface="Roboto"/>
                </a:rPr>
                <a:t>S4</a:t>
              </a:r>
              <a:endParaRPr b="1" sz="4000">
                <a:solidFill>
                  <a:srgbClr val="BE2F2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2" name="Google Shape;472;p42"/>
            <p:cNvSpPr txBox="1"/>
            <p:nvPr/>
          </p:nvSpPr>
          <p:spPr>
            <a:xfrm>
              <a:off x="6678075" y="1955328"/>
              <a:ext cx="4692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">
                  <a:solidFill>
                    <a:srgbClr val="BE2F22"/>
                  </a:solidFill>
                  <a:latin typeface="Roboto"/>
                  <a:ea typeface="Roboto"/>
                  <a:cs typeface="Roboto"/>
                  <a:sym typeface="Roboto"/>
                </a:rPr>
                <a:t>APRIL</a:t>
              </a:r>
              <a:endParaRPr sz="700">
                <a:solidFill>
                  <a:srgbClr val="BE2F2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3" name="Google Shape;473;p42"/>
            <p:cNvSpPr txBox="1"/>
            <p:nvPr/>
          </p:nvSpPr>
          <p:spPr>
            <a:xfrm>
              <a:off x="7441602" y="1968229"/>
              <a:ext cx="393900" cy="14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">
                  <a:solidFill>
                    <a:srgbClr val="BE2F22"/>
                  </a:solidFill>
                  <a:latin typeface="Roboto"/>
                  <a:ea typeface="Roboto"/>
                  <a:cs typeface="Roboto"/>
                  <a:sym typeface="Roboto"/>
                </a:rPr>
                <a:t>MAY</a:t>
              </a:r>
              <a:endParaRPr sz="700">
                <a:solidFill>
                  <a:srgbClr val="BE2F2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4" name="Google Shape;474;p42"/>
            <p:cNvSpPr txBox="1"/>
            <p:nvPr/>
          </p:nvSpPr>
          <p:spPr>
            <a:xfrm>
              <a:off x="8129824" y="1955328"/>
              <a:ext cx="4692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">
                  <a:solidFill>
                    <a:srgbClr val="BE2F22"/>
                  </a:solidFill>
                  <a:latin typeface="Roboto"/>
                  <a:ea typeface="Roboto"/>
                  <a:cs typeface="Roboto"/>
                  <a:sym typeface="Roboto"/>
                </a:rPr>
                <a:t>JUNE</a:t>
              </a:r>
              <a:endParaRPr sz="700">
                <a:solidFill>
                  <a:srgbClr val="BE2F2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75" name="Google Shape;475;p42"/>
            <p:cNvCxnSpPr/>
            <p:nvPr/>
          </p:nvCxnSpPr>
          <p:spPr>
            <a:xfrm flipH="1" rot="10800000">
              <a:off x="7284600" y="1971500"/>
              <a:ext cx="8100" cy="2383800"/>
            </a:xfrm>
            <a:prstGeom prst="straightConnector1">
              <a:avLst/>
            </a:prstGeom>
            <a:noFill/>
            <a:ln cap="flat" cmpd="sng" w="9525">
              <a:solidFill>
                <a:srgbClr val="BE2F22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476" name="Google Shape;476;p42"/>
            <p:cNvCxnSpPr/>
            <p:nvPr/>
          </p:nvCxnSpPr>
          <p:spPr>
            <a:xfrm flipH="1" rot="10800000">
              <a:off x="7967975" y="1961600"/>
              <a:ext cx="20100" cy="2393700"/>
            </a:xfrm>
            <a:prstGeom prst="straightConnector1">
              <a:avLst/>
            </a:prstGeom>
            <a:noFill/>
            <a:ln cap="flat" cmpd="sng" w="9525">
              <a:solidFill>
                <a:srgbClr val="BE2F22"/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grpSp>
        <p:nvGrpSpPr>
          <p:cNvPr id="477" name="Google Shape;477;p42"/>
          <p:cNvGrpSpPr/>
          <p:nvPr/>
        </p:nvGrpSpPr>
        <p:grpSpPr>
          <a:xfrm>
            <a:off x="4690250" y="695188"/>
            <a:ext cx="2043900" cy="6066119"/>
            <a:chOff x="4572350" y="1396282"/>
            <a:chExt cx="2043900" cy="2969221"/>
          </a:xfrm>
        </p:grpSpPr>
        <p:sp>
          <p:nvSpPr>
            <p:cNvPr id="478" name="Google Shape;478;p42"/>
            <p:cNvSpPr/>
            <p:nvPr/>
          </p:nvSpPr>
          <p:spPr>
            <a:xfrm>
              <a:off x="4572350" y="1396283"/>
              <a:ext cx="2043900" cy="2969100"/>
            </a:xfrm>
            <a:prstGeom prst="rect">
              <a:avLst/>
            </a:prstGeom>
            <a:noFill/>
            <a:ln cap="flat" cmpd="sng" w="9525">
              <a:solidFill>
                <a:srgbClr val="B02B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42"/>
            <p:cNvSpPr/>
            <p:nvPr/>
          </p:nvSpPr>
          <p:spPr>
            <a:xfrm flipH="1" rot="10800000">
              <a:off x="4572350" y="1396282"/>
              <a:ext cx="2043900" cy="1269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42"/>
            <p:cNvSpPr txBox="1"/>
            <p:nvPr/>
          </p:nvSpPr>
          <p:spPr>
            <a:xfrm>
              <a:off x="4572350" y="1558424"/>
              <a:ext cx="804600" cy="32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4000">
                  <a:solidFill>
                    <a:srgbClr val="B02B20"/>
                  </a:solidFill>
                  <a:latin typeface="Roboto"/>
                  <a:ea typeface="Roboto"/>
                  <a:cs typeface="Roboto"/>
                  <a:sym typeface="Roboto"/>
                </a:rPr>
                <a:t>S3</a:t>
              </a:r>
              <a:endParaRPr b="1" sz="4000">
                <a:solidFill>
                  <a:srgbClr val="B02B2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1" name="Google Shape;481;p42"/>
            <p:cNvSpPr txBox="1"/>
            <p:nvPr/>
          </p:nvSpPr>
          <p:spPr>
            <a:xfrm>
              <a:off x="4637852" y="1938713"/>
              <a:ext cx="4656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">
                  <a:solidFill>
                    <a:srgbClr val="B02B20"/>
                  </a:solidFill>
                  <a:latin typeface="Roboto"/>
                  <a:ea typeface="Roboto"/>
                  <a:cs typeface="Roboto"/>
                  <a:sym typeface="Roboto"/>
                </a:rPr>
                <a:t>JAN</a:t>
              </a:r>
              <a:endParaRPr sz="700">
                <a:solidFill>
                  <a:srgbClr val="B02B2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2" name="Google Shape;482;p42"/>
            <p:cNvSpPr txBox="1"/>
            <p:nvPr/>
          </p:nvSpPr>
          <p:spPr>
            <a:xfrm>
              <a:off x="5418200" y="1938712"/>
              <a:ext cx="3522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">
                  <a:solidFill>
                    <a:srgbClr val="B02B20"/>
                  </a:solidFill>
                  <a:latin typeface="Roboto"/>
                  <a:ea typeface="Roboto"/>
                  <a:cs typeface="Roboto"/>
                  <a:sym typeface="Roboto"/>
                </a:rPr>
                <a:t>FEB</a:t>
              </a:r>
              <a:endParaRPr sz="700">
                <a:solidFill>
                  <a:srgbClr val="B02B2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3" name="Google Shape;483;p42"/>
            <p:cNvSpPr txBox="1"/>
            <p:nvPr/>
          </p:nvSpPr>
          <p:spPr>
            <a:xfrm>
              <a:off x="5888700" y="1938713"/>
              <a:ext cx="6096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">
                  <a:solidFill>
                    <a:srgbClr val="B02B20"/>
                  </a:solidFill>
                  <a:latin typeface="Roboto"/>
                  <a:ea typeface="Roboto"/>
                  <a:cs typeface="Roboto"/>
                  <a:sym typeface="Roboto"/>
                </a:rPr>
                <a:t>MARCH</a:t>
              </a:r>
              <a:endParaRPr sz="700">
                <a:solidFill>
                  <a:srgbClr val="B02B2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84" name="Google Shape;484;p42"/>
            <p:cNvCxnSpPr/>
            <p:nvPr/>
          </p:nvCxnSpPr>
          <p:spPr>
            <a:xfrm rot="10800000">
              <a:off x="5273775" y="2002008"/>
              <a:ext cx="34200" cy="2332500"/>
            </a:xfrm>
            <a:prstGeom prst="straightConnector1">
              <a:avLst/>
            </a:prstGeom>
            <a:noFill/>
            <a:ln cap="flat" cmpd="sng" w="9525">
              <a:solidFill>
                <a:srgbClr val="B02B20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485" name="Google Shape;485;p42"/>
            <p:cNvCxnSpPr/>
            <p:nvPr/>
          </p:nvCxnSpPr>
          <p:spPr>
            <a:xfrm rot="10800000">
              <a:off x="5843875" y="1916303"/>
              <a:ext cx="21900" cy="2449200"/>
            </a:xfrm>
            <a:prstGeom prst="straightConnector1">
              <a:avLst/>
            </a:prstGeom>
            <a:noFill/>
            <a:ln cap="flat" cmpd="sng" w="9525">
              <a:solidFill>
                <a:srgbClr val="B02B20"/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grpSp>
        <p:nvGrpSpPr>
          <p:cNvPr id="486" name="Google Shape;486;p42"/>
          <p:cNvGrpSpPr/>
          <p:nvPr/>
        </p:nvGrpSpPr>
        <p:grpSpPr>
          <a:xfrm>
            <a:off x="2646379" y="695236"/>
            <a:ext cx="2043903" cy="6066247"/>
            <a:chOff x="2528097" y="1431525"/>
            <a:chExt cx="2043903" cy="2927725"/>
          </a:xfrm>
        </p:grpSpPr>
        <p:sp>
          <p:nvSpPr>
            <p:cNvPr id="487" name="Google Shape;487;p42"/>
            <p:cNvSpPr/>
            <p:nvPr/>
          </p:nvSpPr>
          <p:spPr>
            <a:xfrm>
              <a:off x="2528100" y="1431550"/>
              <a:ext cx="2043900" cy="2927700"/>
            </a:xfrm>
            <a:prstGeom prst="rect">
              <a:avLst/>
            </a:prstGeom>
            <a:noFill/>
            <a:ln cap="flat" cmpd="sng" w="9525">
              <a:solidFill>
                <a:srgbClr val="A7291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42"/>
            <p:cNvSpPr/>
            <p:nvPr/>
          </p:nvSpPr>
          <p:spPr>
            <a:xfrm flipH="1" rot="10800000">
              <a:off x="2528100" y="1431525"/>
              <a:ext cx="2043900" cy="126900"/>
            </a:xfrm>
            <a:prstGeom prst="rect">
              <a:avLst/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42"/>
            <p:cNvSpPr txBox="1"/>
            <p:nvPr/>
          </p:nvSpPr>
          <p:spPr>
            <a:xfrm>
              <a:off x="2528097" y="1558434"/>
              <a:ext cx="946500" cy="39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40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S2</a:t>
              </a:r>
              <a:endParaRPr b="1" sz="40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0" name="Google Shape;490;p42"/>
            <p:cNvSpPr txBox="1"/>
            <p:nvPr/>
          </p:nvSpPr>
          <p:spPr>
            <a:xfrm>
              <a:off x="2646302" y="1955331"/>
              <a:ext cx="4308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OCT</a:t>
              </a:r>
              <a:endParaRPr sz="7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1" name="Google Shape;491;p42"/>
            <p:cNvSpPr txBox="1"/>
            <p:nvPr/>
          </p:nvSpPr>
          <p:spPr>
            <a:xfrm>
              <a:off x="3328564" y="1955331"/>
              <a:ext cx="4308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NOV</a:t>
              </a:r>
              <a:endParaRPr sz="7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2" name="Google Shape;492;p42"/>
            <p:cNvSpPr txBox="1"/>
            <p:nvPr/>
          </p:nvSpPr>
          <p:spPr>
            <a:xfrm>
              <a:off x="4082299" y="1955331"/>
              <a:ext cx="4308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DEC</a:t>
              </a:r>
              <a:endParaRPr sz="7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93" name="Google Shape;493;p42"/>
            <p:cNvCxnSpPr/>
            <p:nvPr/>
          </p:nvCxnSpPr>
          <p:spPr>
            <a:xfrm rot="10800000">
              <a:off x="3252738" y="1946600"/>
              <a:ext cx="600" cy="2408700"/>
            </a:xfrm>
            <a:prstGeom prst="straightConnector1">
              <a:avLst/>
            </a:prstGeom>
            <a:noFill/>
            <a:ln cap="flat" cmpd="sng" w="9525">
              <a:solidFill>
                <a:srgbClr val="A7291E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494" name="Google Shape;494;p42"/>
            <p:cNvCxnSpPr/>
            <p:nvPr/>
          </p:nvCxnSpPr>
          <p:spPr>
            <a:xfrm flipH="1" rot="10800000">
              <a:off x="3878738" y="1886000"/>
              <a:ext cx="1800" cy="2469300"/>
            </a:xfrm>
            <a:prstGeom prst="straightConnector1">
              <a:avLst/>
            </a:prstGeom>
            <a:noFill/>
            <a:ln cap="flat" cmpd="sng" w="9525">
              <a:solidFill>
                <a:srgbClr val="A7291E"/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grpSp>
        <p:nvGrpSpPr>
          <p:cNvPr id="495" name="Google Shape;495;p42"/>
          <p:cNvGrpSpPr/>
          <p:nvPr/>
        </p:nvGrpSpPr>
        <p:grpSpPr>
          <a:xfrm>
            <a:off x="483651" y="695247"/>
            <a:ext cx="2162651" cy="6066220"/>
            <a:chOff x="3975900" y="1431525"/>
            <a:chExt cx="2043900" cy="2927712"/>
          </a:xfrm>
        </p:grpSpPr>
        <p:sp>
          <p:nvSpPr>
            <p:cNvPr id="496" name="Google Shape;496;p42"/>
            <p:cNvSpPr/>
            <p:nvPr/>
          </p:nvSpPr>
          <p:spPr>
            <a:xfrm>
              <a:off x="3975900" y="1431537"/>
              <a:ext cx="2043900" cy="2927700"/>
            </a:xfrm>
            <a:prstGeom prst="rect">
              <a:avLst/>
            </a:prstGeom>
            <a:noFill/>
            <a:ln cap="flat" cmpd="sng" w="9525">
              <a:solidFill>
                <a:srgbClr val="801F1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42"/>
            <p:cNvSpPr/>
            <p:nvPr/>
          </p:nvSpPr>
          <p:spPr>
            <a:xfrm flipH="1" rot="10800000">
              <a:off x="3975900" y="1431525"/>
              <a:ext cx="2043900" cy="126900"/>
            </a:xfrm>
            <a:prstGeom prst="rect">
              <a:avLst/>
            </a:prstGeom>
            <a:solidFill>
              <a:srgbClr val="801F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42"/>
            <p:cNvSpPr txBox="1"/>
            <p:nvPr/>
          </p:nvSpPr>
          <p:spPr>
            <a:xfrm>
              <a:off x="3975900" y="1558422"/>
              <a:ext cx="804600" cy="3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4000">
                  <a:solidFill>
                    <a:srgbClr val="801F17"/>
                  </a:solidFill>
                  <a:latin typeface="Roboto"/>
                  <a:ea typeface="Roboto"/>
                  <a:cs typeface="Roboto"/>
                  <a:sym typeface="Roboto"/>
                </a:rPr>
                <a:t>S1</a:t>
              </a:r>
              <a:endParaRPr b="1" sz="4000">
                <a:solidFill>
                  <a:srgbClr val="801F1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9" name="Google Shape;499;p42"/>
            <p:cNvSpPr txBox="1"/>
            <p:nvPr/>
          </p:nvSpPr>
          <p:spPr>
            <a:xfrm>
              <a:off x="4072647" y="1948419"/>
              <a:ext cx="4167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">
                  <a:solidFill>
                    <a:srgbClr val="801F17"/>
                  </a:solidFill>
                  <a:latin typeface="Roboto"/>
                  <a:ea typeface="Roboto"/>
                  <a:cs typeface="Roboto"/>
                  <a:sym typeface="Roboto"/>
                </a:rPr>
                <a:t>JUNE</a:t>
              </a:r>
              <a:endParaRPr sz="700">
                <a:solidFill>
                  <a:srgbClr val="801F1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0" name="Google Shape;500;p42"/>
            <p:cNvSpPr txBox="1"/>
            <p:nvPr/>
          </p:nvSpPr>
          <p:spPr>
            <a:xfrm>
              <a:off x="4509068" y="1948419"/>
              <a:ext cx="4167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">
                  <a:solidFill>
                    <a:srgbClr val="801F17"/>
                  </a:solidFill>
                  <a:latin typeface="Roboto"/>
                  <a:ea typeface="Roboto"/>
                  <a:cs typeface="Roboto"/>
                  <a:sym typeface="Roboto"/>
                </a:rPr>
                <a:t>JULY</a:t>
              </a:r>
              <a:endParaRPr sz="700">
                <a:solidFill>
                  <a:srgbClr val="801F1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1" name="Google Shape;501;p42"/>
            <p:cNvSpPr txBox="1"/>
            <p:nvPr/>
          </p:nvSpPr>
          <p:spPr>
            <a:xfrm>
              <a:off x="5000088" y="1948419"/>
              <a:ext cx="3774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">
                  <a:solidFill>
                    <a:srgbClr val="801F17"/>
                  </a:solidFill>
                  <a:latin typeface="Roboto"/>
                  <a:ea typeface="Roboto"/>
                  <a:cs typeface="Roboto"/>
                  <a:sym typeface="Roboto"/>
                </a:rPr>
                <a:t>AUG</a:t>
              </a:r>
              <a:endParaRPr sz="700">
                <a:solidFill>
                  <a:srgbClr val="801F1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2" name="Google Shape;502;p42"/>
            <p:cNvSpPr txBox="1"/>
            <p:nvPr/>
          </p:nvSpPr>
          <p:spPr>
            <a:xfrm>
              <a:off x="5524046" y="1948419"/>
              <a:ext cx="4167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">
                  <a:solidFill>
                    <a:srgbClr val="801F17"/>
                  </a:solidFill>
                  <a:latin typeface="Roboto"/>
                  <a:ea typeface="Roboto"/>
                  <a:cs typeface="Roboto"/>
                  <a:sym typeface="Roboto"/>
                </a:rPr>
                <a:t>SEPT</a:t>
              </a:r>
              <a:endParaRPr sz="700">
                <a:solidFill>
                  <a:srgbClr val="801F1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503" name="Google Shape;503;p42"/>
            <p:cNvCxnSpPr/>
            <p:nvPr/>
          </p:nvCxnSpPr>
          <p:spPr>
            <a:xfrm flipH="1" rot="10800000">
              <a:off x="4489375" y="1936400"/>
              <a:ext cx="15300" cy="2418900"/>
            </a:xfrm>
            <a:prstGeom prst="straightConnector1">
              <a:avLst/>
            </a:prstGeom>
            <a:noFill/>
            <a:ln cap="flat" cmpd="sng" w="9525">
              <a:solidFill>
                <a:srgbClr val="801F17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504" name="Google Shape;504;p42"/>
            <p:cNvCxnSpPr/>
            <p:nvPr/>
          </p:nvCxnSpPr>
          <p:spPr>
            <a:xfrm rot="10800000">
              <a:off x="4979387" y="1906100"/>
              <a:ext cx="20700" cy="2449200"/>
            </a:xfrm>
            <a:prstGeom prst="straightConnector1">
              <a:avLst/>
            </a:prstGeom>
            <a:noFill/>
            <a:ln cap="flat" cmpd="sng" w="9525">
              <a:solidFill>
                <a:srgbClr val="801F17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505" name="Google Shape;505;p42"/>
            <p:cNvCxnSpPr/>
            <p:nvPr/>
          </p:nvCxnSpPr>
          <p:spPr>
            <a:xfrm rot="10800000">
              <a:off x="5508700" y="1850600"/>
              <a:ext cx="2100" cy="2504700"/>
            </a:xfrm>
            <a:prstGeom prst="straightConnector1">
              <a:avLst/>
            </a:prstGeom>
            <a:noFill/>
            <a:ln cap="flat" cmpd="sng" w="9525">
              <a:solidFill>
                <a:srgbClr val="801F17"/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sp>
        <p:nvSpPr>
          <p:cNvPr id="506" name="Google Shape;506;p42"/>
          <p:cNvSpPr/>
          <p:nvPr/>
        </p:nvSpPr>
        <p:spPr>
          <a:xfrm>
            <a:off x="483650" y="2057425"/>
            <a:ext cx="569100" cy="409800"/>
          </a:xfrm>
          <a:prstGeom prst="rect">
            <a:avLst/>
          </a:prstGeom>
          <a:solidFill>
            <a:srgbClr val="801F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Topic Selection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7" name="Google Shape;507;p42"/>
          <p:cNvSpPr/>
          <p:nvPr/>
        </p:nvSpPr>
        <p:spPr>
          <a:xfrm>
            <a:off x="1052750" y="2575688"/>
            <a:ext cx="6438600" cy="207300"/>
          </a:xfrm>
          <a:prstGeom prst="rect">
            <a:avLst/>
          </a:prstGeom>
          <a:solidFill>
            <a:srgbClr val="801F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Literature Survey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8" name="Google Shape;508;p42"/>
          <p:cNvSpPr/>
          <p:nvPr/>
        </p:nvSpPr>
        <p:spPr>
          <a:xfrm>
            <a:off x="3130975" y="3502738"/>
            <a:ext cx="645000" cy="207300"/>
          </a:xfrm>
          <a:prstGeom prst="rect">
            <a:avLst/>
          </a:prstGeom>
          <a:solidFill>
            <a:srgbClr val="801F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Stage 2: SLS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9" name="Google Shape;509;p42"/>
          <p:cNvSpPr/>
          <p:nvPr/>
        </p:nvSpPr>
        <p:spPr>
          <a:xfrm>
            <a:off x="3238350" y="3769450"/>
            <a:ext cx="609600" cy="207300"/>
          </a:xfrm>
          <a:prstGeom prst="rect">
            <a:avLst/>
          </a:prstGeom>
          <a:solidFill>
            <a:srgbClr val="801F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Stage 3: SLRC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0" name="Google Shape;510;p42"/>
          <p:cNvSpPr/>
          <p:nvPr/>
        </p:nvSpPr>
        <p:spPr>
          <a:xfrm>
            <a:off x="1052751" y="2905875"/>
            <a:ext cx="3563400" cy="207300"/>
          </a:xfrm>
          <a:prstGeom prst="rect">
            <a:avLst/>
          </a:prstGeom>
          <a:solidFill>
            <a:srgbClr val="801F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Dataset Collection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1" name="Google Shape;511;p42"/>
          <p:cNvSpPr/>
          <p:nvPr/>
        </p:nvSpPr>
        <p:spPr>
          <a:xfrm>
            <a:off x="3979700" y="4016675"/>
            <a:ext cx="1255500" cy="207300"/>
          </a:xfrm>
          <a:prstGeom prst="rect">
            <a:avLst/>
          </a:prstGeom>
          <a:solidFill>
            <a:srgbClr val="801F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Stage 4: MedProc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" name="Google Shape;512;p42"/>
          <p:cNvSpPr/>
          <p:nvPr/>
        </p:nvSpPr>
        <p:spPr>
          <a:xfrm>
            <a:off x="3879063" y="4306463"/>
            <a:ext cx="1622400" cy="207300"/>
          </a:xfrm>
          <a:prstGeom prst="rect">
            <a:avLst/>
          </a:prstGeom>
          <a:solidFill>
            <a:srgbClr val="BE2F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Stage 5: HC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" name="Google Shape;513;p42"/>
          <p:cNvSpPr/>
          <p:nvPr/>
        </p:nvSpPr>
        <p:spPr>
          <a:xfrm>
            <a:off x="5090400" y="4596250"/>
            <a:ext cx="891900" cy="207300"/>
          </a:xfrm>
          <a:prstGeom prst="rect">
            <a:avLst/>
          </a:prstGeom>
          <a:solidFill>
            <a:srgbClr val="BE2F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Stage 6: IT Fusion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" name="Google Shape;514;p42"/>
          <p:cNvSpPr/>
          <p:nvPr/>
        </p:nvSpPr>
        <p:spPr>
          <a:xfrm>
            <a:off x="5982300" y="4902350"/>
            <a:ext cx="1049700" cy="207300"/>
          </a:xfrm>
          <a:prstGeom prst="rect">
            <a:avLst/>
          </a:prstGeom>
          <a:solidFill>
            <a:srgbClr val="BE2F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Stage 7: VQA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42"/>
          <p:cNvSpPr/>
          <p:nvPr/>
        </p:nvSpPr>
        <p:spPr>
          <a:xfrm>
            <a:off x="6175000" y="5172800"/>
            <a:ext cx="1237500" cy="207300"/>
          </a:xfrm>
          <a:prstGeom prst="rect">
            <a:avLst/>
          </a:prstGeom>
          <a:solidFill>
            <a:srgbClr val="BE2F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Integration</a:t>
            </a: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Testing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6" name="Google Shape;516;p42"/>
          <p:cNvSpPr/>
          <p:nvPr/>
        </p:nvSpPr>
        <p:spPr>
          <a:xfrm>
            <a:off x="5982300" y="5479875"/>
            <a:ext cx="1445400" cy="207300"/>
          </a:xfrm>
          <a:prstGeom prst="rect">
            <a:avLst/>
          </a:prstGeom>
          <a:solidFill>
            <a:srgbClr val="BE2F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Frontend Development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7" name="Google Shape;517;p42"/>
          <p:cNvSpPr/>
          <p:nvPr/>
        </p:nvSpPr>
        <p:spPr>
          <a:xfrm>
            <a:off x="5982300" y="5764625"/>
            <a:ext cx="1445400" cy="207300"/>
          </a:xfrm>
          <a:prstGeom prst="rect">
            <a:avLst/>
          </a:prstGeom>
          <a:solidFill>
            <a:srgbClr val="BE2F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Backend + Frontend Integration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8" name="Google Shape;518;p42"/>
          <p:cNvSpPr/>
          <p:nvPr/>
        </p:nvSpPr>
        <p:spPr>
          <a:xfrm>
            <a:off x="6718900" y="6049375"/>
            <a:ext cx="693600" cy="207300"/>
          </a:xfrm>
          <a:prstGeom prst="rect">
            <a:avLst/>
          </a:prstGeom>
          <a:solidFill>
            <a:srgbClr val="BE2F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Final Evaluation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9" name="Google Shape;519;p42"/>
          <p:cNvSpPr/>
          <p:nvPr/>
        </p:nvSpPr>
        <p:spPr>
          <a:xfrm>
            <a:off x="7804600" y="6541425"/>
            <a:ext cx="1092300" cy="207300"/>
          </a:xfrm>
          <a:prstGeom prst="rect">
            <a:avLst/>
          </a:prstGeom>
          <a:solidFill>
            <a:srgbClr val="BE2F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Thesis Defense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0" name="Google Shape;520;p42"/>
          <p:cNvSpPr/>
          <p:nvPr/>
        </p:nvSpPr>
        <p:spPr>
          <a:xfrm>
            <a:off x="3082675" y="6334125"/>
            <a:ext cx="4559100" cy="207300"/>
          </a:xfrm>
          <a:prstGeom prst="rect">
            <a:avLst/>
          </a:prstGeom>
          <a:solidFill>
            <a:srgbClr val="BE2F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Thesis Writing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1" name="Google Shape;521;p42"/>
          <p:cNvSpPr/>
          <p:nvPr/>
        </p:nvSpPr>
        <p:spPr>
          <a:xfrm>
            <a:off x="2646275" y="3236061"/>
            <a:ext cx="2043900" cy="207300"/>
          </a:xfrm>
          <a:prstGeom prst="rect">
            <a:avLst/>
          </a:prstGeom>
          <a:solidFill>
            <a:srgbClr val="801F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Stage 1: Preprocessing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43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References</a:t>
            </a:r>
            <a:endParaRPr/>
          </a:p>
        </p:txBody>
      </p:sp>
      <p:sp>
        <p:nvSpPr>
          <p:cNvPr id="527" name="Google Shape;527;p43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IN" u="sng">
                <a:solidFill>
                  <a:schemeClr val="hlink"/>
                </a:solidFill>
                <a:hlinkClick r:id="rId3"/>
              </a:rPr>
              <a:t>https://www.ncbi.nlm.nih.gov/pmc/articles/PMC11920274/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 u="sng">
                <a:solidFill>
                  <a:schemeClr val="hlink"/>
                </a:solidFill>
                <a:hlinkClick r:id="rId4"/>
              </a:rPr>
              <a:t>https://arxiv.org/abs/2301.10077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 u="sng">
                <a:solidFill>
                  <a:schemeClr val="hlink"/>
                </a:solidFill>
                <a:hlinkClick r:id="rId5"/>
              </a:rPr>
              <a:t>ttps://powerdrill.ai/discover/discover-R-LLaVA-Improving-Med-VQA-cm2uxqs320whv016kwr2clma0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 u="sng">
                <a:solidFill>
                  <a:schemeClr val="hlink"/>
                </a:solidFill>
                <a:hlinkClick r:id="rId6"/>
              </a:rPr>
              <a:t>https://academic.oup.com/bioinformatics/article/36/4/1234/5566506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 u="sng">
                <a:solidFill>
                  <a:schemeClr val="hlink"/>
                </a:solidFill>
                <a:hlinkClick r:id="rId7"/>
              </a:rPr>
              <a:t>https://arxiv.org/html/2508.21793v1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 u="sng">
                <a:solidFill>
                  <a:schemeClr val="hlink"/>
                </a:solidFill>
                <a:hlinkClick r:id="rId8"/>
              </a:rPr>
              <a:t>https://arxiv.org/abs/2204.08484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 u="sng">
                <a:solidFill>
                  <a:schemeClr val="hlink"/>
                </a:solidFill>
                <a:hlinkClick r:id="rId9"/>
              </a:rPr>
              <a:t>https://arxiv.org/abs/2307.12365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4"/>
          <p:cNvSpPr txBox="1"/>
          <p:nvPr>
            <p:ph type="title"/>
          </p:nvPr>
        </p:nvSpPr>
        <p:spPr>
          <a:xfrm>
            <a:off x="609599" y="566558"/>
            <a:ext cx="6347700" cy="13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References</a:t>
            </a:r>
            <a:endParaRPr/>
          </a:p>
        </p:txBody>
      </p:sp>
      <p:sp>
        <p:nvSpPr>
          <p:cNvPr id="533" name="Google Shape;533;p44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IN" u="sng">
                <a:solidFill>
                  <a:schemeClr val="hlink"/>
                </a:solidFill>
                <a:hlinkClick r:id="rId3"/>
              </a:rPr>
              <a:t>https://arxiv.org/abs/2103.11539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 u="sng">
                <a:solidFill>
                  <a:schemeClr val="hlink"/>
                </a:solidFill>
                <a:hlinkClick r:id="rId4"/>
              </a:rPr>
              <a:t>https://www.esann.org/sites/default/files/proceedings/2025/ES2025-106.pdf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 u="sng">
                <a:solidFill>
                  <a:schemeClr val="hlink"/>
                </a:solidFill>
                <a:hlinkClick r:id="rId5"/>
              </a:rPr>
              <a:t>https://pmc.ncbi.nlm.nih.gov/pmc/articles/PMC12048531/</a:t>
            </a:r>
            <a:endParaRPr/>
          </a:p>
          <a:p>
            <a:pPr indent="-251459" lvl="0" marL="3429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5"/>
          <p:cNvSpPr txBox="1"/>
          <p:nvPr>
            <p:ph type="title"/>
          </p:nvPr>
        </p:nvSpPr>
        <p:spPr>
          <a:xfrm>
            <a:off x="609599" y="609600"/>
            <a:ext cx="6347700" cy="132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Preprocessing</a:t>
            </a:r>
            <a:endParaRPr/>
          </a:p>
        </p:txBody>
      </p:sp>
      <p:sp>
        <p:nvSpPr>
          <p:cNvPr id="539" name="Google Shape;539;p45"/>
          <p:cNvSpPr txBox="1"/>
          <p:nvPr>
            <p:ph idx="1" type="body"/>
          </p:nvPr>
        </p:nvSpPr>
        <p:spPr>
          <a:xfrm>
            <a:off x="609599" y="2160590"/>
            <a:ext cx="6347700" cy="388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4572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Dataset Selection: </a:t>
            </a:r>
            <a:endParaRPr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Skin Lesion Segmentation (SLS) -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6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Stagewise (metrics to be calculated</a:t>
            </a:r>
            <a:endParaRPr/>
          </a:p>
        </p:txBody>
      </p:sp>
      <p:sp>
        <p:nvSpPr>
          <p:cNvPr id="545" name="Google Shape;545;p46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59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Segmentation: IoU, Dice.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Classification: Accuracy, AUC, F1.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MedProc: Precision, Recall, F1.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Fusion: BLEU, ROUGE.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VQA: BLEU, Human Eval.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7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Results (Stage-wise)</a:t>
            </a:r>
            <a:endParaRPr/>
          </a:p>
        </p:txBody>
      </p:sp>
      <p:sp>
        <p:nvSpPr>
          <p:cNvPr id="551" name="Google Shape;551;p47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59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Segmentation: Accurate lesion masks.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Classification: High accuracy with ABCDE values.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MedProc: Extracted entities and E value.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Fusion: JSON outputs with risk scores.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VQA: Interactive answers with evidence.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8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Conclusion &amp; Limitations </a:t>
            </a:r>
            <a:endParaRPr/>
          </a:p>
        </p:txBody>
      </p:sp>
      <p:sp>
        <p:nvSpPr>
          <p:cNvPr id="557" name="Google Shape;557;p48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59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/>
              <a:t>Contributions: Multimodal fusion, ABCDE explainability, interactive VQA.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/>
              <a:t>Advantages: End-to-end modular pipeline, explainable results.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/>
              <a:t>Limitations: Dataset gaps for ABCDE, high computational cost.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9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Comparative Analysis  </a:t>
            </a:r>
            <a:endParaRPr/>
          </a:p>
        </p:txBody>
      </p:sp>
      <p:sp>
        <p:nvSpPr>
          <p:cNvPr id="563" name="Google Shape;563;p49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59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Our models outperform baselines in accuracy and explainability.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Segmentation IoU higher than UNet baselines.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Classification accuracy improved with EfficientFormerV2-S.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Fusion improves BLEU/ROUGE scores for Q&amp;A.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0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Future </a:t>
            </a:r>
            <a:r>
              <a:rPr b="1" lang="en-IN" sz="3200">
                <a:solidFill>
                  <a:srgbClr val="003366"/>
                </a:solidFill>
              </a:rPr>
              <a:t>Work  </a:t>
            </a:r>
            <a:endParaRPr/>
          </a:p>
        </p:txBody>
      </p:sp>
      <p:sp>
        <p:nvSpPr>
          <p:cNvPr id="569" name="Google Shape;569;p50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59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Expand datasets with annotated ABCDE values.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Optimize for real-time, mobile-friendly deployment.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Extend system to other medical conditions.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51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Demo (Prototype)  </a:t>
            </a:r>
            <a:endParaRPr/>
          </a:p>
        </p:txBody>
      </p:sp>
      <p:sp>
        <p:nvSpPr>
          <p:cNvPr id="575" name="Google Shape;575;p51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59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Frontend chatbot allows patient to upload image &amp; report.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Patient can ask a question.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System outputs ABCDE values + risk assessment + answer.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52"/>
          <p:cNvSpPr txBox="1"/>
          <p:nvPr>
            <p:ph type="title"/>
          </p:nvPr>
        </p:nvSpPr>
        <p:spPr>
          <a:xfrm>
            <a:off x="609599" y="552211"/>
            <a:ext cx="6347700" cy="13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Thank You / Q&amp;A  </a:t>
            </a:r>
            <a:endParaRPr/>
          </a:p>
        </p:txBody>
      </p:sp>
      <p:sp>
        <p:nvSpPr>
          <p:cNvPr id="581" name="Google Shape;581;p52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59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Thank You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