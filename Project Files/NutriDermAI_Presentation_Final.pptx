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37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4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8" r:id="rId19"/>
    <p:sldId id="269" r:id="rId20"/>
    <p:sldId id="270" r:id="rId21"/>
    <p:sldId id="285" r:id="rId36"/>
    <p:sldId id="286" r:id="rId37"/>
    <p:sldId id="287" r:id="rId38"/>
    <p:sldId id="288" r:id="rId39"/>
    <p:sldId id="289" r:id="rId40"/>
    <p:sldId id="271" r:id="rId22"/>
    <p:sldId id="272" r:id="rId23"/>
    <p:sldId id="273" r:id="rId24"/>
    <p:sldId id="290" r:id="rId41"/>
    <p:sldId id="291" r:id="rId42"/>
    <p:sldId id="292" r:id="rId43"/>
    <p:sldId id="274" r:id="rId25"/>
    <p:sldId id="275" r:id="rId26"/>
    <p:sldId id="311" r:id="rId66"/>
    <p:sldId id="312" r:id="rId67"/>
    <p:sldId id="313" r:id="rId68"/>
    <p:sldId id="314" r:id="rId69"/>
    <p:sldId id="276" r:id="rId27"/>
    <p:sldId id="315" r:id="rId70"/>
    <p:sldId id="316" r:id="rId71"/>
    <p:sldId id="317" r:id="rId72"/>
    <p:sldId id="277" r:id="rId28"/>
    <p:sldId id="278" r:id="rId29"/>
    <p:sldId id="279" r:id="rId30"/>
    <p:sldId id="280" r:id="rId31"/>
    <p:sldId id="281" r:id="rId32"/>
    <p:sldId id="304" r:id="rId55"/>
    <p:sldId id="305" r:id="rId56"/>
    <p:sldId id="306" r:id="rId57"/>
    <p:sldId id="307" r:id="rId58"/>
    <p:sldId id="308" r:id="rId59"/>
    <p:sldId id="310" r:id="rId61"/>
  </p:sldIdLst>
  <p:sldSz cy="6858000" cx="9144000"/>
  <p:notesSz cx="6858000" cy="9144000"/>
  <p:embeddedFontLst>
    <p:embeddedFont>
      <p:font typeface="Roboto"/>
      <p:regular r:id="rId62"/>
      <p:bold r:id="rId63"/>
      <p:italic r:id="rId64"/>
      <p:boldItalic r:id="rId6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3B083B0-87BA-4358-A259-15C7F08E945C}">
  <a:tblStyle styleId="{33B083B0-87BA-4358-A259-15C7F08E945C}" styleName="Table_0">
    <a:wholeTbl>
      <a:tcTxStyle b="off" i="off">
        <a:font>
          <a:latin typeface="Trebuchet MS"/>
          <a:ea typeface="Trebuchet MS"/>
          <a:cs typeface="Trebuchet MS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EF4E7"/>
          </a:solidFill>
        </a:fill>
      </a:tcStyle>
    </a:wholeTbl>
    <a:band1H>
      <a:tcTxStyle/>
      <a:tcStyle>
        <a:fill>
          <a:solidFill>
            <a:srgbClr val="DBE9CB"/>
          </a:solidFill>
        </a:fill>
      </a:tcStyle>
    </a:band1H>
    <a:band2H>
      <a:tcTxStyle/>
    </a:band2H>
    <a:band1V>
      <a:tcTxStyle/>
      <a:tcStyle>
        <a:fill>
          <a:solidFill>
            <a:srgbClr val="DBE9CB"/>
          </a:solidFill>
        </a:fill>
      </a:tcStyle>
    </a:band1V>
    <a:band2V>
      <a:tcTxStyle/>
    </a:band2V>
    <a:lastCol>
      <a:tcTxStyle b="on" i="off">
        <a:font>
          <a:latin typeface="Trebuchet MS"/>
          <a:ea typeface="Trebuchet MS"/>
          <a:cs typeface="Trebuchet MS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Trebuchet MS"/>
          <a:ea typeface="Trebuchet MS"/>
          <a:cs typeface="Trebuchet MS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Trebuchet MS"/>
          <a:ea typeface="Trebuchet MS"/>
          <a:cs typeface="Trebuchet MS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Trebuchet MS"/>
          <a:ea typeface="Trebuchet MS"/>
          <a:cs typeface="Trebuchet MS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  <a:tblStyle styleId="{97ED2F1A-A0D3-45D6-A7EC-2190041AD1C1}" styleName="Table_1">
    <a:wholeTbl>
      <a:tcTxStyle b="off" i="off">
        <a:font>
          <a:latin typeface="Trebuchet MS"/>
          <a:ea typeface="Trebuchet MS"/>
          <a:cs typeface="Trebuchet MS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9F0E7"/>
          </a:solidFill>
        </a:fill>
      </a:tcStyle>
    </a:wholeTbl>
    <a:band1H>
      <a:tcTxStyle/>
      <a:tcStyle>
        <a:fill>
          <a:solidFill>
            <a:srgbClr val="CFDFCB"/>
          </a:solidFill>
        </a:fill>
      </a:tcStyle>
    </a:band1H>
    <a:band2H>
      <a:tcTxStyle/>
    </a:band2H>
    <a:band1V>
      <a:tcTxStyle/>
      <a:tcStyle>
        <a:fill>
          <a:solidFill>
            <a:srgbClr val="CFDFCB"/>
          </a:solidFill>
        </a:fill>
      </a:tcStyle>
    </a:band1V>
    <a:band2V>
      <a:tcTxStyle/>
    </a:band2V>
    <a:lastCol>
      <a:tcTxStyle b="on" i="off">
        <a:font>
          <a:latin typeface="Trebuchet MS"/>
          <a:ea typeface="Trebuchet MS"/>
          <a:cs typeface="Trebuchet MS"/>
        </a:font>
        <a:schemeClr val="lt1"/>
      </a:tcTxStyle>
      <a:tcStyle>
        <a:fill>
          <a:solidFill>
            <a:schemeClr val="accent2"/>
          </a:solidFill>
        </a:fill>
      </a:tcStyle>
    </a:lastCol>
    <a:firstCol>
      <a:tcTxStyle b="on" i="off">
        <a:font>
          <a:latin typeface="Trebuchet MS"/>
          <a:ea typeface="Trebuchet MS"/>
          <a:cs typeface="Trebuchet MS"/>
        </a:font>
        <a:schemeClr val="lt1"/>
      </a:tcTxStyle>
      <a:tcStyle>
        <a:fill>
          <a:solidFill>
            <a:schemeClr val="accent2"/>
          </a:solidFill>
        </a:fill>
      </a:tcStyle>
    </a:firstCol>
    <a:lastRow>
      <a:tcTxStyle b="on" i="off">
        <a:font>
          <a:latin typeface="Trebuchet MS"/>
          <a:ea typeface="Trebuchet MS"/>
          <a:cs typeface="Trebuchet MS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2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Trebuchet MS"/>
          <a:ea typeface="Trebuchet MS"/>
          <a:cs typeface="Trebuchet MS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2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?>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3" Type="http://schemas.openxmlformats.org/officeDocument/2006/relationships/slide" Target="slides/slide3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font" Target="fonts/Roboto-regular.fntdata"/><Relationship Id="rId61" Type="http://schemas.openxmlformats.org/officeDocument/2006/relationships/slide" Target="slides/slide55.xml"/><Relationship Id="rId20" Type="http://schemas.openxmlformats.org/officeDocument/2006/relationships/slide" Target="slides/slide14.xml"/><Relationship Id="rId64" Type="http://schemas.openxmlformats.org/officeDocument/2006/relationships/font" Target="fonts/Roboto-italic.fntdata"/><Relationship Id="rId63" Type="http://schemas.openxmlformats.org/officeDocument/2006/relationships/font" Target="fonts/Roboto-bold.fnt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65" Type="http://schemas.openxmlformats.org/officeDocument/2006/relationships/font" Target="fonts/Roboto-boldItalic.fntdata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70" Type="http://schemas.openxmlformats.org/officeDocument/2006/relationships/slide" Target="slides/slide60.xml"/><Relationship Id="rId71" Type="http://schemas.openxmlformats.org/officeDocument/2006/relationships/slide" Target="slides/slide61.xml"/><Relationship Id="rId72" Type="http://schemas.openxmlformats.org/officeDocument/2006/relationships/slide" Target="slides/slide62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66" Type="http://schemas.openxmlformats.org/officeDocument/2006/relationships/slide" Target="slides/slide56.xml"/><Relationship Id="rId67" Type="http://schemas.openxmlformats.org/officeDocument/2006/relationships/slide" Target="slides/slide57.xml"/><Relationship Id="rId68" Type="http://schemas.openxmlformats.org/officeDocument/2006/relationships/slide" Target="slides/slide58.xml"/><Relationship Id="rId69" Type="http://schemas.openxmlformats.org/officeDocument/2006/relationships/slide" Target="slides/slide59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g3bf890b277f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" name="Google Shape;548;g3bf890b277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g3bf890b277f_0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4" name="Google Shape;554;g3bf890b277f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g3bfb86cc497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0" name="Google Shape;560;g3bfb86cc49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g3bfb86cc497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6" name="Google Shape;566;g3bfb86cc497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g3bfb86cc497_0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2" name="Google Shape;572;g3bfb86cc497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g3bfb86cc497_0_5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8" name="Google Shape;578;g3bfb86cc497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g3bfb86cc497_0_6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5" name="Google Shape;585;g3bfb86cc497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g3bfb86cc497_0_6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2" name="Google Shape;592;g3bfb86cc497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0" name="Google Shape;670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2" name="Google Shape;682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8" name="Google Shape;688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4" name="Google Shape;694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6" name="Google Shape;706;p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oogle Shape;23;p2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24" name="Google Shape;24;p2"/>
            <p:cNvCxnSpPr/>
            <p:nvPr/>
          </p:nvCxnSpPr>
          <p:spPr>
            <a:xfrm flipH="1" rot="10800000">
              <a:off x="5130830" y="4175605"/>
              <a:ext cx="4022475" cy="2682396"/>
            </a:xfrm>
            <a:prstGeom prst="straightConnector1">
              <a:avLst/>
            </a:prstGeom>
            <a:noFill/>
            <a:ln cap="flat" cmpd="sng" w="95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5" name="Google Shape;25;p2"/>
            <p:cNvCxnSpPr/>
            <p:nvPr/>
          </p:nvCxnSpPr>
          <p:spPr>
            <a:xfrm>
              <a:off x="7042707" y="0"/>
              <a:ext cx="1219200" cy="6858000"/>
            </a:xfrm>
            <a:prstGeom prst="straightConnector1">
              <a:avLst/>
            </a:prstGeom>
            <a:noFill/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6" name="Google Shape;26;p2"/>
            <p:cNvSpPr/>
            <p:nvPr/>
          </p:nvSpPr>
          <p:spPr>
            <a:xfrm>
              <a:off x="6891896" y="1"/>
              <a:ext cx="2269442" cy="6866466"/>
            </a:xfrm>
            <a:custGeom>
              <a:rect b="b" l="l" r="r" t="t"/>
              <a:pathLst>
                <a:path extrusionOk="0" h="6866466" w="2269442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29803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7205158" y="-8467"/>
              <a:ext cx="1948147" cy="6866467"/>
            </a:xfrm>
            <a:custGeom>
              <a:rect b="b" l="l" r="r" t="t"/>
              <a:pathLst>
                <a:path extrusionOk="0" h="6866467" w="194814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6637896" y="3920066"/>
              <a:ext cx="2513565" cy="2937933"/>
            </a:xfrm>
            <a:custGeom>
              <a:rect b="b" l="l" r="r" t="t"/>
              <a:pathLst>
                <a:path extrusionOk="0" h="3810000" w="3259667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176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7010429" y="-8467"/>
              <a:ext cx="2142876" cy="6866467"/>
            </a:xfrm>
            <a:custGeom>
              <a:rect b="b" l="l" r="r" t="t"/>
              <a:pathLst>
                <a:path extrusionOk="0" h="6866467" w="28532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F7818">
                <a:alpha val="69803"/>
              </a:srgbClr>
            </a:solidFill>
            <a:ln>
              <a:noFill/>
            </a:ln>
          </p:spPr>
        </p:sp>
        <p:sp>
          <p:nvSpPr>
            <p:cNvPr id="30" name="Google Shape;30;p2"/>
            <p:cNvSpPr/>
            <p:nvPr/>
          </p:nvSpPr>
          <p:spPr>
            <a:xfrm>
              <a:off x="8295776" y="-8467"/>
              <a:ext cx="857530" cy="6866467"/>
            </a:xfrm>
            <a:custGeom>
              <a:rect b="b" l="l" r="r" t="t"/>
              <a:pathLst>
                <a:path extrusionOk="0" h="6866467" w="1286933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rgbClr val="BFE471">
                <a:alpha val="6980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8077231" y="-8468"/>
              <a:ext cx="1066770" cy="6866467"/>
            </a:xfrm>
            <a:custGeom>
              <a:rect b="b" l="l" r="r" t="t"/>
              <a:pathLst>
                <a:path extrusionOk="0" h="6866467" w="1270244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4705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8060297" y="4893733"/>
              <a:ext cx="1094086" cy="1964267"/>
            </a:xfrm>
            <a:custGeom>
              <a:rect b="b" l="l" r="r" t="t"/>
              <a:pathLst>
                <a:path extrusionOk="0" h="3268133" w="18203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-8466" y="-8468"/>
              <a:ext cx="863600" cy="5698067"/>
            </a:xfrm>
            <a:custGeom>
              <a:rect b="b" l="l" r="r" t="t"/>
              <a:pathLst>
                <a:path extrusionOk="0" h="5698067" w="863600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4705"/>
              </a:schemeClr>
            </a:solidFill>
            <a:ln>
              <a:noFill/>
            </a:ln>
          </p:spPr>
        </p:sp>
      </p:grpSp>
      <p:sp>
        <p:nvSpPr>
          <p:cNvPr id="34" name="Google Shape;34;p2"/>
          <p:cNvSpPr txBox="1"/>
          <p:nvPr>
            <p:ph type="ctrTitle"/>
          </p:nvPr>
        </p:nvSpPr>
        <p:spPr>
          <a:xfrm>
            <a:off x="1130595" y="2404534"/>
            <a:ext cx="5826719" cy="164630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Font typeface="Trebuchet MS"/>
              <a:buNone/>
              <a:defRPr sz="5400">
                <a:solidFill>
                  <a:schemeClr val="accen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"/>
          <p:cNvSpPr txBox="1"/>
          <p:nvPr>
            <p:ph idx="1" type="subTitle"/>
          </p:nvPr>
        </p:nvSpPr>
        <p:spPr>
          <a:xfrm>
            <a:off x="1130595" y="4050834"/>
            <a:ext cx="5826719" cy="10968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spcBef>
                <a:spcPts val="1000"/>
              </a:spcBef>
              <a:spcAft>
                <a:spcPts val="0"/>
              </a:spcAft>
              <a:buSzPts val="1440"/>
              <a:buNone/>
              <a:defRPr>
                <a:solidFill>
                  <a:srgbClr val="7F7F7F"/>
                </a:solidFill>
              </a:defRPr>
            </a:lvl1pPr>
            <a:lvl2pPr lvl="1" algn="ctr">
              <a:spcBef>
                <a:spcPts val="1000"/>
              </a:spcBef>
              <a:spcAft>
                <a:spcPts val="0"/>
              </a:spcAft>
              <a:buSzPts val="128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6" name="Google Shape;36;p2"/>
          <p:cNvSpPr txBox="1"/>
          <p:nvPr>
            <p:ph idx="10" type="dt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"/>
          <p:cNvSpPr txBox="1"/>
          <p:nvPr>
            <p:ph idx="11" type="ftr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"/>
          <p:cNvSpPr txBox="1"/>
          <p:nvPr>
            <p:ph idx="12" type="sldNum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"/>
          <p:cNvSpPr txBox="1"/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3"/>
          <p:cNvSpPr txBox="1"/>
          <p:nvPr>
            <p:ph idx="1" type="body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42" name="Google Shape;42;p3"/>
          <p:cNvSpPr txBox="1"/>
          <p:nvPr>
            <p:ph idx="10" type="dt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3"/>
          <p:cNvSpPr txBox="1"/>
          <p:nvPr>
            <p:ph idx="11" type="ftr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3"/>
          <p:cNvSpPr txBox="1"/>
          <p:nvPr>
            <p:ph idx="12" type="sldNum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4"/>
          <p:cNvSpPr txBox="1"/>
          <p:nvPr>
            <p:ph type="title"/>
          </p:nvPr>
        </p:nvSpPr>
        <p:spPr>
          <a:xfrm>
            <a:off x="609598" y="2700868"/>
            <a:ext cx="6347715" cy="18265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rebuchet MS"/>
              <a:buNone/>
              <a:defRPr b="0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" type="body"/>
          </p:nvPr>
        </p:nvSpPr>
        <p:spPr>
          <a:xfrm>
            <a:off x="609598" y="4527448"/>
            <a:ext cx="6347715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>
                <a:solidFill>
                  <a:srgbClr val="7F7F7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8" name="Google Shape;48;p4"/>
          <p:cNvSpPr txBox="1"/>
          <p:nvPr>
            <p:ph idx="10" type="dt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4"/>
          <p:cNvSpPr txBox="1"/>
          <p:nvPr>
            <p:ph idx="11" type="ftr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4"/>
          <p:cNvSpPr txBox="1"/>
          <p:nvPr>
            <p:ph idx="12" type="sldNum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5"/>
          <p:cNvSpPr txBox="1"/>
          <p:nvPr>
            <p:ph type="title"/>
          </p:nvPr>
        </p:nvSpPr>
        <p:spPr>
          <a:xfrm>
            <a:off x="609600" y="609600"/>
            <a:ext cx="6347714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609600" y="2160589"/>
            <a:ext cx="3088109" cy="38807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 sz="1800"/>
            </a:lvl1pPr>
            <a:lvl2pPr indent="-309880" lvl="1" marL="914400" algn="l">
              <a:spcBef>
                <a:spcPts val="1000"/>
              </a:spcBef>
              <a:spcAft>
                <a:spcPts val="0"/>
              </a:spcAft>
              <a:buSzPts val="1280"/>
              <a:buChar char="►"/>
              <a:defRPr sz="1600"/>
            </a:lvl2pPr>
            <a:lvl3pPr indent="-299720" lvl="2" marL="13716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3pPr>
            <a:lvl4pPr indent="-289560" lvl="3" marL="1828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4pPr>
            <a:lvl5pPr indent="-289560" lvl="4" marL="22860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5pPr>
            <a:lvl6pPr indent="-289560" lvl="5" marL="27432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6pPr>
            <a:lvl7pPr indent="-289560" lvl="6" marL="32004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7pPr>
            <a:lvl8pPr indent="-289560" lvl="7" marL="36576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8pPr>
            <a:lvl9pPr indent="-289560" lvl="8" marL="4114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3869204" y="2160590"/>
            <a:ext cx="3088110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 sz="1800"/>
            </a:lvl1pPr>
            <a:lvl2pPr indent="-309880" lvl="1" marL="914400" algn="l">
              <a:spcBef>
                <a:spcPts val="1000"/>
              </a:spcBef>
              <a:spcAft>
                <a:spcPts val="0"/>
              </a:spcAft>
              <a:buSzPts val="1280"/>
              <a:buChar char="►"/>
              <a:defRPr sz="1600"/>
            </a:lvl2pPr>
            <a:lvl3pPr indent="-299720" lvl="2" marL="13716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3pPr>
            <a:lvl4pPr indent="-289560" lvl="3" marL="1828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4pPr>
            <a:lvl5pPr indent="-289560" lvl="4" marL="22860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5pPr>
            <a:lvl6pPr indent="-289560" lvl="5" marL="27432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6pPr>
            <a:lvl7pPr indent="-289560" lvl="6" marL="32004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7pPr>
            <a:lvl8pPr indent="-289560" lvl="7" marL="36576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8pPr>
            <a:lvl9pPr indent="-289560" lvl="8" marL="4114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9pPr>
          </a:lstStyle>
          <a:p/>
        </p:txBody>
      </p:sp>
      <p:sp>
        <p:nvSpPr>
          <p:cNvPr id="55" name="Google Shape;55;p5"/>
          <p:cNvSpPr txBox="1"/>
          <p:nvPr>
            <p:ph idx="10" type="dt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5"/>
          <p:cNvSpPr txBox="1"/>
          <p:nvPr>
            <p:ph idx="11" type="ftr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5"/>
          <p:cNvSpPr txBox="1"/>
          <p:nvPr>
            <p:ph idx="12" type="sldNum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6"/>
          <p:cNvSpPr txBox="1"/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6"/>
          <p:cNvSpPr txBox="1"/>
          <p:nvPr>
            <p:ph idx="1" type="body"/>
          </p:nvPr>
        </p:nvSpPr>
        <p:spPr>
          <a:xfrm>
            <a:off x="609599" y="2160983"/>
            <a:ext cx="3090672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61" name="Google Shape;61;p6"/>
          <p:cNvSpPr txBox="1"/>
          <p:nvPr>
            <p:ph idx="2" type="body"/>
          </p:nvPr>
        </p:nvSpPr>
        <p:spPr>
          <a:xfrm>
            <a:off x="609599" y="2737246"/>
            <a:ext cx="3090672" cy="33041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62" name="Google Shape;62;p6"/>
          <p:cNvSpPr txBox="1"/>
          <p:nvPr>
            <p:ph idx="3" type="body"/>
          </p:nvPr>
        </p:nvSpPr>
        <p:spPr>
          <a:xfrm>
            <a:off x="3866640" y="2160983"/>
            <a:ext cx="3090672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63" name="Google Shape;63;p6"/>
          <p:cNvSpPr txBox="1"/>
          <p:nvPr>
            <p:ph idx="4" type="body"/>
          </p:nvPr>
        </p:nvSpPr>
        <p:spPr>
          <a:xfrm>
            <a:off x="3866640" y="2737246"/>
            <a:ext cx="3090672" cy="33041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64" name="Google Shape;64;p6"/>
          <p:cNvSpPr txBox="1"/>
          <p:nvPr>
            <p:ph idx="10" type="dt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6"/>
          <p:cNvSpPr txBox="1"/>
          <p:nvPr>
            <p:ph idx="11" type="ftr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6"/>
          <p:cNvSpPr txBox="1"/>
          <p:nvPr>
            <p:ph idx="12" type="sldNum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7"/>
          <p:cNvSpPr txBox="1"/>
          <p:nvPr>
            <p:ph type="title"/>
          </p:nvPr>
        </p:nvSpPr>
        <p:spPr>
          <a:xfrm>
            <a:off x="609599" y="609600"/>
            <a:ext cx="6347714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7"/>
          <p:cNvSpPr txBox="1"/>
          <p:nvPr>
            <p:ph idx="10" type="dt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7"/>
          <p:cNvSpPr txBox="1"/>
          <p:nvPr>
            <p:ph idx="11" type="ftr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7"/>
          <p:cNvSpPr txBox="1"/>
          <p:nvPr>
            <p:ph idx="12" type="sldNum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8"/>
          <p:cNvSpPr txBox="1"/>
          <p:nvPr>
            <p:ph idx="10" type="dt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8"/>
          <p:cNvSpPr txBox="1"/>
          <p:nvPr>
            <p:ph idx="11" type="ftr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8"/>
          <p:cNvSpPr txBox="1"/>
          <p:nvPr>
            <p:ph idx="12" type="sldNum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9"/>
          <p:cNvSpPr txBox="1"/>
          <p:nvPr>
            <p:ph type="title"/>
          </p:nvPr>
        </p:nvSpPr>
        <p:spPr>
          <a:xfrm>
            <a:off x="609599" y="1498604"/>
            <a:ext cx="2790182" cy="127846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Trebuchet MS"/>
              <a:buNone/>
              <a:defRPr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9"/>
          <p:cNvSpPr txBox="1"/>
          <p:nvPr>
            <p:ph idx="1" type="body"/>
          </p:nvPr>
        </p:nvSpPr>
        <p:spPr>
          <a:xfrm>
            <a:off x="3571275" y="514925"/>
            <a:ext cx="3386037" cy="5526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79" name="Google Shape;79;p9"/>
          <p:cNvSpPr txBox="1"/>
          <p:nvPr>
            <p:ph idx="2" type="body"/>
          </p:nvPr>
        </p:nvSpPr>
        <p:spPr>
          <a:xfrm>
            <a:off x="609599" y="2777069"/>
            <a:ext cx="2790182" cy="25844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840"/>
              <a:buNone/>
              <a:defRPr sz="105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600"/>
              <a:buNone/>
              <a:defRPr sz="75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600"/>
              <a:buNone/>
              <a:defRPr sz="75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600"/>
              <a:buNone/>
              <a:defRPr sz="75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600"/>
              <a:buNone/>
              <a:defRPr sz="75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600"/>
              <a:buNone/>
              <a:defRPr sz="75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600"/>
              <a:buNone/>
              <a:defRPr sz="750"/>
            </a:lvl9pPr>
          </a:lstStyle>
          <a:p/>
        </p:txBody>
      </p:sp>
      <p:sp>
        <p:nvSpPr>
          <p:cNvPr id="80" name="Google Shape;80;p9"/>
          <p:cNvSpPr txBox="1"/>
          <p:nvPr>
            <p:ph idx="10" type="dt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9"/>
          <p:cNvSpPr txBox="1"/>
          <p:nvPr>
            <p:ph idx="11" type="ftr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9"/>
          <p:cNvSpPr txBox="1"/>
          <p:nvPr>
            <p:ph idx="12" type="sldNum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0"/>
          <p:cNvSpPr txBox="1"/>
          <p:nvPr>
            <p:ph type="title"/>
          </p:nvPr>
        </p:nvSpPr>
        <p:spPr>
          <a:xfrm>
            <a:off x="609599" y="4800600"/>
            <a:ext cx="6347714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rebuchet MS"/>
              <a:buNone/>
              <a:defRPr b="0"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0"/>
          <p:cNvSpPr/>
          <p:nvPr>
            <p:ph idx="2" type="pic"/>
          </p:nvPr>
        </p:nvSpPr>
        <p:spPr>
          <a:xfrm>
            <a:off x="609599" y="609600"/>
            <a:ext cx="6347714" cy="3845718"/>
          </a:xfrm>
          <a:prstGeom prst="rect">
            <a:avLst/>
          </a:prstGeom>
          <a:noFill/>
          <a:ln>
            <a:noFill/>
          </a:ln>
        </p:spPr>
      </p:sp>
      <p:sp>
        <p:nvSpPr>
          <p:cNvPr id="86" name="Google Shape;86;p10"/>
          <p:cNvSpPr txBox="1"/>
          <p:nvPr>
            <p:ph idx="1" type="body"/>
          </p:nvPr>
        </p:nvSpPr>
        <p:spPr>
          <a:xfrm>
            <a:off x="609599" y="5367338"/>
            <a:ext cx="6347714" cy="6740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87" name="Google Shape;87;p10"/>
          <p:cNvSpPr txBox="1"/>
          <p:nvPr>
            <p:ph idx="10" type="dt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0"/>
          <p:cNvSpPr txBox="1"/>
          <p:nvPr>
            <p:ph idx="11" type="ftr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0"/>
          <p:cNvSpPr txBox="1"/>
          <p:nvPr>
            <p:ph idx="12" type="sldNum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aption">
  <p:cSld name="Title and Caption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1"/>
          <p:cNvSpPr txBox="1"/>
          <p:nvPr>
            <p:ph type="title"/>
          </p:nvPr>
        </p:nvSpPr>
        <p:spPr>
          <a:xfrm>
            <a:off x="609600" y="609600"/>
            <a:ext cx="6347714" cy="34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b="0" sz="44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1"/>
          <p:cNvSpPr txBox="1"/>
          <p:nvPr>
            <p:ph idx="1" type="body"/>
          </p:nvPr>
        </p:nvSpPr>
        <p:spPr>
          <a:xfrm>
            <a:off x="609600" y="4470400"/>
            <a:ext cx="6347714" cy="15709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3F3F3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3" name="Google Shape;93;p11"/>
          <p:cNvSpPr txBox="1"/>
          <p:nvPr>
            <p:ph idx="10" type="dt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1"/>
          <p:cNvSpPr txBox="1"/>
          <p:nvPr>
            <p:ph idx="11" type="ftr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1"/>
          <p:cNvSpPr txBox="1"/>
          <p:nvPr>
            <p:ph idx="12" type="sldNum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>
  <p:cSld name="Quote with Caption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2"/>
          <p:cNvSpPr txBox="1"/>
          <p:nvPr>
            <p:ph type="title"/>
          </p:nvPr>
        </p:nvSpPr>
        <p:spPr>
          <a:xfrm>
            <a:off x="774885" y="609600"/>
            <a:ext cx="6072182" cy="302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b="0" sz="44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2"/>
          <p:cNvSpPr txBox="1"/>
          <p:nvPr>
            <p:ph idx="1" type="body"/>
          </p:nvPr>
        </p:nvSpPr>
        <p:spPr>
          <a:xfrm>
            <a:off x="1101074" y="3632200"/>
            <a:ext cx="5419804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280"/>
              <a:buFont typeface="Trebuchet MS"/>
              <a:buNone/>
              <a:defRPr sz="1600">
                <a:solidFill>
                  <a:srgbClr val="7F7F7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280"/>
              <a:buFont typeface="Trebuchet MS"/>
              <a:buNone/>
              <a:defRPr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120"/>
              <a:buFont typeface="Trebuchet MS"/>
              <a:buNone/>
              <a:defRPr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99" name="Google Shape;99;p12"/>
          <p:cNvSpPr txBox="1"/>
          <p:nvPr>
            <p:ph idx="2" type="body"/>
          </p:nvPr>
        </p:nvSpPr>
        <p:spPr>
          <a:xfrm>
            <a:off x="609598" y="4470400"/>
            <a:ext cx="6347715" cy="15709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3F3F3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0" name="Google Shape;100;p12"/>
          <p:cNvSpPr txBox="1"/>
          <p:nvPr>
            <p:ph idx="10" type="dt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12"/>
          <p:cNvSpPr txBox="1"/>
          <p:nvPr>
            <p:ph idx="11" type="ftr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12"/>
          <p:cNvSpPr txBox="1"/>
          <p:nvPr>
            <p:ph idx="12" type="sldNum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03" name="Google Shape;103;p12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8000" u="none" cap="none" strike="noStrike">
                <a:solidFill>
                  <a:srgbClr val="BFE47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104" name="Google Shape;104;p12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8000" u="none" cap="none" strike="noStrike">
                <a:solidFill>
                  <a:srgbClr val="BFE47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>
  <p:cSld name="Name Card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3"/>
          <p:cNvSpPr txBox="1"/>
          <p:nvPr>
            <p:ph type="title"/>
          </p:nvPr>
        </p:nvSpPr>
        <p:spPr>
          <a:xfrm>
            <a:off x="609598" y="1931988"/>
            <a:ext cx="6347715" cy="25954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b="0" sz="44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13"/>
          <p:cNvSpPr txBox="1"/>
          <p:nvPr>
            <p:ph idx="1" type="body"/>
          </p:nvPr>
        </p:nvSpPr>
        <p:spPr>
          <a:xfrm>
            <a:off x="609598" y="4527448"/>
            <a:ext cx="6347715" cy="15139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3F3F3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8" name="Google Shape;108;p13"/>
          <p:cNvSpPr txBox="1"/>
          <p:nvPr>
            <p:ph idx="10" type="dt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13"/>
          <p:cNvSpPr txBox="1"/>
          <p:nvPr>
            <p:ph idx="11" type="ftr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13"/>
          <p:cNvSpPr txBox="1"/>
          <p:nvPr>
            <p:ph idx="12" type="sldNum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Name Card">
  <p:cSld name="Quote Name Card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4"/>
          <p:cNvSpPr txBox="1"/>
          <p:nvPr>
            <p:ph type="title"/>
          </p:nvPr>
        </p:nvSpPr>
        <p:spPr>
          <a:xfrm>
            <a:off x="774885" y="609600"/>
            <a:ext cx="6072182" cy="302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b="0" sz="44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14"/>
          <p:cNvSpPr txBox="1"/>
          <p:nvPr>
            <p:ph idx="1" type="body"/>
          </p:nvPr>
        </p:nvSpPr>
        <p:spPr>
          <a:xfrm>
            <a:off x="609597" y="4013200"/>
            <a:ext cx="6347716" cy="5142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Font typeface="Trebuchet MS"/>
              <a:buNone/>
              <a:defRPr sz="2400">
                <a:solidFill>
                  <a:srgbClr val="3F3F3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280"/>
              <a:buFont typeface="Trebuchet MS"/>
              <a:buNone/>
              <a:defRPr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120"/>
              <a:buFont typeface="Trebuchet MS"/>
              <a:buNone/>
              <a:defRPr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14" name="Google Shape;114;p14"/>
          <p:cNvSpPr txBox="1"/>
          <p:nvPr>
            <p:ph idx="2" type="body"/>
          </p:nvPr>
        </p:nvSpPr>
        <p:spPr>
          <a:xfrm>
            <a:off x="609598" y="4527448"/>
            <a:ext cx="6347715" cy="15139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7F7F7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5" name="Google Shape;115;p14"/>
          <p:cNvSpPr txBox="1"/>
          <p:nvPr>
            <p:ph idx="10" type="dt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14"/>
          <p:cNvSpPr txBox="1"/>
          <p:nvPr>
            <p:ph idx="11" type="ftr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14"/>
          <p:cNvSpPr txBox="1"/>
          <p:nvPr>
            <p:ph idx="12" type="sldNum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18" name="Google Shape;118;p14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8000" u="none" cap="none" strike="noStrike">
                <a:solidFill>
                  <a:srgbClr val="BFE47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119" name="Google Shape;119;p1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8000" u="none" cap="none" strike="noStrike">
                <a:solidFill>
                  <a:srgbClr val="BFE47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ue or False">
  <p:cSld name="True or False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5"/>
          <p:cNvSpPr txBox="1"/>
          <p:nvPr>
            <p:ph type="title"/>
          </p:nvPr>
        </p:nvSpPr>
        <p:spPr>
          <a:xfrm>
            <a:off x="615848" y="609600"/>
            <a:ext cx="6341465" cy="302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b="0" sz="44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15"/>
          <p:cNvSpPr txBox="1"/>
          <p:nvPr>
            <p:ph idx="1" type="body"/>
          </p:nvPr>
        </p:nvSpPr>
        <p:spPr>
          <a:xfrm>
            <a:off x="609597" y="4013200"/>
            <a:ext cx="6347716" cy="5142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Font typeface="Trebuchet MS"/>
              <a:buNone/>
              <a:defRPr sz="2400">
                <a:solidFill>
                  <a:schemeClr val="accent1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280"/>
              <a:buFont typeface="Trebuchet MS"/>
              <a:buNone/>
              <a:defRPr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120"/>
              <a:buFont typeface="Trebuchet MS"/>
              <a:buNone/>
              <a:defRPr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23" name="Google Shape;123;p15"/>
          <p:cNvSpPr txBox="1"/>
          <p:nvPr>
            <p:ph idx="2" type="body"/>
          </p:nvPr>
        </p:nvSpPr>
        <p:spPr>
          <a:xfrm>
            <a:off x="609598" y="4527448"/>
            <a:ext cx="6347715" cy="15139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7F7F7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24" name="Google Shape;124;p15"/>
          <p:cNvSpPr txBox="1"/>
          <p:nvPr>
            <p:ph idx="10" type="dt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15"/>
          <p:cNvSpPr txBox="1"/>
          <p:nvPr>
            <p:ph idx="11" type="ftr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15"/>
          <p:cNvSpPr txBox="1"/>
          <p:nvPr>
            <p:ph idx="12" type="sldNum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6"/>
          <p:cNvSpPr txBox="1"/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16"/>
          <p:cNvSpPr txBox="1"/>
          <p:nvPr>
            <p:ph idx="1" type="body"/>
          </p:nvPr>
        </p:nvSpPr>
        <p:spPr>
          <a:xfrm rot="5400000">
            <a:off x="1843070" y="927120"/>
            <a:ext cx="3880773" cy="63477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30" name="Google Shape;130;p16"/>
          <p:cNvSpPr txBox="1"/>
          <p:nvPr>
            <p:ph idx="10" type="dt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16"/>
          <p:cNvSpPr txBox="1"/>
          <p:nvPr>
            <p:ph idx="11" type="ftr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16"/>
          <p:cNvSpPr txBox="1"/>
          <p:nvPr>
            <p:ph idx="12" type="sldNum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7"/>
          <p:cNvSpPr txBox="1"/>
          <p:nvPr>
            <p:ph type="title"/>
          </p:nvPr>
        </p:nvSpPr>
        <p:spPr>
          <a:xfrm rot="5400000">
            <a:off x="3840993" y="2745920"/>
            <a:ext cx="5251451" cy="978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17"/>
          <p:cNvSpPr txBox="1"/>
          <p:nvPr>
            <p:ph idx="1" type="body"/>
          </p:nvPr>
        </p:nvSpPr>
        <p:spPr>
          <a:xfrm rot="5400000">
            <a:off x="581386" y="637813"/>
            <a:ext cx="5251451" cy="51950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36" name="Google Shape;136;p17"/>
          <p:cNvSpPr txBox="1"/>
          <p:nvPr>
            <p:ph idx="10" type="dt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17"/>
          <p:cNvSpPr txBox="1"/>
          <p:nvPr>
            <p:ph idx="11" type="ftr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17"/>
          <p:cNvSpPr txBox="1"/>
          <p:nvPr>
            <p:ph idx="12" type="sldNum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theme" Target="../theme/theme2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oogle Shape;6;p1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Google Shape;7;p1"/>
            <p:cNvSpPr/>
            <p:nvPr/>
          </p:nvSpPr>
          <p:spPr>
            <a:xfrm>
              <a:off x="-8467" y="4013200"/>
              <a:ext cx="457200" cy="2853267"/>
            </a:xfrm>
            <a:custGeom>
              <a:rect b="b" l="l" r="r" t="t"/>
              <a:pathLst>
                <a:path extrusionOk="0" h="2853267" w="457200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4705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8" name="Google Shape;8;p1"/>
            <p:cNvCxnSpPr/>
            <p:nvPr/>
          </p:nvCxnSpPr>
          <p:spPr>
            <a:xfrm flipH="1" rot="10800000">
              <a:off x="5130830" y="4175605"/>
              <a:ext cx="4022475" cy="2682396"/>
            </a:xfrm>
            <a:prstGeom prst="straightConnector1">
              <a:avLst/>
            </a:prstGeom>
            <a:noFill/>
            <a:ln cap="flat" cmpd="sng" w="95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" name="Google Shape;9;p1"/>
            <p:cNvCxnSpPr/>
            <p:nvPr/>
          </p:nvCxnSpPr>
          <p:spPr>
            <a:xfrm>
              <a:off x="7042707" y="0"/>
              <a:ext cx="1219200" cy="6858000"/>
            </a:xfrm>
            <a:prstGeom prst="straightConnector1">
              <a:avLst/>
            </a:prstGeom>
            <a:noFill/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0" name="Google Shape;10;p1"/>
            <p:cNvSpPr/>
            <p:nvPr/>
          </p:nvSpPr>
          <p:spPr>
            <a:xfrm>
              <a:off x="6891896" y="1"/>
              <a:ext cx="2269442" cy="6866466"/>
            </a:xfrm>
            <a:custGeom>
              <a:rect b="b" l="l" r="r" t="t"/>
              <a:pathLst>
                <a:path extrusionOk="0" h="6866466" w="2269442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29803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" name="Google Shape;11;p1"/>
            <p:cNvSpPr/>
            <p:nvPr/>
          </p:nvSpPr>
          <p:spPr>
            <a:xfrm>
              <a:off x="7205158" y="-8467"/>
              <a:ext cx="1948147" cy="6866467"/>
            </a:xfrm>
            <a:custGeom>
              <a:rect b="b" l="l" r="r" t="t"/>
              <a:pathLst>
                <a:path extrusionOk="0" h="6866467" w="194814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1"/>
            <p:cNvSpPr/>
            <p:nvPr/>
          </p:nvSpPr>
          <p:spPr>
            <a:xfrm>
              <a:off x="6637896" y="3920066"/>
              <a:ext cx="2513565" cy="2937933"/>
            </a:xfrm>
            <a:custGeom>
              <a:rect b="b" l="l" r="r" t="t"/>
              <a:pathLst>
                <a:path extrusionOk="0" h="3810000" w="3259667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176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1"/>
            <p:cNvSpPr/>
            <p:nvPr/>
          </p:nvSpPr>
          <p:spPr>
            <a:xfrm>
              <a:off x="7010429" y="-8467"/>
              <a:ext cx="2142876" cy="6866467"/>
            </a:xfrm>
            <a:custGeom>
              <a:rect b="b" l="l" r="r" t="t"/>
              <a:pathLst>
                <a:path extrusionOk="0" h="6866467" w="28532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F7818">
                <a:alpha val="69803"/>
              </a:srgbClr>
            </a:solidFill>
            <a:ln>
              <a:noFill/>
            </a:ln>
          </p:spPr>
        </p:sp>
        <p:sp>
          <p:nvSpPr>
            <p:cNvPr id="14" name="Google Shape;14;p1"/>
            <p:cNvSpPr/>
            <p:nvPr/>
          </p:nvSpPr>
          <p:spPr>
            <a:xfrm>
              <a:off x="8295776" y="-8467"/>
              <a:ext cx="857530" cy="6866467"/>
            </a:xfrm>
            <a:custGeom>
              <a:rect b="b" l="l" r="r" t="t"/>
              <a:pathLst>
                <a:path extrusionOk="0" h="6866467" w="1286933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rgbClr val="BFE471">
                <a:alpha val="6980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1"/>
            <p:cNvSpPr/>
            <p:nvPr/>
          </p:nvSpPr>
          <p:spPr>
            <a:xfrm>
              <a:off x="8077231" y="-8468"/>
              <a:ext cx="1066770" cy="6866467"/>
            </a:xfrm>
            <a:custGeom>
              <a:rect b="b" l="l" r="r" t="t"/>
              <a:pathLst>
                <a:path extrusionOk="0" h="6866467" w="1270244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4705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1"/>
            <p:cNvSpPr/>
            <p:nvPr/>
          </p:nvSpPr>
          <p:spPr>
            <a:xfrm>
              <a:off x="8060297" y="4893733"/>
              <a:ext cx="1094086" cy="1964267"/>
            </a:xfrm>
            <a:custGeom>
              <a:rect b="b" l="l" r="r" t="t"/>
              <a:pathLst>
                <a:path extrusionOk="0" h="3268133" w="18203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" name="Google Shape;17;p1"/>
          <p:cNvSpPr txBox="1"/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  <a:defRPr b="0" i="0" sz="36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8" name="Google Shape;18;p1"/>
          <p:cNvSpPr txBox="1"/>
          <p:nvPr>
            <p:ph idx="1" type="body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Char char="►"/>
              <a:defRPr b="0" i="0" sz="18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09880" lvl="1" marL="914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Char char="►"/>
              <a:defRPr b="0" i="0" sz="16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-299720" lvl="2" marL="1371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-289560" lvl="3" marL="1828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-289560" lvl="4" marL="22860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-289560" lvl="5" marL="2743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-289560" lvl="6" marL="3200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-289560" lvl="7" marL="3657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-289560" lvl="8" marL="4114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19" name="Google Shape;19;p1"/>
          <p:cNvSpPr txBox="1"/>
          <p:nvPr>
            <p:ph idx="10" type="dt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20" name="Google Shape;20;p1"/>
          <p:cNvSpPr txBox="1"/>
          <p:nvPr>
            <p:ph idx="11" type="ftr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21" name="Google Shape;21;p1"/>
          <p:cNvSpPr txBox="1"/>
          <p:nvPr>
            <p:ph idx="12" type="sldNum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jpg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www.ncbi.nlm.nih.gov/pmc/articles/PMC11920274/" TargetMode="External"/><Relationship Id="rId4" Type="http://schemas.openxmlformats.org/officeDocument/2006/relationships/image" Target="../media/image2.png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docs.opencv.org/4.x/d3/dc0/group__imgproc__shape.html#ga8ea7a3017b288220c3bb7c6c71496488" TargetMode="Externa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arxiv.org/abs/2301.10077" TargetMode="External"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academic.oup.com/bioinformatics/article/36/4/1234/5566506" TargetMode="External"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www.frontiersin.org/articles/10.3389/frai.2025.1608837/full" TargetMode="External"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powerdrill.ai/discover/discover-R-LLaVA-Improving-Med-VQA-cm2uxqs320whv016kwr2clma0" TargetMode="External"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2.png"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4.png"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5.png"/></Relationships>
</file>

<file path=ppt/slides/_rels/slide4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Relationship Id="rId3" Type="http://schemas.openxmlformats.org/officeDocument/2006/relationships/hyperlink" Target="https://www.ncbi.nlm.nih.gov/pmc/articles/PMC11920274/" TargetMode="External"/><Relationship Id="rId4" Type="http://schemas.openxmlformats.org/officeDocument/2006/relationships/hyperlink" Target="https://arxiv.org/abs/2301.10077" TargetMode="External"/><Relationship Id="rId9" Type="http://schemas.openxmlformats.org/officeDocument/2006/relationships/hyperlink" Target="https://arxiv.org/abs/2307.12365" TargetMode="External"/><Relationship Id="rId5" Type="http://schemas.openxmlformats.org/officeDocument/2006/relationships/hyperlink" Target="https://powerdrill.ai/discover/discover-R-LLaVA-Improving-Med-VQA-cm2uxqs320whv016kwr2clma0" TargetMode="External"/><Relationship Id="rId6" Type="http://schemas.openxmlformats.org/officeDocument/2006/relationships/hyperlink" Target="https://academic.oup.com/bioinformatics/article/36/4/1234/5566506" TargetMode="External"/><Relationship Id="rId7" Type="http://schemas.openxmlformats.org/officeDocument/2006/relationships/hyperlink" Target="https://arxiv.org/html/2508.21793v1" TargetMode="External"/><Relationship Id="rId8" Type="http://schemas.openxmlformats.org/officeDocument/2006/relationships/hyperlink" Target="https://arxiv.org/abs/2204.08484" TargetMode="External"/></Relationships>
</file>

<file path=ppt/slides/_rels/slide5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_rels/slide5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3" Type="http://schemas.openxmlformats.org/officeDocument/2006/relationships/hyperlink" Target="https://www.frontiersin.org/articles/10.3389/frai.2025.1608837/full" TargetMode="External"/><Relationship Id="rId4" Type="http://schemas.openxmlformats.org/officeDocument/2006/relationships/image" Target="../media/itf_metrics.png"/><Relationship Id="rId5" Type="http://schemas.openxmlformats.org/officeDocument/2006/relationships/image" Target="../media/itf_classreport.png"/></Relationships>
</file>

<file path=ppt/slides/_rels/slide5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3" Type="http://schemas.openxmlformats.org/officeDocument/2006/relationships/hyperlink" Target="https://www.frontiersin.org/articles/10.3389/frai.2025.1608837/full" TargetMode="External"/><Relationship Id="rId4" Type="http://schemas.openxmlformats.org/officeDocument/2006/relationships/image" Target="../media/itf_traincurves.png"/></Relationships>
</file>

<file path=ppt/slides/_rels/slide5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3" Type="http://schemas.openxmlformats.org/officeDocument/2006/relationships/hyperlink" Target="https://www.frontiersin.org/articles/10.3389/frai.2025.1608837/full" TargetMode="External"/><Relationship Id="rId4" Type="http://schemas.openxmlformats.org/officeDocument/2006/relationships/image" Target="../media/itf_confmatrix.png"/></Relationships>
</file>

<file path=ppt/slides/_rels/slide5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3" Type="http://schemas.openxmlformats.org/officeDocument/2006/relationships/hyperlink" Target="https://www.frontiersin.org/articles/10.3389/frai.2025.1608837/full" TargetMode="External"/><Relationship Id="rId4" Type="http://schemas.openxmlformats.org/officeDocument/2006/relationships/image" Target="../media/itf_f1bars.png"/><Relationship Id="rId5" Type="http://schemas.openxmlformats.org/officeDocument/2006/relationships/image" Target="../media/itf_gateweights.png"/></Relationships>
</file>

<file path=ppt/slides/_rels/slide6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3" Type="http://schemas.openxmlformats.org/officeDocument/2006/relationships/hyperlink" Target="https://powerdrill.ai/discover/discover-R-LLaVA-Improving-Med-VQA-cm2uxqs320whv016kwr2clma0" TargetMode="External"/></Relationships>
</file>

<file path=ppt/slides/_rels/slide6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3" Type="http://schemas.openxmlformats.org/officeDocument/2006/relationships/hyperlink" Target="https://powerdrill.ai/discover/discover-R-LLaVA-Improving-Med-VQA-cm2uxqs320whv016kwr2clma0" TargetMode="External"/></Relationships>
</file>

<file path=ppt/slides/_rels/slide6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3" Type="http://schemas.openxmlformats.org/officeDocument/2006/relationships/hyperlink" Target="https://powerdrill.ai/discover/discover-R-LLaVA-Improving-Med-VQA-cm2uxqs320whv016kwr2clma0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8"/>
          <p:cNvSpPr txBox="1"/>
          <p:nvPr>
            <p:ph type="ctrTitle"/>
          </p:nvPr>
        </p:nvSpPr>
        <p:spPr>
          <a:xfrm>
            <a:off x="1130600" y="290075"/>
            <a:ext cx="6455700" cy="2664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Trebuchet MS"/>
              <a:buNone/>
            </a:pPr>
            <a:r>
              <a:rPr lang="en-IN" sz="4400">
                <a:solidFill>
                  <a:srgbClr val="002060"/>
                </a:solidFill>
              </a:rPr>
              <a:t>Multimodal AI System for Dermatology</a:t>
            </a:r>
            <a:endParaRPr sz="440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5400"/>
              <a:buFont typeface="Trebuchet MS"/>
              <a:buNone/>
            </a:pPr>
            <a:r>
              <a:rPr lang="en-IN" sz="4400">
                <a:solidFill>
                  <a:srgbClr val="002060"/>
                </a:solidFill>
              </a:rPr>
              <a:t>with ABCDE Explainability and VQA</a:t>
            </a:r>
            <a:endParaRPr sz="4400"/>
          </a:p>
        </p:txBody>
      </p:sp>
      <p:sp>
        <p:nvSpPr>
          <p:cNvPr id="144" name="Google Shape;144;p18"/>
          <p:cNvSpPr txBox="1"/>
          <p:nvPr>
            <p:ph idx="1" type="subTitle"/>
          </p:nvPr>
        </p:nvSpPr>
        <p:spPr>
          <a:xfrm>
            <a:off x="1887345" y="4523784"/>
            <a:ext cx="5826600" cy="10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920"/>
              <a:buNone/>
            </a:pPr>
            <a:r>
              <a:rPr lang="en-IN"/>
              <a:t>Presented by Akhil Kulal (M24CEIT001)</a:t>
            </a:r>
            <a:endParaRPr/>
          </a:p>
          <a:p>
            <a:pPr indent="0" lvl="0" marL="0" rtl="0" algn="r">
              <a:spcBef>
                <a:spcPts val="1000"/>
              </a:spcBef>
              <a:spcAft>
                <a:spcPts val="0"/>
              </a:spcAft>
              <a:buSzPts val="1920"/>
              <a:buNone/>
            </a:pPr>
            <a:r>
              <a:rPr lang="en-IN"/>
              <a:t>Under the guidance of Prof. Manasi Kulkarni</a:t>
            </a:r>
            <a:endParaRPr/>
          </a:p>
        </p:txBody>
      </p:sp>
      <p:sp>
        <p:nvSpPr>
          <p:cNvPr id="145" name="Google Shape;145;p18"/>
          <p:cNvSpPr txBox="1"/>
          <p:nvPr/>
        </p:nvSpPr>
        <p:spPr>
          <a:xfrm>
            <a:off x="2462575" y="3285525"/>
            <a:ext cx="5423400" cy="6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End-to-End Image–Text Fusion for Explainable Dermatology Decision Support</a:t>
            </a:r>
            <a:endParaRPr sz="1800">
              <a:solidFill>
                <a:srgbClr val="3F3F3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9"/>
          <p:cNvSpPr txBox="1"/>
          <p:nvPr>
            <p:ph type="title"/>
          </p:nvPr>
        </p:nvSpPr>
        <p:spPr>
          <a:xfrm>
            <a:off x="609599" y="136625"/>
            <a:ext cx="6347700" cy="13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3200"/>
              <a:buFont typeface="Trebuchet MS"/>
              <a:buNone/>
            </a:pPr>
            <a:r>
              <a:rPr lang="en-IN"/>
              <a:t>Introduction &amp; Motivation</a:t>
            </a:r>
            <a:endParaRPr/>
          </a:p>
        </p:txBody>
      </p:sp>
      <p:sp>
        <p:nvSpPr>
          <p:cNvPr id="151" name="Google Shape;151;p19"/>
          <p:cNvSpPr txBox="1"/>
          <p:nvPr>
            <p:ph idx="1" type="body"/>
          </p:nvPr>
        </p:nvSpPr>
        <p:spPr>
          <a:xfrm>
            <a:off x="836325" y="1288878"/>
            <a:ext cx="6347700" cy="49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25000" lnSpcReduction="20000"/>
          </a:bodyPr>
          <a:lstStyle/>
          <a:p>
            <a:pPr indent="-251460" lvl="0" marL="342900" rtl="0" algn="l">
              <a:spcBef>
                <a:spcPts val="0"/>
              </a:spcBef>
              <a:spcAft>
                <a:spcPts val="0"/>
              </a:spcAft>
              <a:buSzPct val="8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173" lvl="0" marL="342900" rtl="0" algn="l">
              <a:spcBef>
                <a:spcPts val="1000"/>
              </a:spcBef>
              <a:spcAft>
                <a:spcPts val="0"/>
              </a:spcAft>
              <a:buSzPct val="100000"/>
              <a:buChar char="►"/>
            </a:pPr>
            <a:r>
              <a:rPr lang="en-IN" sz="7173"/>
              <a:t>Skin cancer is one of the most common and dangerous</a:t>
            </a:r>
            <a:r>
              <a:rPr lang="en-IN" sz="7173"/>
              <a:t xml:space="preserve"> </a:t>
            </a:r>
            <a:r>
              <a:rPr lang="en-IN" sz="7173"/>
              <a:t>cancers worldwide.</a:t>
            </a:r>
            <a:endParaRPr sz="7173"/>
          </a:p>
          <a:p>
            <a:pPr indent="-355173" lvl="0" marL="342900" rtl="0" algn="l">
              <a:spcBef>
                <a:spcPts val="1000"/>
              </a:spcBef>
              <a:spcAft>
                <a:spcPts val="0"/>
              </a:spcAft>
              <a:buSzPct val="100000"/>
              <a:buChar char="►"/>
            </a:pPr>
            <a:r>
              <a:rPr lang="en-IN" sz="7173"/>
              <a:t xml:space="preserve"> Early diagnosis relies on the </a:t>
            </a:r>
            <a:r>
              <a:rPr b="1" lang="en-IN" sz="7173"/>
              <a:t>ABCDE rule</a:t>
            </a:r>
            <a:r>
              <a:rPr lang="en-IN" sz="7173"/>
              <a:t>:</a:t>
            </a:r>
            <a:endParaRPr sz="7173"/>
          </a:p>
          <a:p>
            <a:pPr indent="-308183" lvl="1" marL="742950" rtl="0" algn="l">
              <a:spcBef>
                <a:spcPts val="1000"/>
              </a:spcBef>
              <a:spcAft>
                <a:spcPts val="0"/>
              </a:spcAft>
              <a:buSzPct val="100000"/>
              <a:buChar char="►"/>
            </a:pPr>
            <a:r>
              <a:rPr lang="en-IN" sz="7173"/>
              <a:t>Asymmetry, Border, Color, Diameter, Evolution</a:t>
            </a:r>
            <a:endParaRPr sz="7173"/>
          </a:p>
          <a:p>
            <a:pPr indent="-355173" lvl="0" marL="342900" rtl="0" algn="l">
              <a:spcBef>
                <a:spcPts val="1000"/>
              </a:spcBef>
              <a:spcAft>
                <a:spcPts val="0"/>
              </a:spcAft>
              <a:buSzPct val="100000"/>
              <a:buChar char="►"/>
            </a:pPr>
            <a:r>
              <a:rPr lang="en-IN" sz="7173"/>
              <a:t xml:space="preserve">Existing AI systems only focus on </a:t>
            </a:r>
            <a:r>
              <a:rPr b="1" lang="en-IN" sz="7173"/>
              <a:t>image-only classification</a:t>
            </a:r>
            <a:endParaRPr b="1" sz="7173"/>
          </a:p>
          <a:p>
            <a:pPr indent="-355173" lvl="0" marL="342900" rtl="0" algn="l">
              <a:spcBef>
                <a:spcPts val="1000"/>
              </a:spcBef>
              <a:spcAft>
                <a:spcPts val="0"/>
              </a:spcAft>
              <a:buSzPct val="100000"/>
              <a:buChar char="►"/>
            </a:pPr>
            <a:r>
              <a:rPr lang="en-IN" sz="7173"/>
              <a:t>Clinical Diagnosis also depends on:</a:t>
            </a:r>
            <a:endParaRPr sz="7173"/>
          </a:p>
          <a:p>
            <a:pPr indent="-308183" lvl="1" marL="742950" rtl="0" algn="l">
              <a:spcBef>
                <a:spcPts val="1000"/>
              </a:spcBef>
              <a:spcAft>
                <a:spcPts val="0"/>
              </a:spcAft>
              <a:buSzPct val="100000"/>
              <a:buChar char="►"/>
            </a:pPr>
            <a:r>
              <a:rPr lang="en-IN" sz="7173"/>
              <a:t>Patient History</a:t>
            </a:r>
            <a:endParaRPr sz="7173"/>
          </a:p>
          <a:p>
            <a:pPr indent="-308183" lvl="1" marL="742950" rtl="0" algn="l">
              <a:spcBef>
                <a:spcPts val="1000"/>
              </a:spcBef>
              <a:spcAft>
                <a:spcPts val="0"/>
              </a:spcAft>
              <a:buSzPct val="100000"/>
              <a:buChar char="►"/>
            </a:pPr>
            <a:r>
              <a:rPr lang="en-IN" sz="7173"/>
              <a:t>Symptoms</a:t>
            </a:r>
            <a:endParaRPr sz="7173"/>
          </a:p>
          <a:p>
            <a:pPr indent="-308183" lvl="1" marL="742950" rtl="0" algn="l">
              <a:spcBef>
                <a:spcPts val="1000"/>
              </a:spcBef>
              <a:spcAft>
                <a:spcPts val="0"/>
              </a:spcAft>
              <a:buSzPct val="100000"/>
              <a:buChar char="►"/>
            </a:pPr>
            <a:r>
              <a:rPr lang="en-IN" sz="7173"/>
              <a:t>Medical Reports</a:t>
            </a:r>
            <a:endParaRPr sz="7173"/>
          </a:p>
          <a:p>
            <a:pPr indent="-355173" lvl="0" marL="342900" rtl="0" algn="l">
              <a:spcBef>
                <a:spcPts val="1000"/>
              </a:spcBef>
              <a:spcAft>
                <a:spcPts val="0"/>
              </a:spcAft>
              <a:buSzPct val="100000"/>
              <a:buChar char="►"/>
            </a:pPr>
            <a:r>
              <a:rPr lang="en-IN" sz="7173"/>
              <a:t xml:space="preserve">There is a strong need for </a:t>
            </a:r>
            <a:endParaRPr sz="7173"/>
          </a:p>
          <a:p>
            <a:pPr indent="-308183" lvl="1" marL="742950" rtl="0" algn="l">
              <a:spcBef>
                <a:spcPts val="1000"/>
              </a:spcBef>
              <a:spcAft>
                <a:spcPts val="0"/>
              </a:spcAft>
              <a:buSzPct val="100000"/>
              <a:buChar char="►"/>
            </a:pPr>
            <a:r>
              <a:rPr b="1" lang="en-IN" sz="7173"/>
              <a:t>Explainable</a:t>
            </a:r>
            <a:endParaRPr b="1" sz="7173"/>
          </a:p>
          <a:p>
            <a:pPr indent="-308183" lvl="1" marL="742950" rtl="0" algn="l">
              <a:spcBef>
                <a:spcPts val="1000"/>
              </a:spcBef>
              <a:spcAft>
                <a:spcPts val="0"/>
              </a:spcAft>
              <a:buSzPct val="100000"/>
              <a:buChar char="►"/>
            </a:pPr>
            <a:r>
              <a:rPr b="1" lang="en-IN" sz="7173"/>
              <a:t>Multimodal</a:t>
            </a:r>
            <a:endParaRPr b="1" sz="7173"/>
          </a:p>
          <a:p>
            <a:pPr indent="-308183" lvl="1" marL="742950" rtl="0" algn="l">
              <a:spcBef>
                <a:spcPts val="1000"/>
              </a:spcBef>
              <a:spcAft>
                <a:spcPts val="0"/>
              </a:spcAft>
              <a:buSzPct val="100000"/>
              <a:buChar char="►"/>
            </a:pPr>
            <a:r>
              <a:rPr b="1" lang="en-IN" sz="7173"/>
              <a:t>Interactive</a:t>
            </a:r>
            <a:r>
              <a:rPr lang="en-IN" sz="7173"/>
              <a:t xml:space="preserve"> AI systems for Dermatology</a:t>
            </a:r>
            <a:endParaRPr sz="7173"/>
          </a:p>
          <a:p>
            <a:pPr indent="0" lvl="0" marL="74295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3429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0"/>
          <p:cNvSpPr txBox="1"/>
          <p:nvPr>
            <p:ph type="title"/>
          </p:nvPr>
        </p:nvSpPr>
        <p:spPr>
          <a:xfrm>
            <a:off x="609600" y="156225"/>
            <a:ext cx="4567500" cy="5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ct val="88889"/>
              <a:buFont typeface="Trebuchet MS"/>
              <a:buNone/>
            </a:pPr>
            <a:r>
              <a:rPr lang="en-IN"/>
              <a:t>Problem Statement</a:t>
            </a:r>
            <a:endParaRPr/>
          </a:p>
        </p:txBody>
      </p:sp>
      <p:sp>
        <p:nvSpPr>
          <p:cNvPr id="157" name="Google Shape;157;p20"/>
          <p:cNvSpPr txBox="1"/>
          <p:nvPr>
            <p:ph idx="1" type="body"/>
          </p:nvPr>
        </p:nvSpPr>
        <p:spPr>
          <a:xfrm>
            <a:off x="609600" y="1094525"/>
            <a:ext cx="7430700" cy="55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342900" rtl="0" algn="l">
              <a:spcBef>
                <a:spcPts val="1200"/>
              </a:spcBef>
              <a:spcAft>
                <a:spcPts val="0"/>
              </a:spcAft>
              <a:buSzPts val="1300"/>
              <a:buChar char="►"/>
            </a:pPr>
            <a:r>
              <a:rPr lang="en-IN" sz="1300"/>
              <a:t>Skin Cancer diagnosis is a complex clinical process requiring analysis of:</a:t>
            </a:r>
            <a:endParaRPr sz="1300"/>
          </a:p>
          <a:p>
            <a:pPr indent="-276860" lvl="1" marL="742950" rtl="0" algn="l">
              <a:spcBef>
                <a:spcPts val="1000"/>
              </a:spcBef>
              <a:spcAft>
                <a:spcPts val="0"/>
              </a:spcAft>
              <a:buSzPts val="1300"/>
              <a:buChar char="►"/>
            </a:pPr>
            <a:r>
              <a:rPr lang="en-IN" sz="1300"/>
              <a:t>Visual inspection of skin lesions</a:t>
            </a:r>
            <a:endParaRPr sz="1300"/>
          </a:p>
          <a:p>
            <a:pPr indent="-276860" lvl="1" marL="742950" rtl="0" algn="l">
              <a:spcBef>
                <a:spcPts val="1000"/>
              </a:spcBef>
              <a:spcAft>
                <a:spcPts val="0"/>
              </a:spcAft>
              <a:buSzPts val="1300"/>
              <a:buChar char="►"/>
            </a:pPr>
            <a:r>
              <a:rPr lang="en-IN" sz="1300"/>
              <a:t>Patient symptoms and medical history</a:t>
            </a:r>
            <a:endParaRPr sz="1300"/>
          </a:p>
          <a:p>
            <a:pPr indent="-276860" lvl="1" marL="742950" rtl="0" algn="l">
              <a:spcBef>
                <a:spcPts val="1000"/>
              </a:spcBef>
              <a:spcAft>
                <a:spcPts val="0"/>
              </a:spcAft>
              <a:buSzPts val="1300"/>
              <a:buChar char="►"/>
            </a:pPr>
            <a:r>
              <a:rPr lang="en-IN" sz="1300"/>
              <a:t>Temporal changes in lesion appearence</a:t>
            </a:r>
            <a:endParaRPr sz="1300"/>
          </a:p>
          <a:p>
            <a:pPr indent="-323850" lvl="0" marL="342900" rtl="0" algn="l">
              <a:spcBef>
                <a:spcPts val="1000"/>
              </a:spcBef>
              <a:spcAft>
                <a:spcPts val="0"/>
              </a:spcAft>
              <a:buSzPts val="1300"/>
              <a:buChar char="►"/>
            </a:pPr>
            <a:r>
              <a:rPr lang="en-IN" sz="1300"/>
              <a:t>The clinically accepted  ABCDE rule is:</a:t>
            </a:r>
            <a:endParaRPr sz="1300"/>
          </a:p>
          <a:p>
            <a:pPr indent="-276860" lvl="1" marL="742950" rtl="0" algn="l">
              <a:spcBef>
                <a:spcPts val="1000"/>
              </a:spcBef>
              <a:spcAft>
                <a:spcPts val="0"/>
              </a:spcAft>
              <a:buSzPts val="1300"/>
              <a:buChar char="►"/>
            </a:pPr>
            <a:r>
              <a:rPr lang="en-IN" sz="1300"/>
              <a:t>Time consuming and subjective</a:t>
            </a:r>
            <a:endParaRPr sz="1300"/>
          </a:p>
          <a:p>
            <a:pPr indent="-276860" lvl="1" marL="742950" rtl="0" algn="l">
              <a:spcBef>
                <a:spcPts val="1000"/>
              </a:spcBef>
              <a:spcAft>
                <a:spcPts val="0"/>
              </a:spcAft>
              <a:buSzPts val="1300"/>
              <a:buChar char="►"/>
            </a:pPr>
            <a:r>
              <a:rPr lang="en-IN" sz="1300"/>
              <a:t>Dependent on expert interpretation</a:t>
            </a:r>
            <a:endParaRPr sz="1300"/>
          </a:p>
          <a:p>
            <a:pPr indent="-323850" lvl="0" marL="342900" rtl="0" algn="l">
              <a:spcBef>
                <a:spcPts val="1000"/>
              </a:spcBef>
              <a:spcAft>
                <a:spcPts val="0"/>
              </a:spcAft>
              <a:buSzPts val="1300"/>
              <a:buChar char="►"/>
            </a:pPr>
            <a:r>
              <a:rPr lang="en-IN" sz="1300"/>
              <a:t>.Existing AI systems:</a:t>
            </a:r>
            <a:endParaRPr sz="1300"/>
          </a:p>
          <a:p>
            <a:pPr indent="-276860" lvl="1" marL="742950" rtl="0" algn="l">
              <a:spcBef>
                <a:spcPts val="1000"/>
              </a:spcBef>
              <a:spcAft>
                <a:spcPts val="0"/>
              </a:spcAft>
              <a:buSzPts val="1300"/>
              <a:buChar char="►"/>
            </a:pPr>
            <a:r>
              <a:rPr lang="en-IN" sz="1300"/>
              <a:t>Primarily perform image-only classification</a:t>
            </a:r>
            <a:endParaRPr sz="1300"/>
          </a:p>
          <a:p>
            <a:pPr indent="-276860" lvl="1" marL="742950" rtl="0" algn="l">
              <a:spcBef>
                <a:spcPts val="1000"/>
              </a:spcBef>
              <a:spcAft>
                <a:spcPts val="0"/>
              </a:spcAft>
              <a:buSzPts val="1300"/>
              <a:buChar char="►"/>
            </a:pPr>
            <a:r>
              <a:rPr lang="en-IN" sz="1300"/>
              <a:t xml:space="preserve">Do not </a:t>
            </a:r>
            <a:r>
              <a:rPr lang="en-IN" sz="1300"/>
              <a:t>explicitly</a:t>
            </a:r>
            <a:r>
              <a:rPr lang="en-IN" sz="1300"/>
              <a:t xml:space="preserve"> compute or explain ABCDE criteria</a:t>
            </a:r>
            <a:endParaRPr sz="1300"/>
          </a:p>
          <a:p>
            <a:pPr indent="-323850" lvl="0" marL="342900" rtl="0" algn="l">
              <a:spcBef>
                <a:spcPts val="1000"/>
              </a:spcBef>
              <a:spcAft>
                <a:spcPts val="0"/>
              </a:spcAft>
              <a:buSzPts val="1300"/>
              <a:buChar char="►"/>
            </a:pPr>
            <a:r>
              <a:rPr lang="en-IN" sz="1300"/>
              <a:t>Most systems  lack:</a:t>
            </a:r>
            <a:endParaRPr sz="1300"/>
          </a:p>
          <a:p>
            <a:pPr indent="-276860" lvl="1" marL="742950" rtl="0" algn="l">
              <a:spcBef>
                <a:spcPts val="1000"/>
              </a:spcBef>
              <a:spcAft>
                <a:spcPts val="0"/>
              </a:spcAft>
              <a:buSzPts val="1300"/>
              <a:buChar char="►"/>
            </a:pPr>
            <a:r>
              <a:rPr lang="en-IN" sz="1300"/>
              <a:t>Transparency in decision making</a:t>
            </a:r>
            <a:endParaRPr sz="1300"/>
          </a:p>
          <a:p>
            <a:pPr indent="-276860" lvl="1" marL="742950" rtl="0" algn="l">
              <a:spcBef>
                <a:spcPts val="1000"/>
              </a:spcBef>
              <a:spcAft>
                <a:spcPts val="0"/>
              </a:spcAft>
              <a:buSzPts val="1300"/>
              <a:buChar char="►"/>
            </a:pPr>
            <a:r>
              <a:rPr lang="en-IN" sz="1300"/>
              <a:t xml:space="preserve"> Interactive mechanism for follow-up clinical queries</a:t>
            </a:r>
            <a:endParaRPr sz="1300"/>
          </a:p>
          <a:p>
            <a:pPr indent="-323850" lvl="0" marL="342900" rtl="0" algn="l">
              <a:spcBef>
                <a:spcPts val="1000"/>
              </a:spcBef>
              <a:spcAft>
                <a:spcPts val="0"/>
              </a:spcAft>
              <a:buSzPts val="1300"/>
              <a:buChar char="►"/>
            </a:pPr>
            <a:r>
              <a:rPr lang="en-IN" sz="1300"/>
              <a:t xml:space="preserve">This lead to </a:t>
            </a:r>
            <a:r>
              <a:rPr lang="en-IN" sz="1300"/>
              <a:t>limited</a:t>
            </a:r>
            <a:r>
              <a:rPr lang="en-IN" sz="1300"/>
              <a:t xml:space="preserve"> trust, reduced interpretability, and </a:t>
            </a:r>
            <a:r>
              <a:rPr lang="en-IN" sz="1300"/>
              <a:t>restricted</a:t>
            </a:r>
            <a:r>
              <a:rPr lang="en-IN" sz="1300"/>
              <a:t xml:space="preserve"> clinical </a:t>
            </a:r>
            <a:r>
              <a:rPr lang="en-IN" sz="1300"/>
              <a:t>usability</a:t>
            </a:r>
            <a:r>
              <a:rPr lang="en-IN" sz="1300"/>
              <a:t xml:space="preserve"> of current AI tools</a:t>
            </a:r>
            <a:endParaRPr sz="13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1"/>
          <p:cNvSpPr txBox="1"/>
          <p:nvPr>
            <p:ph type="title"/>
          </p:nvPr>
        </p:nvSpPr>
        <p:spPr>
          <a:xfrm>
            <a:off x="578679" y="0"/>
            <a:ext cx="6347713" cy="816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3200"/>
              <a:buFont typeface="Trebuchet MS"/>
              <a:buNone/>
            </a:pPr>
            <a:r>
              <a:rPr lang="en-IN"/>
              <a:t>Literature Survey</a:t>
            </a:r>
            <a:endParaRPr/>
          </a:p>
        </p:txBody>
      </p:sp>
      <p:sp>
        <p:nvSpPr>
          <p:cNvPr id="163" name="Google Shape;163;p21"/>
          <p:cNvSpPr txBox="1"/>
          <p:nvPr>
            <p:ph idx="1" type="body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1460" lvl="0" marL="342900" rtl="0" algn="l">
              <a:spcBef>
                <a:spcPts val="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</p:txBody>
      </p:sp>
      <p:graphicFrame>
        <p:nvGraphicFramePr>
          <p:cNvPr id="164" name="Google Shape;164;p21"/>
          <p:cNvGraphicFramePr/>
          <p:nvPr/>
        </p:nvGraphicFramePr>
        <p:xfrm>
          <a:off x="234843" y="81663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{33B083B0-87BA-4358-A259-15C7F08E945C}</a:tableStyleId>
              </a:tblPr>
              <a:tblGrid>
                <a:gridCol w="1234825"/>
                <a:gridCol w="1212125"/>
                <a:gridCol w="1468750"/>
                <a:gridCol w="1232525"/>
                <a:gridCol w="1194200"/>
                <a:gridCol w="1547300"/>
                <a:gridCol w="244025"/>
              </a:tblGrid>
              <a:tr h="682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/>
                        <a:t>Author &amp; Year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Title of Paper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Model Used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Dataset Used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Insights gained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Limitations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1109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/>
                        <a:t>Siyuan Yan , 2025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Trebuchet MS"/>
                        <a:buNone/>
                      </a:pPr>
                      <a:r>
                        <a:rPr b="1" lang="en-IN" sz="1000">
                          <a:solidFill>
                            <a:schemeClr val="dk1"/>
                          </a:solidFill>
                        </a:rPr>
                        <a:t>A multimodal vision foundation model for clinical dermatology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/>
                        <a:t>ARCUNet</a:t>
                      </a:r>
                      <a:endParaRPr sz="1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/>
                        <a:t>ISIC 2016,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/>
                        <a:t>ISIC 2017,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/>
                        <a:t>ISIC 2018,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/>
                        <a:t>PH2 Dataset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100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Best-in-class skin lesion segmentation (SLS stage)</a:t>
                      </a:r>
                      <a:endParaRPr sz="1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/>
                        <a:t>Limited interpretability in clinical field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100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Kuang et al., 2025</a:t>
                      </a:r>
                      <a:endParaRPr sz="1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>
                          <a:solidFill>
                            <a:schemeClr val="dk1"/>
                          </a:solidFill>
                        </a:rPr>
                        <a:t>R-LLaVA: Improving Med-VQA with Visual Regions of Interest</a:t>
                      </a:r>
                      <a:endParaRPr sz="1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/>
                        <a:t>R-LLaVa</a:t>
                      </a:r>
                      <a:endParaRPr sz="1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/>
                        <a:t>Medical VQA Datasets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100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Advanced multimodal VQA with RLHF</a:t>
                      </a:r>
                      <a:endParaRPr sz="1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100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High computational cost, language fidelity</a:t>
                      </a:r>
                      <a:endParaRPr sz="1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95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100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Borisma et al., 2023</a:t>
                      </a:r>
                      <a:endParaRPr sz="1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100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EfficientFormerV2: Optimized Transformer for Classification</a:t>
                      </a:r>
                      <a:endParaRPr sz="1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/>
                        <a:t>EfficientFormerV2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100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HAM10000, ISIC</a:t>
                      </a:r>
                      <a:endParaRPr sz="1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100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Efficient, accurate hierarchical lesion classification</a:t>
                      </a:r>
                      <a:endParaRPr sz="1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100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Handling class imbalance</a:t>
                      </a:r>
                      <a:endParaRPr sz="1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95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100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Lee et al., 2020</a:t>
                      </a:r>
                      <a:endParaRPr sz="1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100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BioBERT: Pretrained Biomedical Language Representation</a:t>
                      </a:r>
                      <a:endParaRPr sz="1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100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BioBERT</a:t>
                      </a:r>
                      <a:endParaRPr sz="1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100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PubMed, PMC, MIMIC-III</a:t>
                      </a:r>
                      <a:endParaRPr sz="1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100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Core biomedical NLP for report extraction</a:t>
                      </a:r>
                      <a:endParaRPr sz="1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100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Limited entity diversity</a:t>
                      </a:r>
                      <a:endParaRPr sz="1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95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100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Zhang et al., 2022</a:t>
                      </a:r>
                      <a:endParaRPr sz="1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100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BioGPT: Generative Pretrained Transformer for Biomedicine</a:t>
                      </a:r>
                      <a:endParaRPr sz="1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100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PubMed abstracts</a:t>
                      </a:r>
                      <a:endParaRPr sz="1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100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BioGPT</a:t>
                      </a:r>
                      <a:endParaRPr sz="1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100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Clinical report summarization &amp; generation</a:t>
                      </a:r>
                      <a:endParaRPr sz="1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100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Need diverse fine-tuning</a:t>
                      </a:r>
                      <a:endParaRPr sz="1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2"/>
          <p:cNvSpPr txBox="1"/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3200"/>
              <a:buFont typeface="Trebuchet MS"/>
              <a:buNone/>
            </a:pPr>
            <a:r>
              <a:rPr lang="en-IN"/>
              <a:t>Literature Survey</a:t>
            </a:r>
            <a:endParaRPr/>
          </a:p>
        </p:txBody>
      </p:sp>
      <p:sp>
        <p:nvSpPr>
          <p:cNvPr id="170" name="Google Shape;170;p22"/>
          <p:cNvSpPr txBox="1"/>
          <p:nvPr>
            <p:ph idx="1" type="body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1460" lvl="0" marL="342900" rtl="0" algn="l">
              <a:spcBef>
                <a:spcPts val="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</p:txBody>
      </p:sp>
      <p:graphicFrame>
        <p:nvGraphicFramePr>
          <p:cNvPr id="171" name="Google Shape;171;p22"/>
          <p:cNvGraphicFramePr/>
          <p:nvPr/>
        </p:nvGraphicFramePr>
        <p:xfrm>
          <a:off x="294807" y="127200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{33B083B0-87BA-4358-A259-15C7F08E945C}</a:tableStyleId>
              </a:tblPr>
              <a:tblGrid>
                <a:gridCol w="1234825"/>
                <a:gridCol w="1212125"/>
                <a:gridCol w="1468750"/>
                <a:gridCol w="1232525"/>
                <a:gridCol w="1194200"/>
                <a:gridCol w="1547300"/>
                <a:gridCol w="244025"/>
              </a:tblGrid>
              <a:tr h="682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Author &amp; Year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Title of Paper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Model Used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Dataset Used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Insights gained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Limitations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983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100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Yi et al., 2025</a:t>
                      </a:r>
                      <a:endParaRPr sz="1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Trebuchet MS"/>
                        <a:buNone/>
                      </a:pPr>
                      <a:r>
                        <a:rPr b="0" i="0" lang="en-IN" sz="100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Multimodal medical image fusion with self-supervised learning</a:t>
                      </a:r>
                      <a:endParaRPr sz="1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100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Self-supervised Fusion CNN</a:t>
                      </a:r>
                      <a:endParaRPr sz="1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100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MIMIC Chest X-ray</a:t>
                      </a:r>
                      <a:endParaRPr sz="1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100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Label-efficient medical image fusion</a:t>
                      </a:r>
                      <a:endParaRPr sz="1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100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Generalizability and clinical validation</a:t>
                      </a:r>
                      <a:endParaRPr sz="1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100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Wang &amp; Yang, 2025</a:t>
                      </a:r>
                      <a:endParaRPr sz="1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100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MoE-Health: Mixture of Experts for Multimodal Healthcare Prediction</a:t>
                      </a:r>
                      <a:endParaRPr sz="1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100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MoE-Health</a:t>
                      </a:r>
                      <a:endParaRPr sz="1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/>
                        <a:t>MIMICIV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100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Robust fusion of diverse clinical data</a:t>
                      </a:r>
                      <a:endParaRPr sz="1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100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Expert scaling, interpretability</a:t>
                      </a:r>
                      <a:endParaRPr sz="1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95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100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OpenRLHF Team, 2025</a:t>
                      </a:r>
                      <a:endParaRPr sz="1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100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GRPO: Group Relative Policy Optimization</a:t>
                      </a:r>
                      <a:endParaRPr sz="1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100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GRPO</a:t>
                      </a:r>
                      <a:endParaRPr sz="1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100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Synthetic/EHR data</a:t>
                      </a:r>
                      <a:endParaRPr sz="1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100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Efficient RLHF training for VQA models</a:t>
                      </a:r>
                      <a:endParaRPr b="1" sz="1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100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Computation overhead</a:t>
                      </a:r>
                      <a:endParaRPr sz="1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463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100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PaddlePaddle Team, 2021</a:t>
                      </a:r>
                      <a:endParaRPr sz="1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100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PaddleOCR + BioBERT for Medical Documents</a:t>
                      </a:r>
                      <a:endParaRPr sz="1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100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PaddleOCR + BioBERT</a:t>
                      </a:r>
                      <a:endParaRPr sz="1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100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Public OCR datasets</a:t>
                      </a:r>
                      <a:endParaRPr sz="1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100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Accurate OCR and NLP for clinical report pipeline</a:t>
                      </a:r>
                      <a:endParaRPr sz="1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100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Issues with handwriting and noisy docs</a:t>
                      </a:r>
                      <a:endParaRPr sz="1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95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100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Huang et al., 2025</a:t>
                      </a:r>
                      <a:endParaRPr sz="1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100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Leveraging segmentation maps to improve skin lesion classification</a:t>
                      </a:r>
                      <a:endParaRPr sz="1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100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Transformer with segmentation fusion</a:t>
                      </a:r>
                      <a:endParaRPr sz="1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100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ISIC, PH2 dermatology images</a:t>
                      </a:r>
                      <a:endParaRPr sz="1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100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Enhances HC via segmentation-classification integration</a:t>
                      </a:r>
                      <a:endParaRPr sz="1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100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Computational overhead</a:t>
                      </a:r>
                      <a:endParaRPr sz="1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3"/>
          <p:cNvSpPr txBox="1"/>
          <p:nvPr>
            <p:ph type="title"/>
          </p:nvPr>
        </p:nvSpPr>
        <p:spPr>
          <a:xfrm>
            <a:off x="725050" y="263250"/>
            <a:ext cx="63477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3200"/>
              <a:buFont typeface="Trebuchet MS"/>
              <a:buNone/>
            </a:pPr>
            <a:r>
              <a:rPr lang="en-IN"/>
              <a:t>Research Gap</a:t>
            </a:r>
            <a:endParaRPr/>
          </a:p>
        </p:txBody>
      </p:sp>
      <p:sp>
        <p:nvSpPr>
          <p:cNvPr id="177" name="Google Shape;177;p23"/>
          <p:cNvSpPr txBox="1"/>
          <p:nvPr>
            <p:ph idx="1" type="body"/>
          </p:nvPr>
        </p:nvSpPr>
        <p:spPr>
          <a:xfrm>
            <a:off x="609600" y="1302325"/>
            <a:ext cx="6347700" cy="52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25000" lnSpcReduction="10000"/>
          </a:bodyPr>
          <a:lstStyle/>
          <a:p>
            <a:pPr indent="-258318" lvl="0" marL="342900" rtl="0" algn="l">
              <a:spcBef>
                <a:spcPts val="0"/>
              </a:spcBef>
              <a:spcAft>
                <a:spcPts val="0"/>
              </a:spcAft>
              <a:buSzPct val="27091"/>
              <a:buNone/>
            </a:pPr>
            <a:r>
              <a:t/>
            </a:r>
            <a:endParaRPr sz="5315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IN" sz="5315"/>
              <a:t>Despite advances in deep learning and medical AI:</a:t>
            </a:r>
            <a:endParaRPr sz="5315"/>
          </a:p>
          <a:p>
            <a:pPr indent="-278692" lvl="1" marL="742950" rtl="0" algn="l">
              <a:spcBef>
                <a:spcPts val="1000"/>
              </a:spcBef>
              <a:spcAft>
                <a:spcPts val="0"/>
              </a:spcAft>
              <a:buSzPct val="100000"/>
              <a:buChar char="►"/>
            </a:pPr>
            <a:r>
              <a:rPr lang="en-IN" sz="5315"/>
              <a:t>Multimodal data (images + medical reports + symptoms) are  rarely fused in a single system</a:t>
            </a:r>
            <a:endParaRPr sz="5315"/>
          </a:p>
          <a:p>
            <a:pPr indent="-278692" lvl="1" marL="742950" rtl="0" algn="l">
              <a:spcBef>
                <a:spcPts val="1000"/>
              </a:spcBef>
              <a:spcAft>
                <a:spcPts val="0"/>
              </a:spcAft>
              <a:buSzPct val="100000"/>
              <a:buChar char="►"/>
            </a:pPr>
            <a:r>
              <a:rPr lang="en-IN" sz="5315"/>
              <a:t>ABCDE criteria are often:</a:t>
            </a:r>
            <a:endParaRPr sz="5315"/>
          </a:p>
          <a:p>
            <a:pPr indent="-221542" lvl="2" marL="1143000" rtl="0" algn="l">
              <a:spcBef>
                <a:spcPts val="1000"/>
              </a:spcBef>
              <a:spcAft>
                <a:spcPts val="0"/>
              </a:spcAft>
              <a:buSzPct val="100000"/>
              <a:buChar char="►"/>
            </a:pPr>
            <a:r>
              <a:rPr lang="en-IN" sz="5315"/>
              <a:t>Used implicitly</a:t>
            </a:r>
            <a:endParaRPr sz="5315"/>
          </a:p>
          <a:p>
            <a:pPr indent="-221542" lvl="2" marL="1143000" rtl="0" algn="l">
              <a:spcBef>
                <a:spcPts val="1000"/>
              </a:spcBef>
              <a:spcAft>
                <a:spcPts val="0"/>
              </a:spcAft>
              <a:buSzPct val="100000"/>
              <a:buChar char="►"/>
            </a:pPr>
            <a:r>
              <a:rPr lang="en-IN" sz="5315"/>
              <a:t>Not computed as explicit, explainable features</a:t>
            </a:r>
            <a:endParaRPr sz="5315"/>
          </a:p>
          <a:p>
            <a:pPr indent="-278692" lvl="1" marL="742950" rtl="0" algn="l">
              <a:spcBef>
                <a:spcPts val="1000"/>
              </a:spcBef>
              <a:spcAft>
                <a:spcPts val="0"/>
              </a:spcAft>
              <a:buSzPct val="100000"/>
              <a:buChar char="►"/>
            </a:pPr>
            <a:r>
              <a:rPr lang="en-IN" sz="5315"/>
              <a:t>Most dermatology AI systems:</a:t>
            </a:r>
            <a:endParaRPr sz="5315"/>
          </a:p>
          <a:p>
            <a:pPr indent="-221542" lvl="2" marL="1143000" rtl="0" algn="l">
              <a:spcBef>
                <a:spcPts val="1000"/>
              </a:spcBef>
              <a:spcAft>
                <a:spcPts val="0"/>
              </a:spcAft>
              <a:buSzPct val="100000"/>
              <a:buChar char="►"/>
            </a:pPr>
            <a:r>
              <a:rPr lang="en-IN" sz="5315"/>
              <a:t>Stop at classification</a:t>
            </a:r>
            <a:endParaRPr sz="5315"/>
          </a:p>
          <a:p>
            <a:pPr indent="-221542" lvl="2" marL="1143000" rtl="0" algn="l">
              <a:spcBef>
                <a:spcPts val="1000"/>
              </a:spcBef>
              <a:spcAft>
                <a:spcPts val="0"/>
              </a:spcAft>
              <a:buSzPct val="100000"/>
              <a:buChar char="►"/>
            </a:pPr>
            <a:r>
              <a:rPr lang="en-IN" sz="5315"/>
              <a:t>Do not support clinical reasoning or dialogue</a:t>
            </a:r>
            <a:endParaRPr sz="5315"/>
          </a:p>
          <a:p>
            <a:pPr indent="-278692" lvl="1" marL="742950" rtl="0" algn="l">
              <a:spcBef>
                <a:spcPts val="1000"/>
              </a:spcBef>
              <a:spcAft>
                <a:spcPts val="0"/>
              </a:spcAft>
              <a:buSzPct val="100000"/>
              <a:buChar char="►"/>
            </a:pPr>
            <a:r>
              <a:rPr lang="en-IN" sz="5315"/>
              <a:t>Medical Visual Question Answering (VQA):</a:t>
            </a:r>
            <a:endParaRPr sz="5315"/>
          </a:p>
          <a:p>
            <a:pPr indent="-221542" lvl="2" marL="1143000" rtl="0" algn="l">
              <a:spcBef>
                <a:spcPts val="1000"/>
              </a:spcBef>
              <a:spcAft>
                <a:spcPts val="0"/>
              </a:spcAft>
              <a:buSzPct val="100000"/>
              <a:buChar char="►"/>
            </a:pPr>
            <a:r>
              <a:rPr lang="en-IN" sz="5315"/>
              <a:t>Exists independently</a:t>
            </a:r>
            <a:endParaRPr sz="5315"/>
          </a:p>
          <a:p>
            <a:pPr indent="-221542" lvl="2" marL="1143000" rtl="0" algn="l">
              <a:spcBef>
                <a:spcPts val="1000"/>
              </a:spcBef>
              <a:spcAft>
                <a:spcPts val="0"/>
              </a:spcAft>
              <a:buSzPct val="100000"/>
              <a:buChar char="►"/>
            </a:pPr>
            <a:r>
              <a:rPr lang="en-IN" sz="5315"/>
              <a:t>Is not grounded in structural clinical features like ABCDE</a:t>
            </a:r>
            <a:endParaRPr sz="5315"/>
          </a:p>
          <a:p>
            <a:pPr indent="-278692" lvl="1" marL="742950" rtl="0" algn="l">
              <a:spcBef>
                <a:spcPts val="1000"/>
              </a:spcBef>
              <a:spcAft>
                <a:spcPts val="0"/>
              </a:spcAft>
              <a:buSzPct val="100000"/>
              <a:buChar char="►"/>
            </a:pPr>
            <a:r>
              <a:rPr lang="en-IN" sz="5315"/>
              <a:t>There is a lack of:</a:t>
            </a:r>
            <a:endParaRPr sz="5315"/>
          </a:p>
          <a:p>
            <a:pPr indent="-221542" lvl="2" marL="1143000" rtl="0" algn="l">
              <a:spcBef>
                <a:spcPts val="1000"/>
              </a:spcBef>
              <a:spcAft>
                <a:spcPts val="0"/>
              </a:spcAft>
              <a:buSzPct val="100000"/>
              <a:buChar char="►"/>
            </a:pPr>
            <a:r>
              <a:rPr lang="en-IN" sz="5315"/>
              <a:t>End -to-end deployable systems</a:t>
            </a:r>
            <a:endParaRPr sz="5315"/>
          </a:p>
          <a:p>
            <a:pPr indent="-221542" lvl="2" marL="1143000" rtl="0" algn="l">
              <a:spcBef>
                <a:spcPts val="1000"/>
              </a:spcBef>
              <a:spcAft>
                <a:spcPts val="0"/>
              </a:spcAft>
              <a:buSzPct val="100000"/>
              <a:buChar char="►"/>
            </a:pPr>
            <a:r>
              <a:rPr lang="en-IN" sz="5315"/>
              <a:t>Patient centric conversational dermatology assistants</a:t>
            </a:r>
            <a:endParaRPr sz="5315"/>
          </a:p>
          <a:p>
            <a:pPr indent="-258318" lvl="0" marL="34290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4"/>
          <p:cNvSpPr txBox="1"/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3200"/>
              <a:buFont typeface="Trebuchet MS"/>
              <a:buNone/>
            </a:pPr>
            <a:r>
              <a:rPr lang="en-IN"/>
              <a:t>Objective</a:t>
            </a:r>
            <a:endParaRPr/>
          </a:p>
        </p:txBody>
      </p:sp>
      <p:sp>
        <p:nvSpPr>
          <p:cNvPr id="183" name="Google Shape;183;p24"/>
          <p:cNvSpPr txBox="1"/>
          <p:nvPr>
            <p:ph idx="1" type="body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1460" lvl="0" marL="342900" rtl="0" algn="l">
              <a:spcBef>
                <a:spcPts val="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IN" sz="2000">
                <a:solidFill>
                  <a:srgbClr val="1E1E1E"/>
                </a:solidFill>
              </a:rPr>
              <a:t>Automate skin lesion segmentation and classification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IN" sz="2000">
                <a:solidFill>
                  <a:srgbClr val="1E1E1E"/>
                </a:solidFill>
              </a:rPr>
              <a:t>Extract ABCDE values for explainability.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IN" sz="2000">
                <a:solidFill>
                  <a:srgbClr val="1E1E1E"/>
                </a:solidFill>
              </a:rPr>
              <a:t>Process medical reports and symptoms using NLP.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IN" sz="2000">
                <a:solidFill>
                  <a:srgbClr val="1E1E1E"/>
                </a:solidFill>
              </a:rPr>
              <a:t>Fuse image + text → Unified clinical Representation  (JSON output).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IN" sz="2000">
                <a:solidFill>
                  <a:srgbClr val="1E1E1E"/>
                </a:solidFill>
              </a:rPr>
              <a:t>Enable (Virtual Q)VQA for clinicians/patients.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5"/>
          <p:cNvSpPr txBox="1"/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3200"/>
              <a:buFont typeface="Trebuchet MS"/>
              <a:buNone/>
            </a:pPr>
            <a:r>
              <a:rPr lang="en-IN"/>
              <a:t>Scope of the Project</a:t>
            </a:r>
            <a:endParaRPr/>
          </a:p>
        </p:txBody>
      </p:sp>
      <p:sp>
        <p:nvSpPr>
          <p:cNvPr id="189" name="Google Shape;189;p25"/>
          <p:cNvSpPr txBox="1"/>
          <p:nvPr>
            <p:ph idx="1" type="body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IN"/>
              <a:t xml:space="preserve">End-to-end AI pipeline 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IN"/>
              <a:t>Image + Text + Interactive Q&amp;A</a:t>
            </a:r>
            <a:endParaRPr/>
          </a:p>
          <a:p>
            <a:pPr indent="-33274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IN"/>
              <a:t>Supports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IN"/>
              <a:t>Dermoscopic images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IN"/>
              <a:t>Clinical images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IN"/>
              <a:t>Medical Reports (PDF/Text)</a:t>
            </a:r>
            <a:endParaRPr/>
          </a:p>
          <a:p>
            <a:pPr indent="-33274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IN"/>
              <a:t>Provides: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IN"/>
              <a:t>Risk assessment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IN"/>
              <a:t>Explainable ABCDE output</a:t>
            </a:r>
            <a:endParaRPr/>
          </a:p>
          <a:p>
            <a:pPr indent="-33274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IN"/>
              <a:t>Designed as a clinical decision-support system, not a replacement for doctors.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6"/>
          <p:cNvSpPr txBox="1"/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3200"/>
              <a:buFont typeface="Trebuchet MS"/>
              <a:buNone/>
            </a:pPr>
            <a:r>
              <a:rPr lang="en-IN"/>
              <a:t>Methodology Overview</a:t>
            </a:r>
            <a:endParaRPr/>
          </a:p>
        </p:txBody>
      </p:sp>
      <p:sp>
        <p:nvSpPr>
          <p:cNvPr id="195" name="Google Shape;195;p26"/>
          <p:cNvSpPr txBox="1"/>
          <p:nvPr>
            <p:ph idx="1" type="body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1460" lvl="0" marL="342900" rtl="0" algn="l">
              <a:spcBef>
                <a:spcPts val="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IN"/>
              <a:t>Stage 1: Preprocessing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IN"/>
              <a:t>Stage 2: Skin Lesion Segmentation (SLS)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IN"/>
              <a:t>Stage 3: ROI Cropping (SLRC)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IN"/>
              <a:t>Stage 4: Hierarchical Classification (HC + ABCDE)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IN"/>
              <a:t>Stage 5: Medical Report Processing (MedProc)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IN"/>
              <a:t>Stage 6: IT Fusion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IN"/>
              <a:t>Stage 7: Visual Question Answering (VQA)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7"/>
          <p:cNvSpPr txBox="1"/>
          <p:nvPr>
            <p:ph type="title"/>
          </p:nvPr>
        </p:nvSpPr>
        <p:spPr>
          <a:xfrm>
            <a:off x="609600" y="132400"/>
            <a:ext cx="6347700" cy="7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3200"/>
              <a:buFont typeface="Trebuchet MS"/>
              <a:buNone/>
            </a:pPr>
            <a:r>
              <a:rPr lang="en-IN"/>
              <a:t>System Architecture Diagram</a:t>
            </a:r>
            <a:endParaRPr/>
          </a:p>
        </p:txBody>
      </p:sp>
      <p:pic>
        <p:nvPicPr>
          <p:cNvPr id="300" name="ArchDiagram" descr="NutriDermAI Archite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870000"/>
            <a:ext cx="8686800" cy="5700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0"/>
          <p:cNvSpPr txBox="1"/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3200"/>
              <a:buFont typeface="Trebuchet MS"/>
              <a:buNone/>
            </a:pPr>
            <a:r>
              <a:rPr lang="en-IN"/>
              <a:t xml:space="preserve">System Architecture </a:t>
            </a:r>
            <a:endParaRPr/>
          </a:p>
        </p:txBody>
      </p:sp>
      <p:sp>
        <p:nvSpPr>
          <p:cNvPr id="295" name="Google Shape;295;p30"/>
          <p:cNvSpPr txBox="1"/>
          <p:nvPr>
            <p:ph idx="1" type="body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1460" lvl="0" marL="342900" rtl="0" algn="l">
              <a:spcBef>
                <a:spcPts val="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IN" sz="2000">
                <a:solidFill>
                  <a:srgbClr val="1E1E1E"/>
                </a:solidFill>
              </a:rPr>
              <a:t>Frontend: React-based chatbot for patient interaction.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IN" sz="2000">
                <a:solidFill>
                  <a:srgbClr val="1E1E1E"/>
                </a:solidFill>
              </a:rPr>
              <a:t>Backend: FastAPI orchestrating AI models.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IN" sz="2000">
                <a:solidFill>
                  <a:srgbClr val="1E1E1E"/>
                </a:solidFill>
              </a:rPr>
              <a:t>Stages: SLS, SLRC, HC, MedProc, IT Fusion, VQA.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IN" sz="2000">
                <a:solidFill>
                  <a:srgbClr val="1E1E1E"/>
                </a:solidFill>
              </a:rPr>
              <a:t>Outputs: Classification + ABCDE + Q&amp;A answers.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1"/>
          <p:cNvSpPr txBox="1"/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3200"/>
              <a:buFont typeface="Trebuchet MS"/>
              <a:buNone/>
            </a:pPr>
            <a:r>
              <a:rPr lang="en-IN"/>
              <a:t>Stages of Project I – Preprocessing</a:t>
            </a:r>
            <a:endParaRPr/>
          </a:p>
        </p:txBody>
      </p:sp>
      <p:graphicFrame>
        <p:nvGraphicFramePr>
          <p:cNvPr id="301" name="Google Shape;301;p31"/>
          <p:cNvGraphicFramePr/>
          <p:nvPr/>
        </p:nvGraphicFramePr>
        <p:xfrm>
          <a:off x="4652625" y="1109525"/>
          <a:ext cx="3000000" cy="3000000"/>
        </p:xfrm>
        <a:graphic>
          <a:graphicData uri="http://schemas.openxmlformats.org/drawingml/2006/table">
            <a:tbl>
              <a:tblPr bandRow="1" firstCol="1" firstRow="1" lastCol="1">
                <a:noFill/>
                <a:tableStyleId>{97ED2F1A-A0D3-45D6-A7EC-2190041AD1C1}</a:tableStyleId>
              </a:tblPr>
              <a:tblGrid>
                <a:gridCol w="1809750"/>
                <a:gridCol w="1809750"/>
              </a:tblGrid>
              <a:tr h="1633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Methods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rebuchet MS"/>
                        <a:buNone/>
                      </a:pPr>
                      <a:r>
                        <a:rPr lang="en-IN" sz="1800"/>
                        <a:t>Image resizing, normalization, hair removal, OCR, tokenization.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795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Models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rebuchet MS"/>
                        <a:buNone/>
                      </a:pPr>
                      <a:r>
                        <a:rPr lang="en-IN" sz="1800"/>
                        <a:t>PaddleOCR (PDF-&gt;OCR)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761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Input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Skin Image(any size), Medical PDF / Unstructured text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761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Output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Resized image (as per required), Structured text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pic>
        <p:nvPicPr>
          <p:cNvPr id="302" name="Google Shape;302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82800"/>
            <a:ext cx="3971925" cy="437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32"/>
          <p:cNvSpPr txBox="1"/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3200"/>
              <a:buFont typeface="Trebuchet MS"/>
              <a:buNone/>
            </a:pPr>
            <a:r>
              <a:rPr lang="en-IN"/>
              <a:t>Stages of Project II – Skin Lesion Segmentation(SLS)</a:t>
            </a:r>
            <a:endParaRPr/>
          </a:p>
        </p:txBody>
      </p:sp>
      <p:graphicFrame>
        <p:nvGraphicFramePr>
          <p:cNvPr id="308" name="Google Shape;308;p32"/>
          <p:cNvGraphicFramePr/>
          <p:nvPr/>
        </p:nvGraphicFramePr>
        <p:xfrm>
          <a:off x="4818562" y="1782779"/>
          <a:ext cx="3000000" cy="3000000"/>
        </p:xfrm>
        <a:graphic>
          <a:graphicData uri="http://schemas.openxmlformats.org/drawingml/2006/table">
            <a:tbl>
              <a:tblPr bandRow="1" firstCol="1" firstRow="1" lastCol="1">
                <a:noFill/>
                <a:tableStyleId>{97ED2F1A-A0D3-45D6-A7EC-2190041AD1C1}</a:tableStyleId>
              </a:tblPr>
              <a:tblGrid>
                <a:gridCol w="1912800"/>
                <a:gridCol w="20590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/>
                        <a:t xml:space="preserve">Model 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/>
                        <a:t>ARCUNet</a:t>
                      </a:r>
                      <a:endParaRPr sz="15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/>
                        <a:t>Input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/>
                        <a:t>Skin image(512*512)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/>
                        <a:t>Output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/>
                        <a:t>Binary Lesion Mask (512*512)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/>
                        <a:t>Evaluation Metrics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IN" sz="1500">
                          <a:solidFill>
                            <a:schemeClr val="lt1"/>
                          </a:solidFill>
                        </a:rPr>
                        <a:t>Dice Coefficient: 0.8506</a:t>
                      </a:r>
                      <a:br>
                        <a:rPr lang="en-IN" sz="1500">
                          <a:solidFill>
                            <a:schemeClr val="lt1"/>
                          </a:solidFill>
                        </a:rPr>
                      </a:br>
                      <a:r>
                        <a:rPr b="0" lang="en-IN" sz="1500">
                          <a:solidFill>
                            <a:schemeClr val="lt1"/>
                          </a:solidFill>
                        </a:rPr>
                        <a:t>IoU (Jaccard): 0.7718</a:t>
                      </a:r>
                      <a:br>
                        <a:rPr lang="en-IN" sz="1500">
                          <a:solidFill>
                            <a:schemeClr val="lt1"/>
                          </a:solidFill>
                        </a:rPr>
                      </a:br>
                      <a:r>
                        <a:rPr b="0" lang="en-IN" sz="1500">
                          <a:solidFill>
                            <a:schemeClr val="lt1"/>
                          </a:solidFill>
                        </a:rPr>
                        <a:t>Boundary F1: 0.8815 | Pixel Acc: 93.7%</a:t>
                      </a:r>
                      <a:endParaRPr sz="15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/>
                        <a:t>Task Performed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/>
                        <a:t xml:space="preserve">Convert the RGB Skin lesion to B/W image such that only lesion part is white colour 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/>
                        <a:t>Paper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1800" u="sng">
                          <a:solidFill>
                            <a:schemeClr val="lt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  <a:hlinkClick r:id="rId3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https://www.ncbi.nlm.nih.gov/pmc/articles/PMC11920274/</a:t>
                      </a:r>
                      <a:endParaRPr sz="15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pic>
        <p:nvPicPr>
          <p:cNvPr id="309" name="Google Shape;309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2082800"/>
            <a:ext cx="4485825" cy="4119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3"/>
          <p:cNvSpPr txBox="1"/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3200"/>
              <a:buFont typeface="Trebuchet MS"/>
              <a:buNone/>
            </a:pPr>
            <a:r>
              <a:rPr lang="en-IN"/>
              <a:t>Stages of Project III- Skin Lesion ROI Cropping</a:t>
            </a:r>
            <a:endParaRPr/>
          </a:p>
        </p:txBody>
      </p:sp>
      <p:graphicFrame>
        <p:nvGraphicFramePr>
          <p:cNvPr id="315" name="Google Shape;315;p33"/>
          <p:cNvGraphicFramePr/>
          <p:nvPr/>
        </p:nvGraphicFramePr>
        <p:xfrm>
          <a:off x="4122295" y="1918741"/>
          <a:ext cx="3000000" cy="3000000"/>
        </p:xfrm>
        <a:graphic>
          <a:graphicData uri="http://schemas.openxmlformats.org/drawingml/2006/table">
            <a:tbl>
              <a:tblPr bandRow="1" firstCol="1" firstRow="1" lastCol="1">
                <a:noFill/>
                <a:tableStyleId>{97ED2F1A-A0D3-45D6-A7EC-2190041AD1C1}</a:tableStyleId>
              </a:tblPr>
              <a:tblGrid>
                <a:gridCol w="1981200"/>
                <a:gridCol w="1981200"/>
              </a:tblGrid>
              <a:tr h="718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/>
                        <a:t>Model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/>
                        <a:t>OpenCV+Connected Components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/>
                        <a:t>Input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/>
                        <a:t>Original Image + Segmentation Mask.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/>
                        <a:t>Output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/>
                        <a:t>Original Image + Segmentation Mask.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/>
                        <a:t>Task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/>
                        <a:t>Extract lesion region of interest.</a:t>
                      </a:r>
                      <a:endParaRPr sz="15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/>
                        <a:t>Paper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1500" u="sng">
                          <a:solidFill>
                            <a:schemeClr val="lt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  <a:hlinkClick r:id="rId3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https://docs.opencv.org/4.x/d3/dc0/group__imgproc__shape.html#ga8ea7a3017b288220c3bb7c6c71496488</a:t>
                      </a:r>
                      <a:endParaRPr sz="15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316" name="Google Shape;316;p33"/>
          <p:cNvSpPr/>
          <p:nvPr/>
        </p:nvSpPr>
        <p:spPr>
          <a:xfrm>
            <a:off x="96600" y="2134900"/>
            <a:ext cx="1429500" cy="801600"/>
          </a:xfrm>
          <a:prstGeom prst="rect">
            <a:avLst/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 xml:space="preserve"> Lesion Mask from SLS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17" name="Google Shape;317;p33"/>
          <p:cNvSpPr/>
          <p:nvPr/>
        </p:nvSpPr>
        <p:spPr>
          <a:xfrm>
            <a:off x="2540350" y="2154000"/>
            <a:ext cx="1197600" cy="801600"/>
          </a:xfrm>
          <a:prstGeom prst="rect">
            <a:avLst/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Original Image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318" name="Google Shape;318;p33"/>
          <p:cNvCxnSpPr>
            <a:stCxn id="316" idx="2"/>
            <a:endCxn id="319" idx="0"/>
          </p:cNvCxnSpPr>
          <p:nvPr/>
        </p:nvCxnSpPr>
        <p:spPr>
          <a:xfrm>
            <a:off x="811350" y="2936500"/>
            <a:ext cx="1048200" cy="830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19" name="Google Shape;319;p33"/>
          <p:cNvSpPr/>
          <p:nvPr/>
        </p:nvSpPr>
        <p:spPr>
          <a:xfrm>
            <a:off x="907950" y="3767075"/>
            <a:ext cx="1902900" cy="801600"/>
          </a:xfrm>
          <a:prstGeom prst="rect">
            <a:avLst/>
          </a:prstGeom>
          <a:solidFill>
            <a:srgbClr val="FF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Preproc: Crop Bounding Box Resize 224x224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320" name="Google Shape;320;p33"/>
          <p:cNvCxnSpPr>
            <a:stCxn id="317" idx="2"/>
            <a:endCxn id="319" idx="0"/>
          </p:cNvCxnSpPr>
          <p:nvPr/>
        </p:nvCxnSpPr>
        <p:spPr>
          <a:xfrm flipH="1">
            <a:off x="1859350" y="2955600"/>
            <a:ext cx="1279800" cy="81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1" name="Google Shape;321;p33"/>
          <p:cNvCxnSpPr>
            <a:stCxn id="319" idx="2"/>
          </p:cNvCxnSpPr>
          <p:nvPr/>
        </p:nvCxnSpPr>
        <p:spPr>
          <a:xfrm>
            <a:off x="1859400" y="4568675"/>
            <a:ext cx="14400" cy="888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22" name="Google Shape;322;p33"/>
          <p:cNvSpPr/>
          <p:nvPr/>
        </p:nvSpPr>
        <p:spPr>
          <a:xfrm>
            <a:off x="948900" y="5457575"/>
            <a:ext cx="1835400" cy="627900"/>
          </a:xfrm>
          <a:prstGeom prst="rect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Output: ROI Image (224x224)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34"/>
          <p:cNvSpPr txBox="1"/>
          <p:nvPr>
            <p:ph type="title"/>
          </p:nvPr>
        </p:nvSpPr>
        <p:spPr>
          <a:xfrm>
            <a:off x="87999" y="68675"/>
            <a:ext cx="6347700" cy="13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ct val="88889"/>
              <a:buFont typeface="Trebuchet MS"/>
              <a:buNone/>
            </a:pPr>
            <a:r>
              <a:rPr lang="en-IN"/>
              <a:t>Stages of Project IV – Hierarchical Classification + ABCDE</a:t>
            </a:r>
            <a:endParaRPr/>
          </a:p>
        </p:txBody>
      </p:sp>
      <p:sp>
        <p:nvSpPr>
          <p:cNvPr id="328" name="Google Shape;328;p34"/>
          <p:cNvSpPr/>
          <p:nvPr/>
        </p:nvSpPr>
        <p:spPr>
          <a:xfrm>
            <a:off x="753350" y="1245975"/>
            <a:ext cx="1323300" cy="906600"/>
          </a:xfrm>
          <a:prstGeom prst="rect">
            <a:avLst/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 xml:space="preserve">Input: </a:t>
            </a:r>
            <a:r>
              <a:rPr lang="en-IN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ROI Image (224x224) (SLRC)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329" name="Google Shape;329;p34"/>
          <p:cNvCxnSpPr>
            <a:stCxn id="328" idx="2"/>
            <a:endCxn id="330" idx="0"/>
          </p:cNvCxnSpPr>
          <p:nvPr/>
        </p:nvCxnSpPr>
        <p:spPr>
          <a:xfrm flipH="1">
            <a:off x="646400" y="2152575"/>
            <a:ext cx="768600" cy="524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30" name="Google Shape;330;p34"/>
          <p:cNvSpPr/>
          <p:nvPr/>
        </p:nvSpPr>
        <p:spPr>
          <a:xfrm>
            <a:off x="63250" y="2676675"/>
            <a:ext cx="1166400" cy="906600"/>
          </a:xfrm>
          <a:prstGeom prst="rect">
            <a:avLst/>
          </a:prstGeom>
          <a:solidFill>
            <a:srgbClr val="EA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Preproc: Normalize, Augment (train only)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31" name="Google Shape;331;p34"/>
          <p:cNvSpPr/>
          <p:nvPr/>
        </p:nvSpPr>
        <p:spPr>
          <a:xfrm>
            <a:off x="63250" y="4107375"/>
            <a:ext cx="1166400" cy="1320900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300">
                <a:latin typeface="Trebuchet MS"/>
                <a:ea typeface="Trebuchet MS"/>
                <a:cs typeface="Trebuchet MS"/>
                <a:sym typeface="Trebuchet MS"/>
              </a:rPr>
              <a:t>Efficient Former V2</a:t>
            </a:r>
            <a:r>
              <a:rPr lang="en-IN" sz="1300">
                <a:latin typeface="Trebuchet MS"/>
                <a:ea typeface="Trebuchet MS"/>
                <a:cs typeface="Trebuchet MS"/>
                <a:sym typeface="Trebuchet MS"/>
              </a:rPr>
              <a:t>-S</a:t>
            </a:r>
            <a:endParaRPr sz="13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300">
                <a:latin typeface="Trebuchet MS"/>
                <a:ea typeface="Trebuchet MS"/>
                <a:cs typeface="Trebuchet MS"/>
                <a:sym typeface="Trebuchet MS"/>
              </a:rPr>
              <a:t>Vision Transformer</a:t>
            </a:r>
            <a:endParaRPr sz="13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300">
                <a:latin typeface="Trebuchet MS"/>
                <a:ea typeface="Trebuchet MS"/>
                <a:cs typeface="Trebuchet MS"/>
                <a:sym typeface="Trebuchet MS"/>
              </a:rPr>
              <a:t>Task: Classification</a:t>
            </a:r>
            <a:endParaRPr sz="13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332" name="Google Shape;332;p34"/>
          <p:cNvCxnSpPr>
            <a:stCxn id="330" idx="2"/>
            <a:endCxn id="331" idx="0"/>
          </p:cNvCxnSpPr>
          <p:nvPr/>
        </p:nvCxnSpPr>
        <p:spPr>
          <a:xfrm>
            <a:off x="646450" y="3583275"/>
            <a:ext cx="0" cy="524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33" name="Google Shape;333;p34"/>
          <p:cNvSpPr/>
          <p:nvPr/>
        </p:nvSpPr>
        <p:spPr>
          <a:xfrm>
            <a:off x="4988975" y="5853875"/>
            <a:ext cx="1449000" cy="858300"/>
          </a:xfrm>
          <a:prstGeom prst="rect">
            <a:avLst/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ABCDE Aggregator Combine A-E features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34" name="Google Shape;334;p34"/>
          <p:cNvSpPr/>
          <p:nvPr/>
        </p:nvSpPr>
        <p:spPr>
          <a:xfrm>
            <a:off x="4946700" y="1505475"/>
            <a:ext cx="985200" cy="647100"/>
          </a:xfrm>
          <a:prstGeom prst="rect">
            <a:avLst/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Lesion Mask (SLS)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335" name="Google Shape;335;p34"/>
          <p:cNvCxnSpPr>
            <a:stCxn id="334" idx="1"/>
            <a:endCxn id="336" idx="0"/>
          </p:cNvCxnSpPr>
          <p:nvPr/>
        </p:nvCxnSpPr>
        <p:spPr>
          <a:xfrm flipH="1">
            <a:off x="3757500" y="1829025"/>
            <a:ext cx="1189200" cy="768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36" name="Google Shape;336;p34"/>
          <p:cNvSpPr/>
          <p:nvPr/>
        </p:nvSpPr>
        <p:spPr>
          <a:xfrm>
            <a:off x="3076425" y="2597063"/>
            <a:ext cx="1362000" cy="579600"/>
          </a:xfrm>
          <a:prstGeom prst="rect">
            <a:avLst/>
          </a:prstGeom>
          <a:solidFill>
            <a:srgbClr val="EA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Symmetry analysis (area overlap)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337" name="Google Shape;337;p34"/>
          <p:cNvCxnSpPr>
            <a:stCxn id="336" idx="2"/>
            <a:endCxn id="338" idx="0"/>
          </p:cNvCxnSpPr>
          <p:nvPr/>
        </p:nvCxnSpPr>
        <p:spPr>
          <a:xfrm>
            <a:off x="3757425" y="3176663"/>
            <a:ext cx="0" cy="729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38" name="Google Shape;338;p34"/>
          <p:cNvSpPr/>
          <p:nvPr/>
        </p:nvSpPr>
        <p:spPr>
          <a:xfrm>
            <a:off x="3119925" y="3905963"/>
            <a:ext cx="1275000" cy="637500"/>
          </a:xfrm>
          <a:prstGeom prst="rect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A (</a:t>
            </a: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Asymmetry</a:t>
            </a: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) Value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339" name="Google Shape;339;p34"/>
          <p:cNvCxnSpPr>
            <a:stCxn id="338" idx="2"/>
            <a:endCxn id="333" idx="0"/>
          </p:cNvCxnSpPr>
          <p:nvPr/>
        </p:nvCxnSpPr>
        <p:spPr>
          <a:xfrm>
            <a:off x="3757425" y="4543463"/>
            <a:ext cx="1956000" cy="1310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40" name="Google Shape;340;p34"/>
          <p:cNvSpPr/>
          <p:nvPr/>
        </p:nvSpPr>
        <p:spPr>
          <a:xfrm>
            <a:off x="7898875" y="598800"/>
            <a:ext cx="985200" cy="1138500"/>
          </a:xfrm>
          <a:prstGeom prst="rect">
            <a:avLst/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MedProc JSON (symptoms + history)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341" name="Google Shape;341;p34"/>
          <p:cNvCxnSpPr>
            <a:stCxn id="334" idx="2"/>
            <a:endCxn id="342" idx="0"/>
          </p:cNvCxnSpPr>
          <p:nvPr/>
        </p:nvCxnSpPr>
        <p:spPr>
          <a:xfrm>
            <a:off x="5439300" y="2152575"/>
            <a:ext cx="0" cy="44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42" name="Google Shape;342;p34"/>
          <p:cNvSpPr/>
          <p:nvPr/>
        </p:nvSpPr>
        <p:spPr>
          <a:xfrm>
            <a:off x="4856100" y="2597075"/>
            <a:ext cx="1166400" cy="579600"/>
          </a:xfrm>
          <a:prstGeom prst="rect">
            <a:avLst/>
          </a:prstGeom>
          <a:solidFill>
            <a:srgbClr val="EA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Max Distance / mm scaling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343" name="Google Shape;343;p34"/>
          <p:cNvCxnSpPr>
            <a:stCxn id="328" idx="2"/>
            <a:endCxn id="344" idx="0"/>
          </p:cNvCxnSpPr>
          <p:nvPr/>
        </p:nvCxnSpPr>
        <p:spPr>
          <a:xfrm>
            <a:off x="1415000" y="2152575"/>
            <a:ext cx="801600" cy="524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44" name="Google Shape;344;p34"/>
          <p:cNvSpPr/>
          <p:nvPr/>
        </p:nvSpPr>
        <p:spPr>
          <a:xfrm>
            <a:off x="1591238" y="2676675"/>
            <a:ext cx="1251000" cy="906600"/>
          </a:xfrm>
          <a:prstGeom prst="rect">
            <a:avLst/>
          </a:prstGeom>
          <a:solidFill>
            <a:srgbClr val="EA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Color Clustering/ Variance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345" name="Google Shape;345;p34"/>
          <p:cNvCxnSpPr>
            <a:stCxn id="344" idx="2"/>
            <a:endCxn id="346" idx="0"/>
          </p:cNvCxnSpPr>
          <p:nvPr/>
        </p:nvCxnSpPr>
        <p:spPr>
          <a:xfrm>
            <a:off x="2216738" y="3583275"/>
            <a:ext cx="0" cy="680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46" name="Google Shape;346;p34"/>
          <p:cNvSpPr/>
          <p:nvPr/>
        </p:nvSpPr>
        <p:spPr>
          <a:xfrm>
            <a:off x="1579250" y="4263400"/>
            <a:ext cx="1275000" cy="624300"/>
          </a:xfrm>
          <a:prstGeom prst="rect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C (Color Variance) Value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347" name="Google Shape;347;p34"/>
          <p:cNvCxnSpPr>
            <a:stCxn id="346" idx="2"/>
            <a:endCxn id="333" idx="1"/>
          </p:cNvCxnSpPr>
          <p:nvPr/>
        </p:nvCxnSpPr>
        <p:spPr>
          <a:xfrm>
            <a:off x="2216750" y="4887700"/>
            <a:ext cx="2772300" cy="139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8" name="Google Shape;348;p34"/>
          <p:cNvCxnSpPr>
            <a:stCxn id="342" idx="2"/>
            <a:endCxn id="349" idx="0"/>
          </p:cNvCxnSpPr>
          <p:nvPr/>
        </p:nvCxnSpPr>
        <p:spPr>
          <a:xfrm>
            <a:off x="5439300" y="3176675"/>
            <a:ext cx="0" cy="73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49" name="Google Shape;349;p34"/>
          <p:cNvSpPr/>
          <p:nvPr/>
        </p:nvSpPr>
        <p:spPr>
          <a:xfrm>
            <a:off x="4856100" y="3911950"/>
            <a:ext cx="1166400" cy="624300"/>
          </a:xfrm>
          <a:prstGeom prst="rect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D (Diameter) Value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350" name="Google Shape;350;p34"/>
          <p:cNvCxnSpPr>
            <a:stCxn id="349" idx="2"/>
            <a:endCxn id="333" idx="0"/>
          </p:cNvCxnSpPr>
          <p:nvPr/>
        </p:nvCxnSpPr>
        <p:spPr>
          <a:xfrm>
            <a:off x="5439300" y="4536250"/>
            <a:ext cx="274200" cy="131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51" name="Google Shape;351;p34"/>
          <p:cNvSpPr/>
          <p:nvPr/>
        </p:nvSpPr>
        <p:spPr>
          <a:xfrm>
            <a:off x="6283175" y="2416100"/>
            <a:ext cx="1251000" cy="858300"/>
          </a:xfrm>
          <a:prstGeom prst="rect">
            <a:avLst/>
          </a:prstGeom>
          <a:solidFill>
            <a:srgbClr val="EA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Contour Complexity (compactness, fractal dim)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352" name="Google Shape;352;p34"/>
          <p:cNvCxnSpPr>
            <a:stCxn id="351" idx="2"/>
            <a:endCxn id="353" idx="0"/>
          </p:cNvCxnSpPr>
          <p:nvPr/>
        </p:nvCxnSpPr>
        <p:spPr>
          <a:xfrm>
            <a:off x="6908675" y="3274400"/>
            <a:ext cx="36300" cy="630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53" name="Google Shape;353;p34"/>
          <p:cNvSpPr/>
          <p:nvPr/>
        </p:nvSpPr>
        <p:spPr>
          <a:xfrm>
            <a:off x="6319475" y="3905350"/>
            <a:ext cx="1251000" cy="637500"/>
          </a:xfrm>
          <a:prstGeom prst="rect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B ( Border Irregularity) Value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354" name="Google Shape;354;p34"/>
          <p:cNvCxnSpPr>
            <a:stCxn id="353" idx="2"/>
            <a:endCxn id="333" idx="0"/>
          </p:cNvCxnSpPr>
          <p:nvPr/>
        </p:nvCxnSpPr>
        <p:spPr>
          <a:xfrm flipH="1">
            <a:off x="5713475" y="4542850"/>
            <a:ext cx="1231500" cy="131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5" name="Google Shape;355;p34"/>
          <p:cNvCxnSpPr>
            <a:stCxn id="340" idx="2"/>
            <a:endCxn id="356" idx="0"/>
          </p:cNvCxnSpPr>
          <p:nvPr/>
        </p:nvCxnSpPr>
        <p:spPr>
          <a:xfrm>
            <a:off x="8391475" y="1737300"/>
            <a:ext cx="0" cy="596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56" name="Google Shape;356;p34"/>
          <p:cNvSpPr/>
          <p:nvPr/>
        </p:nvSpPr>
        <p:spPr>
          <a:xfrm>
            <a:off x="7855375" y="2333300"/>
            <a:ext cx="1072200" cy="1023900"/>
          </a:xfrm>
          <a:prstGeom prst="rect">
            <a:avLst/>
          </a:prstGeom>
          <a:solidFill>
            <a:srgbClr val="EA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Temporal changes (growth, symptoms)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357" name="Google Shape;357;p34"/>
          <p:cNvCxnSpPr>
            <a:stCxn id="356" idx="2"/>
            <a:endCxn id="358" idx="0"/>
          </p:cNvCxnSpPr>
          <p:nvPr/>
        </p:nvCxnSpPr>
        <p:spPr>
          <a:xfrm flipH="1">
            <a:off x="8369875" y="3357200"/>
            <a:ext cx="21600" cy="429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9" name="Google Shape;359;p34"/>
          <p:cNvCxnSpPr>
            <a:stCxn id="334" idx="3"/>
            <a:endCxn id="351" idx="0"/>
          </p:cNvCxnSpPr>
          <p:nvPr/>
        </p:nvCxnSpPr>
        <p:spPr>
          <a:xfrm>
            <a:off x="5931900" y="1829025"/>
            <a:ext cx="976800" cy="587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58" name="Google Shape;358;p34"/>
          <p:cNvSpPr/>
          <p:nvPr/>
        </p:nvSpPr>
        <p:spPr>
          <a:xfrm>
            <a:off x="7833625" y="3786500"/>
            <a:ext cx="1072200" cy="768000"/>
          </a:xfrm>
          <a:prstGeom prst="rect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E (Evolution) Value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360" name="Google Shape;360;p34"/>
          <p:cNvCxnSpPr>
            <a:stCxn id="358" idx="2"/>
            <a:endCxn id="333" idx="3"/>
          </p:cNvCxnSpPr>
          <p:nvPr/>
        </p:nvCxnSpPr>
        <p:spPr>
          <a:xfrm flipH="1">
            <a:off x="6438025" y="4554500"/>
            <a:ext cx="1931700" cy="1728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1" name="Google Shape;361;p34"/>
          <p:cNvCxnSpPr>
            <a:stCxn id="333" idx="1"/>
            <a:endCxn id="362" idx="3"/>
          </p:cNvCxnSpPr>
          <p:nvPr/>
        </p:nvCxnSpPr>
        <p:spPr>
          <a:xfrm rot="10800000">
            <a:off x="3013775" y="6193925"/>
            <a:ext cx="1975200" cy="89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62" name="Google Shape;362;p34"/>
          <p:cNvSpPr/>
          <p:nvPr/>
        </p:nvSpPr>
        <p:spPr>
          <a:xfrm>
            <a:off x="1651675" y="5853875"/>
            <a:ext cx="1362000" cy="680100"/>
          </a:xfrm>
          <a:prstGeom prst="rect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Output: Class Label + ABCDE JSON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363" name="Google Shape;363;p34"/>
          <p:cNvCxnSpPr>
            <a:stCxn id="331" idx="2"/>
            <a:endCxn id="362" idx="1"/>
          </p:cNvCxnSpPr>
          <p:nvPr/>
        </p:nvCxnSpPr>
        <p:spPr>
          <a:xfrm>
            <a:off x="646450" y="5428275"/>
            <a:ext cx="1005300" cy="765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64" name="Google Shape;364;p34"/>
          <p:cNvSpPr/>
          <p:nvPr/>
        </p:nvSpPr>
        <p:spPr>
          <a:xfrm>
            <a:off x="1477850" y="2492050"/>
            <a:ext cx="1449000" cy="28398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65" name="Google Shape;365;p34"/>
          <p:cNvSpPr/>
          <p:nvPr/>
        </p:nvSpPr>
        <p:spPr>
          <a:xfrm>
            <a:off x="3013525" y="1439225"/>
            <a:ext cx="4559400" cy="53124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66" name="Google Shape;366;p34"/>
          <p:cNvSpPr/>
          <p:nvPr/>
        </p:nvSpPr>
        <p:spPr>
          <a:xfrm>
            <a:off x="7707900" y="280125"/>
            <a:ext cx="1362000" cy="4607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35"/>
          <p:cNvSpPr txBox="1"/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ct val="88889"/>
              <a:buFont typeface="Trebuchet MS"/>
              <a:buNone/>
            </a:pPr>
            <a:r>
              <a:rPr lang="en-IN"/>
              <a:t>Stages of Project IV – Hierarchical Classification + ABCDE</a:t>
            </a:r>
            <a:endParaRPr/>
          </a:p>
        </p:txBody>
      </p:sp>
      <p:graphicFrame>
        <p:nvGraphicFramePr>
          <p:cNvPr id="372" name="Google Shape;372;p35"/>
          <p:cNvGraphicFramePr/>
          <p:nvPr/>
        </p:nvGraphicFramePr>
        <p:xfrm>
          <a:off x="609600" y="2160588"/>
          <a:ext cx="3000000" cy="3000000"/>
        </p:xfrm>
        <a:graphic>
          <a:graphicData uri="http://schemas.openxmlformats.org/drawingml/2006/table">
            <a:tbl>
              <a:tblPr bandRow="1" firstCol="1" firstRow="1" lastCol="1">
                <a:noFill/>
                <a:tableStyleId>{97ED2F1A-A0D3-45D6-A7EC-2190041AD1C1}</a:tableStyleId>
              </a:tblPr>
              <a:tblGrid>
                <a:gridCol w="3174200"/>
                <a:gridCol w="31742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Models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EfficientFormerV2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Input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Cropped ROI(224*224)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Outputs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Lesion Class (Melanoma, Benign, etc) + ABCDE values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Task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Classify lesion (main_class, subclass)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Evaluation Metrics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IN" sz="1800">
                          <a:solidFill>
                            <a:schemeClr val="lt1"/>
                          </a:solidFill>
                        </a:rPr>
                        <a:t>Binary Accuracy: 94.7% | 7-Class: 89.2%</a:t>
                      </a:r>
                      <a:br>
                        <a:rPr lang="en-IN" sz="1800"/>
                      </a:br>
                      <a:r>
                        <a:rPr b="0" lang="en-IN" sz="1800">
                          <a:solidFill>
                            <a:schemeClr val="lt1"/>
                          </a:solidFill>
                        </a:rPr>
                        <a:t>Weighted F1: 0.8876 | AUC-ROC: 0.9751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Paper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1800" u="sng">
                          <a:solidFill>
                            <a:schemeClr val="lt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  <a:hlinkClick r:id="rId3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https://arxiv.org/abs/2301.10077</a:t>
                      </a:r>
                      <a:endParaRPr sz="18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36"/>
          <p:cNvSpPr txBox="1"/>
          <p:nvPr>
            <p:ph type="title"/>
          </p:nvPr>
        </p:nvSpPr>
        <p:spPr>
          <a:xfrm>
            <a:off x="609599" y="609600"/>
            <a:ext cx="6347713" cy="7694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3200"/>
              <a:buFont typeface="Trebuchet MS"/>
              <a:buNone/>
            </a:pPr>
            <a:r>
              <a:rPr lang="en-IN"/>
              <a:t>Stages of Project V - MedProc</a:t>
            </a:r>
            <a:endParaRPr/>
          </a:p>
        </p:txBody>
      </p:sp>
      <p:graphicFrame>
        <p:nvGraphicFramePr>
          <p:cNvPr id="378" name="Google Shape;378;p36"/>
          <p:cNvGraphicFramePr/>
          <p:nvPr/>
        </p:nvGraphicFramePr>
        <p:xfrm>
          <a:off x="3897443" y="1342119"/>
          <a:ext cx="3000000" cy="3000000"/>
        </p:xfrm>
        <a:graphic>
          <a:graphicData uri="http://schemas.openxmlformats.org/drawingml/2006/table">
            <a:tbl>
              <a:tblPr bandRow="1" firstCol="1" firstRow="1" lastCol="1">
                <a:noFill/>
                <a:tableStyleId>{97ED2F1A-A0D3-45D6-A7EC-2190041AD1C1}</a:tableStyleId>
              </a:tblPr>
              <a:tblGrid>
                <a:gridCol w="2236025"/>
                <a:gridCol w="22360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/>
                        <a:t>Model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/>
                        <a:t>BioBERT</a:t>
                      </a:r>
                      <a:endParaRPr sz="1500"/>
                    </a:p>
                  </a:txBody>
                  <a:tcPr marT="45725" marB="45725" marR="91450" marL="91450"/>
                </a:tc>
              </a:tr>
              <a:tr h="232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/>
                        <a:t>Inputs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/>
                        <a:t>Medical History (Text) + Medical Report(size &lt;= 5MB)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/>
                        <a:t>Output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/>
                        <a:t>JSON Value(Symptoms+Suggestion + E Value)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/>
                        <a:t>Task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/>
                        <a:t>Extract relevant clinical info from reports.</a:t>
                      </a:r>
                      <a:endParaRPr sz="15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/>
                        <a:t>Evaluation Metrics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IN" sz="1500">
                          <a:solidFill>
                            <a:schemeClr val="lt1"/>
                          </a:solidFill>
                        </a:rPr>
                        <a:t>NER F1: 0.8742–0.8934 | ECE: 0.0201</a:t>
                      </a:r>
                      <a:br>
                        <a:rPr lang="en-IN" sz="1500"/>
                      </a:br>
                      <a:r>
                        <a:rPr b="0" lang="en-IN" sz="1500">
                          <a:solidFill>
                            <a:schemeClr val="lt1"/>
                          </a:solidFill>
                        </a:rPr>
                        <a:t>Relation AUC-ROC: 0.8934 | MAE: 0.1547</a:t>
                      </a:r>
                      <a:endParaRPr sz="15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/>
                        <a:t>Paper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1500" u="sng">
                          <a:solidFill>
                            <a:schemeClr val="lt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  <a:hlinkClick r:id="rId3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https://academic.oup.com/bioinformatics/article/36/4/1234/5566506</a:t>
                      </a:r>
                      <a:endParaRPr sz="15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379" name="Google Shape;379;p36"/>
          <p:cNvSpPr/>
          <p:nvPr/>
        </p:nvSpPr>
        <p:spPr>
          <a:xfrm>
            <a:off x="125575" y="1748300"/>
            <a:ext cx="1284600" cy="531300"/>
          </a:xfrm>
          <a:prstGeom prst="rect">
            <a:avLst/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Medical Text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80" name="Google Shape;380;p36"/>
          <p:cNvSpPr/>
          <p:nvPr/>
        </p:nvSpPr>
        <p:spPr>
          <a:xfrm>
            <a:off x="2260250" y="1719325"/>
            <a:ext cx="1284600" cy="531300"/>
          </a:xfrm>
          <a:prstGeom prst="rect">
            <a:avLst/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Medical Report &lt;= 5MB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381" name="Google Shape;381;p36"/>
          <p:cNvCxnSpPr>
            <a:stCxn id="379" idx="2"/>
            <a:endCxn id="382" idx="0"/>
          </p:cNvCxnSpPr>
          <p:nvPr/>
        </p:nvCxnSpPr>
        <p:spPr>
          <a:xfrm>
            <a:off x="767875" y="2279600"/>
            <a:ext cx="1149300" cy="5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82" name="Google Shape;382;p36"/>
          <p:cNvSpPr/>
          <p:nvPr/>
        </p:nvSpPr>
        <p:spPr>
          <a:xfrm>
            <a:off x="289775" y="2878425"/>
            <a:ext cx="3255000" cy="473400"/>
          </a:xfrm>
          <a:prstGeom prst="rect">
            <a:avLst/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Preproc: OCR(PDF) Cleanup + Tokenization &lt;=512 tokens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383" name="Google Shape;383;p36"/>
          <p:cNvCxnSpPr>
            <a:stCxn id="380" idx="2"/>
            <a:endCxn id="382" idx="0"/>
          </p:cNvCxnSpPr>
          <p:nvPr/>
        </p:nvCxnSpPr>
        <p:spPr>
          <a:xfrm flipH="1">
            <a:off x="1917350" y="2250625"/>
            <a:ext cx="985200" cy="627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4" name="Google Shape;384;p36"/>
          <p:cNvCxnSpPr>
            <a:stCxn id="382" idx="2"/>
          </p:cNvCxnSpPr>
          <p:nvPr/>
        </p:nvCxnSpPr>
        <p:spPr>
          <a:xfrm flipH="1">
            <a:off x="1912475" y="3351825"/>
            <a:ext cx="4800" cy="801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85" name="Google Shape;385;p36"/>
          <p:cNvSpPr/>
          <p:nvPr/>
        </p:nvSpPr>
        <p:spPr>
          <a:xfrm>
            <a:off x="287375" y="4153425"/>
            <a:ext cx="3255000" cy="598800"/>
          </a:xfrm>
          <a:prstGeom prst="rect">
            <a:avLst/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BioBERT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Clinical NLP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Task: Entity &amp; Evolution Extraction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386" name="Google Shape;386;p36"/>
          <p:cNvCxnSpPr>
            <a:stCxn id="385" idx="2"/>
          </p:cNvCxnSpPr>
          <p:nvPr/>
        </p:nvCxnSpPr>
        <p:spPr>
          <a:xfrm>
            <a:off x="1914875" y="4752225"/>
            <a:ext cx="7200" cy="72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87" name="Google Shape;387;p36"/>
          <p:cNvSpPr/>
          <p:nvPr/>
        </p:nvSpPr>
        <p:spPr>
          <a:xfrm>
            <a:off x="247475" y="5476725"/>
            <a:ext cx="3342000" cy="531300"/>
          </a:xfrm>
          <a:prstGeom prst="rect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Output: JSON (symptoms + treatment + E value)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37"/>
          <p:cNvSpPr txBox="1"/>
          <p:nvPr>
            <p:ph type="title"/>
          </p:nvPr>
        </p:nvSpPr>
        <p:spPr>
          <a:xfrm>
            <a:off x="435749" y="60650"/>
            <a:ext cx="6347700" cy="13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3200"/>
              <a:buFont typeface="Trebuchet MS"/>
              <a:buNone/>
            </a:pPr>
            <a:r>
              <a:rPr lang="en-IN"/>
              <a:t>Stages of Project VI – IT Fusion (Image + Text)</a:t>
            </a:r>
            <a:endParaRPr/>
          </a:p>
        </p:txBody>
      </p:sp>
      <p:graphicFrame>
        <p:nvGraphicFramePr>
          <p:cNvPr id="393" name="Google Shape;393;p37"/>
          <p:cNvGraphicFramePr/>
          <p:nvPr/>
        </p:nvGraphicFramePr>
        <p:xfrm>
          <a:off x="4318985" y="1270001"/>
          <a:ext cx="3000000" cy="3000000"/>
        </p:xfrm>
        <a:graphic>
          <a:graphicData uri="http://schemas.openxmlformats.org/drawingml/2006/table">
            <a:tbl>
              <a:tblPr bandRow="1" firstCol="1" firstRow="1" lastCol="1">
                <a:noFill/>
                <a:tableStyleId>{97ED2F1A-A0D3-45D6-A7EC-2190041AD1C1}</a:tableStyleId>
              </a:tblPr>
              <a:tblGrid>
                <a:gridCol w="2203575"/>
                <a:gridCol w="2203575"/>
              </a:tblGrid>
              <a:tr h="39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/>
                        <a:t>Model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/>
                        <a:t>MARIA (</a:t>
                      </a:r>
                      <a:r>
                        <a:rPr b="0" i="0" lang="en-IN" sz="1800">
                          <a:solidFill>
                            <a:schemeClr val="lt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Multimodal Attention Resilient to Incomplete datA</a:t>
                      </a:r>
                      <a:r>
                        <a:rPr lang="en-IN" sz="1500"/>
                        <a:t>)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9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/>
                        <a:t>Inputs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/>
                        <a:t>Derm1M (413K) + MM-SkinQA (11K) + PAD-UFES-20 (2.3K) → 415,508 labelled pairs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/>
                        <a:t>288-dim image (EfficientFormerV2-S2) + 768-dim text (Bio_ClinicalBERT) features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9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/>
                        <a:t>Output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/>
                        <a:t>Risk JSON (class, ABCDE, risk score, evidence</a:t>
                      </a:r>
                      <a:endParaRPr sz="1500"/>
                    </a:p>
                  </a:txBody>
                  <a:tcPr marT="45725" marB="45725" marR="91450" marL="91450"/>
                </a:tc>
              </a:tr>
              <a:tr h="39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/>
                        <a:t>Task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/>
                        <a:t>Align multimodal features (image + text)</a:t>
                      </a:r>
                      <a:endParaRPr sz="1500"/>
                    </a:p>
                  </a:txBody>
                  <a:tcPr marT="45725" marB="45725" marR="91450" marL="91450"/>
                </a:tc>
              </a:tr>
              <a:tr h="39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/>
                        <a:t>Evaluation Metrics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IN" sz="1500">
                          <a:solidFill>
                            <a:schemeClr val="lt1"/>
                          </a:solidFill>
                        </a:rPr>
                        <a:t>Test Accuracy: 66.3% (51 classes, 415K samples)</a:t>
                      </a:r>
                      <a:br>
                        <a:rPr lang="en-IN" sz="1500"/>
                      </a:br>
                      <a:r>
                        <a:rPr b="0" lang="en-IN" sz="1500">
                          <a:solidFill>
                            <a:schemeClr val="lt1"/>
                          </a:solidFill>
                        </a:rPr>
                        <a:t>Weighted F1: 0.675 | Macro F1: 0.533 | Gate: 0.511/0.489</a:t>
                      </a:r>
                      <a:endParaRPr sz="1500"/>
                    </a:p>
                  </a:txBody>
                  <a:tcPr marT="45725" marB="45725" marR="91450" marL="91450"/>
                </a:tc>
              </a:tr>
              <a:tr h="39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/>
                        <a:t>Paper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1800" u="sng">
                          <a:solidFill>
                            <a:schemeClr val="lt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  <a:hlinkClick r:id="rId3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Caruso et al., Computers in Biology and Medicine, 196, 2025 (doi:10.1016/j.compbiomed.2025.110843)</a:t>
                      </a:r>
                      <a:endParaRPr sz="15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394" name="Google Shape;394;p37"/>
          <p:cNvSpPr/>
          <p:nvPr/>
        </p:nvSpPr>
        <p:spPr>
          <a:xfrm>
            <a:off x="202850" y="2018775"/>
            <a:ext cx="1101000" cy="627900"/>
          </a:xfrm>
          <a:prstGeom prst="rect">
            <a:avLst/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MedProc JSON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95" name="Google Shape;395;p37"/>
          <p:cNvSpPr/>
          <p:nvPr/>
        </p:nvSpPr>
        <p:spPr>
          <a:xfrm>
            <a:off x="2337525" y="2038125"/>
            <a:ext cx="1477800" cy="627900"/>
          </a:xfrm>
          <a:prstGeom prst="rect">
            <a:avLst/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HC Output (Class + ABCDE)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396" name="Google Shape;396;p37"/>
          <p:cNvCxnSpPr>
            <a:stCxn id="394" idx="2"/>
            <a:endCxn id="397" idx="0"/>
          </p:cNvCxnSpPr>
          <p:nvPr/>
        </p:nvCxnSpPr>
        <p:spPr>
          <a:xfrm>
            <a:off x="753350" y="2646675"/>
            <a:ext cx="1256700" cy="63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98" name="Google Shape;398;p37"/>
          <p:cNvCxnSpPr>
            <a:stCxn id="395" idx="2"/>
            <a:endCxn id="397" idx="0"/>
          </p:cNvCxnSpPr>
          <p:nvPr/>
        </p:nvCxnSpPr>
        <p:spPr>
          <a:xfrm flipH="1">
            <a:off x="2010225" y="2666025"/>
            <a:ext cx="1066200" cy="618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97" name="Google Shape;397;p37"/>
          <p:cNvSpPr/>
          <p:nvPr/>
        </p:nvSpPr>
        <p:spPr>
          <a:xfrm>
            <a:off x="609600" y="3284000"/>
            <a:ext cx="2801100" cy="473400"/>
          </a:xfrm>
          <a:prstGeom prst="rect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Preproc: Feature Alignment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399" name="Google Shape;399;p37"/>
          <p:cNvCxnSpPr>
            <a:stCxn id="397" idx="2"/>
          </p:cNvCxnSpPr>
          <p:nvPr/>
        </p:nvCxnSpPr>
        <p:spPr>
          <a:xfrm flipH="1">
            <a:off x="2009250" y="3757400"/>
            <a:ext cx="900" cy="521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00" name="Google Shape;400;p37"/>
          <p:cNvSpPr/>
          <p:nvPr/>
        </p:nvSpPr>
        <p:spPr>
          <a:xfrm>
            <a:off x="1015200" y="4279100"/>
            <a:ext cx="1989900" cy="473400"/>
          </a:xfrm>
          <a:prstGeom prst="rect">
            <a:avLst/>
          </a:prstGeom>
          <a:solidFill>
            <a:srgbClr val="CC412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MARIA Model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Task: Image-Text Fusion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401" name="Google Shape;401;p37"/>
          <p:cNvCxnSpPr>
            <a:stCxn id="400" idx="2"/>
            <a:endCxn id="402" idx="0"/>
          </p:cNvCxnSpPr>
          <p:nvPr/>
        </p:nvCxnSpPr>
        <p:spPr>
          <a:xfrm flipH="1">
            <a:off x="2009550" y="4752500"/>
            <a:ext cx="600" cy="705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02" name="Google Shape;402;p37"/>
          <p:cNvSpPr/>
          <p:nvPr/>
        </p:nvSpPr>
        <p:spPr>
          <a:xfrm>
            <a:off x="1381350" y="5457375"/>
            <a:ext cx="1256700" cy="705000"/>
          </a:xfrm>
          <a:prstGeom prst="rect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Output: Risk JSON (score + evidence)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03" name="Google Shape;403;p37"/>
          <p:cNvSpPr/>
          <p:nvPr/>
        </p:nvSpPr>
        <p:spPr>
          <a:xfrm>
            <a:off x="0" y="1356100"/>
            <a:ext cx="3969900" cy="52122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01" name="ImagePlaceholder20"/>
          <p:cNvSpPr>
            <a:spLocks noGrp="1"/>
          </p:cNvSpPr>
          <p:nvPr/>
        </p:nvSpPr>
        <p:spPr>
          <a:xfrm>
            <a:off x="457200" y="4750000"/>
            <a:ext cx="8229600" cy="1800000"/>
          </a:xfrm>
          <a:prstGeom prst="rect">
            <a:avLst/>
          </a:prstGeom>
          <a:solidFill>
            <a:srgbClr val="F0F4F0"/>
          </a:solidFill>
          <a:ln w="19050">
            <a:solidFill>
              <a:srgbClr val="5B8A3C"/>
            </a:solidFill>
            <a:prstDash val="dash"/>
          </a:ln>
        </p:spPr>
        <p:txBody>
          <a:bodyPr anchor="ctr"/>
          <a:lstStyle/>
          <a:p>
            <a:pPr algn="ctr"/>
            <a:r>
              <a:rPr lang="en-US" sz="1400" b="0" i="1">
                <a:solidFill>
                  <a:srgbClr val="5B8A3C"/>
                </a:solidFill>
              </a:rPr>
              <a:t>[ Insert: Gate Weight Bar Chart ]</a:t>
            </a:r>
          </a:p>
          <a:p>
            <a:pPr algn="ctr"/>
            <a:r>
              <a:rPr lang="en-US" sz="1100" b="0">
                <a:solidFill>
                  <a:srgbClr val="888888"/>
                </a:solidFill>
              </a:rPr>
              <a:t>Image gate: 0.511 ± 0.184 | Text gate: 0.489 ± 0.184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38"/>
          <p:cNvSpPr txBox="1"/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3200"/>
              <a:buFont typeface="Trebuchet MS"/>
              <a:buNone/>
            </a:pPr>
            <a:r>
              <a:rPr lang="en-IN"/>
              <a:t>Stage 7: VQA – R-LLaVA with QLoRA</a:t>
            </a:r>
            <a:endParaRPr/>
          </a:p>
        </p:txBody>
      </p:sp>
      <p:graphicFrame>
        <p:nvGraphicFramePr>
          <p:cNvPr id="409" name="Google Shape;409;p38"/>
          <p:cNvGraphicFramePr/>
          <p:nvPr/>
        </p:nvGraphicFramePr>
        <p:xfrm>
          <a:off x="4318985" y="1270001"/>
          <a:ext cx="3000000" cy="3000000"/>
        </p:xfrm>
        <a:graphic>
          <a:graphicData uri="http://schemas.openxmlformats.org/drawingml/2006/table">
            <a:tbl>
              <a:tblPr bandRow="1" firstCol="1" firstRow="1" lastCol="1">
                <a:noFill/>
                <a:tableStyleId>{97ED2F1A-A0D3-45D6-A7EC-2190041AD1C1}</a:tableStyleId>
              </a:tblPr>
              <a:tblGrid>
                <a:gridCol w="2203575"/>
                <a:gridCol w="2203575"/>
              </a:tblGrid>
              <a:tr h="39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/>
                        <a:t>Model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/>
                        <a:t>LLaVA-v1.6-Mistral-7B + QLoRA (r=8, NF4 4-bit)</a:t>
                      </a:r>
                      <a:endParaRPr sz="1500"/>
                    </a:p>
                  </a:txBody>
                  <a:tcPr marT="45725" marB="45725" marR="91450" marL="91450"/>
                </a:tc>
              </a:tr>
              <a:tr h="39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/>
                        <a:t>Inputs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/>
                        <a:t>Question + ROI Image (336×336) + IT Fusion JSON (ABCDE + risk)</a:t>
                      </a:r>
                      <a:endParaRPr sz="1500"/>
                    </a:p>
                  </a:txBody>
                  <a:tcPr marT="45725" marB="45725" marR="91450" marL="91450"/>
                </a:tc>
              </a:tr>
              <a:tr h="39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/>
                        <a:t>Output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/>
                        <a:t>Clinical answer with ABCDE evidence + drug recommendation</a:t>
                      </a:r>
                      <a:endParaRPr sz="1500"/>
                    </a:p>
                  </a:txBody>
                  <a:tcPr marT="45725" marB="45725" marR="91450" marL="91450"/>
                </a:tc>
              </a:tr>
              <a:tr h="39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/>
                        <a:t>Task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/>
                        <a:t>Fine-tune R-LLaVA on Stage6QA dataset for ABCDE-aware dermatology VQA</a:t>
                      </a:r>
                      <a:endParaRPr sz="1500"/>
                    </a:p>
                  </a:txBody>
                  <a:tcPr marT="45725" marB="45725" marR="91450" marL="91450"/>
                </a:tc>
              </a:tr>
              <a:tr h="39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/>
                        <a:t>Evaluation Metrics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IN" sz="1500">
                          <a:solidFill>
                            <a:schemeClr val="lt1"/>
                          </a:solidFill>
                        </a:rPr>
                        <a:t>BLEU-4 | ROUGE-L | METEOR | Exact Match (training in progress on DGX A100)</a:t>
                      </a:r>
                      <a:br>
                        <a:rPr lang="en-IN" sz="1500"/>
                      </a:br>
                      <a:r>
                        <a:rPr b="0" lang="en-IN" sz="1500">
                          <a:solidFill>
                            <a:schemeClr val="lt1"/>
                          </a:solidFill>
                        </a:rPr>
                        <a:t>Dataset: 415K QA pairs | 4 types: open/close/region/multichoice</a:t>
                      </a:r>
                      <a:br>
                        <a:rPr lang="en-IN" sz="1500"/>
                      </a:br>
                      <a:r>
                        <a:rPr b="0" lang="en-IN" sz="1500">
                          <a:solidFill>
                            <a:schemeClr val="lt1"/>
                          </a:solidFill>
                        </a:rPr>
                        <a:t>Training: 7 epochs | Batch=4 | Grad accum=4 | LR=2e-5 | DGX 3×A100</a:t>
                      </a:r>
                      <a:endParaRPr sz="1500"/>
                    </a:p>
                  </a:txBody>
                  <a:tcPr marT="45725" marB="45725" marR="91450" marL="91450"/>
                </a:tc>
              </a:tr>
              <a:tr h="39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/>
                        <a:t>Paper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IN" sz="1500" u="sng">
                          <a:solidFill>
                            <a:schemeClr val="lt1"/>
                          </a:solidFill>
                          <a:hlinkClick r:id="rId3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Chen et al., R-LLaVA, arXiv:2410.20327 (ICLR Workshop 2025)</a:t>
                      </a:r>
                      <a:endParaRPr sz="15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410" name="Google Shape;410;p38"/>
          <p:cNvSpPr/>
          <p:nvPr/>
        </p:nvSpPr>
        <p:spPr>
          <a:xfrm>
            <a:off x="202850" y="1680725"/>
            <a:ext cx="975600" cy="637500"/>
          </a:xfrm>
          <a:prstGeom prst="rect">
            <a:avLst/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ROI (224x224)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11" name="Google Shape;411;p38"/>
          <p:cNvSpPr/>
          <p:nvPr/>
        </p:nvSpPr>
        <p:spPr>
          <a:xfrm>
            <a:off x="1951150" y="1661375"/>
            <a:ext cx="1728900" cy="676200"/>
          </a:xfrm>
          <a:prstGeom prst="rect">
            <a:avLst/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Question &lt;= 128 tokens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12" name="Google Shape;412;p38"/>
          <p:cNvSpPr/>
          <p:nvPr/>
        </p:nvSpPr>
        <p:spPr>
          <a:xfrm>
            <a:off x="1864225" y="3197175"/>
            <a:ext cx="2211900" cy="572100"/>
          </a:xfrm>
          <a:prstGeom prst="rect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Preproc: Tokenize Question, Normalize ROI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13" name="Google Shape;413;p38"/>
          <p:cNvSpPr/>
          <p:nvPr/>
        </p:nvSpPr>
        <p:spPr>
          <a:xfrm>
            <a:off x="386375" y="3164475"/>
            <a:ext cx="869400" cy="572100"/>
          </a:xfrm>
          <a:prstGeom prst="rect">
            <a:avLst/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IT JSON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414" name="Google Shape;414;p38"/>
          <p:cNvCxnSpPr>
            <a:stCxn id="410" idx="2"/>
          </p:cNvCxnSpPr>
          <p:nvPr/>
        </p:nvCxnSpPr>
        <p:spPr>
          <a:xfrm flipH="1" rot="-5400000">
            <a:off x="1567250" y="1441625"/>
            <a:ext cx="502200" cy="22554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5" name="Google Shape;415;p38"/>
          <p:cNvCxnSpPr>
            <a:stCxn id="411" idx="3"/>
          </p:cNvCxnSpPr>
          <p:nvPr/>
        </p:nvCxnSpPr>
        <p:spPr>
          <a:xfrm flipH="1">
            <a:off x="3100450" y="1999475"/>
            <a:ext cx="579600" cy="647100"/>
          </a:xfrm>
          <a:prstGeom prst="bentConnector4">
            <a:avLst>
              <a:gd fmla="val -41084" name="adj1"/>
              <a:gd fmla="val 76124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6" name="Google Shape;416;p38"/>
          <p:cNvCxnSpPr>
            <a:endCxn id="412" idx="0"/>
          </p:cNvCxnSpPr>
          <p:nvPr/>
        </p:nvCxnSpPr>
        <p:spPr>
          <a:xfrm>
            <a:off x="2917075" y="2801175"/>
            <a:ext cx="53100" cy="39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17" name="Google Shape;417;p38"/>
          <p:cNvCxnSpPr>
            <a:endCxn id="412" idx="0"/>
          </p:cNvCxnSpPr>
          <p:nvPr/>
        </p:nvCxnSpPr>
        <p:spPr>
          <a:xfrm flipH="1">
            <a:off x="2970175" y="2530575"/>
            <a:ext cx="120600" cy="666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18" name="Google Shape;418;p38"/>
          <p:cNvSpPr/>
          <p:nvPr/>
        </p:nvSpPr>
        <p:spPr>
          <a:xfrm>
            <a:off x="1168750" y="4607425"/>
            <a:ext cx="2096100" cy="647100"/>
          </a:xfrm>
          <a:prstGeom prst="rect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 xml:space="preserve">R-LLaVA 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Vision +Language Q&amp;A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419" name="Google Shape;419;p38"/>
          <p:cNvCxnSpPr>
            <a:stCxn id="413" idx="2"/>
          </p:cNvCxnSpPr>
          <p:nvPr/>
        </p:nvCxnSpPr>
        <p:spPr>
          <a:xfrm flipH="1">
            <a:off x="811475" y="3736575"/>
            <a:ext cx="9600" cy="1189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0" name="Google Shape;420;p38"/>
          <p:cNvCxnSpPr>
            <a:endCxn id="418" idx="1"/>
          </p:cNvCxnSpPr>
          <p:nvPr/>
        </p:nvCxnSpPr>
        <p:spPr>
          <a:xfrm flipH="1" rot="10800000">
            <a:off x="801550" y="4930975"/>
            <a:ext cx="367200" cy="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21" name="Google Shape;421;p38"/>
          <p:cNvCxnSpPr>
            <a:stCxn id="412" idx="2"/>
            <a:endCxn id="418" idx="0"/>
          </p:cNvCxnSpPr>
          <p:nvPr/>
        </p:nvCxnSpPr>
        <p:spPr>
          <a:xfrm flipH="1">
            <a:off x="2216875" y="3769275"/>
            <a:ext cx="753300" cy="838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22" name="Google Shape;422;p38"/>
          <p:cNvCxnSpPr>
            <a:stCxn id="418" idx="2"/>
          </p:cNvCxnSpPr>
          <p:nvPr/>
        </p:nvCxnSpPr>
        <p:spPr>
          <a:xfrm flipH="1">
            <a:off x="2212000" y="5254525"/>
            <a:ext cx="4800" cy="570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23" name="Google Shape;423;p38"/>
          <p:cNvSpPr/>
          <p:nvPr/>
        </p:nvSpPr>
        <p:spPr>
          <a:xfrm>
            <a:off x="977950" y="5824525"/>
            <a:ext cx="2472900" cy="676200"/>
          </a:xfrm>
          <a:prstGeom prst="rect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Output: Answer + Evidence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24" name="Google Shape;424;p38"/>
          <p:cNvSpPr/>
          <p:nvPr/>
        </p:nvSpPr>
        <p:spPr>
          <a:xfrm>
            <a:off x="38625" y="1255700"/>
            <a:ext cx="4221000" cy="54960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11" name="ImagePlaceholder21"/>
          <p:cNvSpPr>
            <a:spLocks noGrp="1"/>
          </p:cNvSpPr>
          <p:nvPr/>
        </p:nvSpPr>
        <p:spPr>
          <a:xfrm>
            <a:off x="4318985" y="4400000"/>
            <a:ext cx="3000000" cy="2100000"/>
          </a:xfrm>
          <a:prstGeom prst="rect">
            <a:avLst/>
          </a:prstGeom>
          <a:solidFill>
            <a:srgbClr val="F0F4F0"/>
          </a:solidFill>
          <a:ln w="19050">
            <a:solidFill>
              <a:srgbClr val="5B8A3C"/>
            </a:solidFill>
            <a:prstDash val="dash"/>
          </a:ln>
        </p:spPr>
        <p:txBody>
          <a:bodyPr anchor="ctr"/>
          <a:lstStyle/>
          <a:p>
            <a:pPr algn="ctr"/>
            <a:r>
              <a:rPr lang="en-US" sz="1400" b="0" i="1">
                <a:solidFill>
                  <a:srgbClr val="5B8A3C"/>
                </a:solidFill>
              </a:rPr>
              <a:t>Q: What ABCDE features indicate risk?</a:t>
            </a:r>
          </a:p>
          <a:p>
            <a:pPr algn="ctr"/>
            <a:r>
              <a:rPr lang="en-US" sz="1100" b="0">
                <a:solidFill>
                  <a:srgbClr val="888888"/>
                </a:solidFill>
              </a:rPr>
              <a:t>A: Asymmetry=0.87, Border=0.74, Color=0.63 → High risk MEL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39"/>
          <p:cNvSpPr txBox="1"/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3200"/>
              <a:buFont typeface="Trebuchet MS"/>
              <a:buNone/>
            </a:pPr>
            <a:r>
              <a:rPr lang="en-IN"/>
              <a:t>Stagewise Datasets</a:t>
            </a:r>
            <a:endParaRPr/>
          </a:p>
        </p:txBody>
      </p:sp>
      <p:graphicFrame>
        <p:nvGraphicFramePr>
          <p:cNvPr id="430" name="Google Shape;430;p39"/>
          <p:cNvGraphicFramePr/>
          <p:nvPr/>
        </p:nvGraphicFramePr>
        <p:xfrm>
          <a:off x="609600" y="1635933"/>
          <a:ext cx="3000000" cy="3000000"/>
        </p:xfrm>
        <a:graphic>
          <a:graphicData uri="http://schemas.openxmlformats.org/drawingml/2006/table">
            <a:tbl>
              <a:tblPr bandRow="1" firstCol="1" firstRow="1" lastCol="1">
                <a:noFill/>
                <a:tableStyleId>{97ED2F1A-A0D3-45D6-A7EC-2190041AD1C1}</a:tableStyleId>
              </a:tblPr>
              <a:tblGrid>
                <a:gridCol w="3174200"/>
                <a:gridCol w="37120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Stages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Datasets required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SLS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ISIC 2016,2017,2018, PH2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ROI Cropping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No dataset required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 xml:space="preserve">HC 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ISIC 2019,</a:t>
                      </a:r>
                      <a:r>
                        <a:rPr lang="en-IN" sz="1800"/>
                        <a:t xml:space="preserve">ISIC 2018, MILK10k 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MedProc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MIMIC-III, MIMIC-IV, PAD-UFES-20, EICU, Derm1M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IT Fusion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Derm1M (413K) + MM-SkinQA (11K) + PAD-UFES-20 (2.3K) → 415,508 labelled pairs, 51 classes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VQA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Stage6QA: 415K pairs from Derm1M+MM-Skin+PAD-UFES | 4 types: open/close/region/multichoice | RAG: MedQuAD+DermNet+StatPearls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40"/>
          <p:cNvSpPr txBox="1"/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3200"/>
              <a:buFont typeface="Trebuchet MS"/>
              <a:buNone/>
            </a:pPr>
            <a:r>
              <a:rPr lang="en-IN"/>
              <a:t xml:space="preserve">Development </a:t>
            </a:r>
            <a:endParaRPr/>
          </a:p>
        </p:txBody>
      </p:sp>
      <p:sp>
        <p:nvSpPr>
          <p:cNvPr id="436" name="Google Shape;436;p40"/>
          <p:cNvSpPr/>
          <p:nvPr/>
        </p:nvSpPr>
        <p:spPr>
          <a:xfrm>
            <a:off x="251150" y="1866550"/>
            <a:ext cx="1728900" cy="763200"/>
          </a:xfrm>
          <a:prstGeom prst="rect">
            <a:avLst/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Preprocessing Image Resize/ OCR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Output: Cleaned data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437" name="Google Shape;437;p40"/>
          <p:cNvCxnSpPr>
            <a:stCxn id="436" idx="3"/>
            <a:endCxn id="438" idx="1"/>
          </p:cNvCxnSpPr>
          <p:nvPr/>
        </p:nvCxnSpPr>
        <p:spPr>
          <a:xfrm>
            <a:off x="1980050" y="2248150"/>
            <a:ext cx="589200" cy="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38" name="Google Shape;438;p40"/>
          <p:cNvSpPr/>
          <p:nvPr/>
        </p:nvSpPr>
        <p:spPr>
          <a:xfrm>
            <a:off x="2569325" y="1786900"/>
            <a:ext cx="1957800" cy="927300"/>
          </a:xfrm>
          <a:prstGeom prst="rect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SLS (ARCUNet)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Input Image: 512x512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 xml:space="preserve"> Output: Lesion Mask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439" name="Google Shape;439;p40"/>
          <p:cNvCxnSpPr>
            <a:stCxn id="438" idx="3"/>
          </p:cNvCxnSpPr>
          <p:nvPr/>
        </p:nvCxnSpPr>
        <p:spPr>
          <a:xfrm flipH="1" rot="10800000">
            <a:off x="4527125" y="2245750"/>
            <a:ext cx="862800" cy="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40" name="Google Shape;440;p40"/>
          <p:cNvSpPr/>
          <p:nvPr/>
        </p:nvSpPr>
        <p:spPr>
          <a:xfrm>
            <a:off x="5389950" y="1784500"/>
            <a:ext cx="2318100" cy="9273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 xml:space="preserve">SLRC (OpenCV + Connected Components) 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Input: Image + Mask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Output: ROI Crop 224  x 224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441" name="Google Shape;441;p40"/>
          <p:cNvCxnSpPr>
            <a:stCxn id="440" idx="2"/>
          </p:cNvCxnSpPr>
          <p:nvPr/>
        </p:nvCxnSpPr>
        <p:spPr>
          <a:xfrm>
            <a:off x="6549000" y="2711800"/>
            <a:ext cx="14400" cy="833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42" name="Google Shape;442;p40"/>
          <p:cNvSpPr/>
          <p:nvPr/>
        </p:nvSpPr>
        <p:spPr>
          <a:xfrm>
            <a:off x="5389950" y="3544900"/>
            <a:ext cx="2318100" cy="1014300"/>
          </a:xfrm>
          <a:prstGeom prst="rect">
            <a:avLst/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HC EfficientFormerV2-s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Input: ROI Crop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Output: Lesion Class + ABCD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43" name="Google Shape;443;p40"/>
          <p:cNvSpPr/>
          <p:nvPr/>
        </p:nvSpPr>
        <p:spPr>
          <a:xfrm>
            <a:off x="5389950" y="5380150"/>
            <a:ext cx="2257200" cy="833100"/>
          </a:xfrm>
          <a:prstGeom prst="rect">
            <a:avLst/>
          </a:prstGeom>
          <a:solidFill>
            <a:srgbClr val="FF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MedProc (BIOBert)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Input: Text &lt;= 512 tokens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Output: Entities + E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44" name="Google Shape;444;p40"/>
          <p:cNvSpPr/>
          <p:nvPr/>
        </p:nvSpPr>
        <p:spPr>
          <a:xfrm>
            <a:off x="2636950" y="4452875"/>
            <a:ext cx="1890300" cy="9273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IT Fusion (MARIA)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Input: HC + MedProc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Output: Risk JSON (ABCDE + Evidence)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445" name="Google Shape;445;p40"/>
          <p:cNvCxnSpPr>
            <a:stCxn id="442" idx="1"/>
            <a:endCxn id="444" idx="3"/>
          </p:cNvCxnSpPr>
          <p:nvPr/>
        </p:nvCxnSpPr>
        <p:spPr>
          <a:xfrm flipH="1">
            <a:off x="4527150" y="4052050"/>
            <a:ext cx="862800" cy="86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6" name="Google Shape;446;p40"/>
          <p:cNvCxnSpPr>
            <a:stCxn id="443" idx="1"/>
            <a:endCxn id="444" idx="3"/>
          </p:cNvCxnSpPr>
          <p:nvPr/>
        </p:nvCxnSpPr>
        <p:spPr>
          <a:xfrm rot="10800000">
            <a:off x="4527150" y="4916500"/>
            <a:ext cx="862800" cy="880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7" name="Google Shape;447;p40"/>
          <p:cNvCxnSpPr>
            <a:stCxn id="444" idx="1"/>
            <a:endCxn id="448" idx="3"/>
          </p:cNvCxnSpPr>
          <p:nvPr/>
        </p:nvCxnSpPr>
        <p:spPr>
          <a:xfrm flipH="1">
            <a:off x="1902850" y="4916525"/>
            <a:ext cx="734100" cy="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48" name="Google Shape;448;p40"/>
          <p:cNvSpPr/>
          <p:nvPr/>
        </p:nvSpPr>
        <p:spPr>
          <a:xfrm>
            <a:off x="328250" y="4390025"/>
            <a:ext cx="1574700" cy="1062600"/>
          </a:xfrm>
          <a:prstGeom prst="rect">
            <a:avLst/>
          </a:prstGeom>
          <a:solidFill>
            <a:srgbClr val="DD7E6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VQA (R-LLaVA)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Input: Question + ROI +JSON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Output: Answer + Evidence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49" name="Google Shape;449;p40"/>
          <p:cNvSpPr/>
          <p:nvPr/>
        </p:nvSpPr>
        <p:spPr>
          <a:xfrm>
            <a:off x="48300" y="1410225"/>
            <a:ext cx="8258700" cy="49263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41"/>
          <p:cNvSpPr txBox="1"/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3200"/>
              <a:buFont typeface="Trebuchet MS"/>
              <a:buNone/>
            </a:pPr>
            <a:r>
              <a:rPr lang="en-IN"/>
              <a:t xml:space="preserve">Experimental Setup &amp; Preprocessing   </a:t>
            </a:r>
            <a:endParaRPr/>
          </a:p>
        </p:txBody>
      </p:sp>
      <p:sp>
        <p:nvSpPr>
          <p:cNvPr id="455" name="Google Shape;455;p41"/>
          <p:cNvSpPr txBox="1"/>
          <p:nvPr>
            <p:ph idx="1" type="body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1460" lvl="0" marL="342900" rtl="0" algn="l">
              <a:spcBef>
                <a:spcPts val="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IN" sz="2000">
                <a:solidFill>
                  <a:srgbClr val="1E1E1E"/>
                </a:solidFill>
              </a:rPr>
              <a:t>Image size: 224×224 / 512×512.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IN" sz="2000">
                <a:solidFill>
                  <a:srgbClr val="1E1E1E"/>
                </a:solidFill>
              </a:rPr>
              <a:t>Text: ≤512 tokens.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IN" sz="2000">
                <a:solidFill>
                  <a:srgbClr val="1E1E1E"/>
                </a:solidFill>
              </a:rPr>
              <a:t>Hardware: NVIDIA GPU, PyTorch, FastAPI, React.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IN" sz="2000">
                <a:solidFill>
                  <a:srgbClr val="1E1E1E"/>
                </a:solidFill>
              </a:rPr>
              <a:t>Preprocessing: Hair removal, OCR for PDF, Tokenization.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42"/>
          <p:cNvSpPr txBox="1"/>
          <p:nvPr>
            <p:ph type="title"/>
          </p:nvPr>
        </p:nvSpPr>
        <p:spPr>
          <a:xfrm>
            <a:off x="526300" y="2850"/>
            <a:ext cx="6347700" cy="7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3200"/>
              <a:buFont typeface="Trebuchet MS"/>
              <a:buNone/>
            </a:pPr>
            <a:r>
              <a:rPr lang="en-IN"/>
              <a:t>Project Timeline</a:t>
            </a:r>
            <a:endParaRPr/>
          </a:p>
        </p:txBody>
      </p:sp>
      <p:grpSp>
        <p:nvGrpSpPr>
          <p:cNvPr id="461" name="Google Shape;461;p42"/>
          <p:cNvGrpSpPr/>
          <p:nvPr/>
        </p:nvGrpSpPr>
        <p:grpSpPr>
          <a:xfrm>
            <a:off x="6734227" y="695354"/>
            <a:ext cx="2162651" cy="6065954"/>
            <a:chOff x="6616600" y="1431525"/>
            <a:chExt cx="2043900" cy="2927725"/>
          </a:xfrm>
        </p:grpSpPr>
        <p:sp>
          <p:nvSpPr>
            <p:cNvPr id="462" name="Google Shape;462;p42"/>
            <p:cNvSpPr/>
            <p:nvPr/>
          </p:nvSpPr>
          <p:spPr>
            <a:xfrm>
              <a:off x="6616600" y="1431550"/>
              <a:ext cx="2043900" cy="2927700"/>
            </a:xfrm>
            <a:prstGeom prst="rect">
              <a:avLst/>
            </a:prstGeom>
            <a:noFill/>
            <a:ln cap="flat" cmpd="sng" w="9525">
              <a:solidFill>
                <a:srgbClr val="BE2F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" name="Google Shape;463;p42"/>
            <p:cNvSpPr/>
            <p:nvPr/>
          </p:nvSpPr>
          <p:spPr>
            <a:xfrm flipH="1" rot="10800000">
              <a:off x="6616600" y="1431525"/>
              <a:ext cx="2043900" cy="126900"/>
            </a:xfrm>
            <a:prstGeom prst="rect">
              <a:avLst/>
            </a:prstGeom>
            <a:solidFill>
              <a:srgbClr val="BE2F2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" name="Google Shape;464;p42"/>
            <p:cNvSpPr txBox="1"/>
            <p:nvPr/>
          </p:nvSpPr>
          <p:spPr>
            <a:xfrm>
              <a:off x="6616600" y="1558422"/>
              <a:ext cx="804600" cy="39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4000">
                  <a:solidFill>
                    <a:srgbClr val="BE2F22"/>
                  </a:solidFill>
                  <a:latin typeface="Roboto"/>
                  <a:ea typeface="Roboto"/>
                  <a:cs typeface="Roboto"/>
                  <a:sym typeface="Roboto"/>
                </a:rPr>
                <a:t>S4</a:t>
              </a:r>
              <a:endParaRPr b="1" sz="4000">
                <a:solidFill>
                  <a:srgbClr val="BE2F2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65" name="Google Shape;465;p42"/>
            <p:cNvSpPr txBox="1"/>
            <p:nvPr/>
          </p:nvSpPr>
          <p:spPr>
            <a:xfrm>
              <a:off x="6678075" y="1955328"/>
              <a:ext cx="469200" cy="17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700">
                  <a:solidFill>
                    <a:srgbClr val="BE2F22"/>
                  </a:solidFill>
                  <a:latin typeface="Roboto"/>
                  <a:ea typeface="Roboto"/>
                  <a:cs typeface="Roboto"/>
                  <a:sym typeface="Roboto"/>
                </a:rPr>
                <a:t>APRIL</a:t>
              </a:r>
              <a:endParaRPr sz="700">
                <a:solidFill>
                  <a:srgbClr val="BE2F2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66" name="Google Shape;466;p42"/>
            <p:cNvSpPr txBox="1"/>
            <p:nvPr/>
          </p:nvSpPr>
          <p:spPr>
            <a:xfrm>
              <a:off x="7441602" y="1968229"/>
              <a:ext cx="393900" cy="14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700">
                  <a:solidFill>
                    <a:srgbClr val="BE2F22"/>
                  </a:solidFill>
                  <a:latin typeface="Roboto"/>
                  <a:ea typeface="Roboto"/>
                  <a:cs typeface="Roboto"/>
                  <a:sym typeface="Roboto"/>
                </a:rPr>
                <a:t>MAY</a:t>
              </a:r>
              <a:endParaRPr sz="700">
                <a:solidFill>
                  <a:srgbClr val="BE2F2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67" name="Google Shape;467;p42"/>
            <p:cNvSpPr txBox="1"/>
            <p:nvPr/>
          </p:nvSpPr>
          <p:spPr>
            <a:xfrm>
              <a:off x="8129824" y="1955328"/>
              <a:ext cx="469200" cy="17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700">
                  <a:solidFill>
                    <a:srgbClr val="BE2F22"/>
                  </a:solidFill>
                  <a:latin typeface="Roboto"/>
                  <a:ea typeface="Roboto"/>
                  <a:cs typeface="Roboto"/>
                  <a:sym typeface="Roboto"/>
                </a:rPr>
                <a:t>JUNE</a:t>
              </a:r>
              <a:endParaRPr sz="700">
                <a:solidFill>
                  <a:srgbClr val="BE2F2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468" name="Google Shape;468;p42"/>
            <p:cNvCxnSpPr/>
            <p:nvPr/>
          </p:nvCxnSpPr>
          <p:spPr>
            <a:xfrm flipH="1" rot="10800000">
              <a:off x="7284600" y="1971500"/>
              <a:ext cx="8100" cy="2383800"/>
            </a:xfrm>
            <a:prstGeom prst="straightConnector1">
              <a:avLst/>
            </a:prstGeom>
            <a:noFill/>
            <a:ln cap="flat" cmpd="sng" w="9525">
              <a:solidFill>
                <a:srgbClr val="BE2F22"/>
              </a:solidFill>
              <a:prstDash val="dot"/>
              <a:round/>
              <a:headEnd len="sm" w="sm" type="none"/>
              <a:tailEnd len="sm" w="sm" type="none"/>
            </a:ln>
          </p:spPr>
        </p:cxnSp>
        <p:cxnSp>
          <p:nvCxnSpPr>
            <p:cNvPr id="469" name="Google Shape;469;p42"/>
            <p:cNvCxnSpPr/>
            <p:nvPr/>
          </p:nvCxnSpPr>
          <p:spPr>
            <a:xfrm flipH="1" rot="10800000">
              <a:off x="7967975" y="1961600"/>
              <a:ext cx="20100" cy="2393700"/>
            </a:xfrm>
            <a:prstGeom prst="straightConnector1">
              <a:avLst/>
            </a:prstGeom>
            <a:noFill/>
            <a:ln cap="flat" cmpd="sng" w="9525">
              <a:solidFill>
                <a:srgbClr val="BE2F22"/>
              </a:solidFill>
              <a:prstDash val="dot"/>
              <a:round/>
              <a:headEnd len="sm" w="sm" type="none"/>
              <a:tailEnd len="sm" w="sm" type="none"/>
            </a:ln>
          </p:spPr>
        </p:cxnSp>
      </p:grpSp>
      <p:grpSp>
        <p:nvGrpSpPr>
          <p:cNvPr id="470" name="Google Shape;470;p42"/>
          <p:cNvGrpSpPr/>
          <p:nvPr/>
        </p:nvGrpSpPr>
        <p:grpSpPr>
          <a:xfrm>
            <a:off x="4690250" y="695188"/>
            <a:ext cx="2043900" cy="6066119"/>
            <a:chOff x="4572350" y="1396282"/>
            <a:chExt cx="2043900" cy="2969221"/>
          </a:xfrm>
        </p:grpSpPr>
        <p:sp>
          <p:nvSpPr>
            <p:cNvPr id="471" name="Google Shape;471;p42"/>
            <p:cNvSpPr/>
            <p:nvPr/>
          </p:nvSpPr>
          <p:spPr>
            <a:xfrm>
              <a:off x="4572350" y="1396283"/>
              <a:ext cx="2043900" cy="2969100"/>
            </a:xfrm>
            <a:prstGeom prst="rect">
              <a:avLst/>
            </a:prstGeom>
            <a:noFill/>
            <a:ln cap="flat" cmpd="sng" w="9525">
              <a:solidFill>
                <a:srgbClr val="B02B2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" name="Google Shape;472;p42"/>
            <p:cNvSpPr/>
            <p:nvPr/>
          </p:nvSpPr>
          <p:spPr>
            <a:xfrm flipH="1" rot="10800000">
              <a:off x="4572350" y="1396282"/>
              <a:ext cx="2043900" cy="126900"/>
            </a:xfrm>
            <a:prstGeom prst="rect">
              <a:avLst/>
            </a:prstGeom>
            <a:solidFill>
              <a:srgbClr val="B02B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" name="Google Shape;473;p42"/>
            <p:cNvSpPr txBox="1"/>
            <p:nvPr/>
          </p:nvSpPr>
          <p:spPr>
            <a:xfrm>
              <a:off x="4572350" y="1558424"/>
              <a:ext cx="804600" cy="32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4000">
                  <a:solidFill>
                    <a:srgbClr val="B02B20"/>
                  </a:solidFill>
                  <a:latin typeface="Roboto"/>
                  <a:ea typeface="Roboto"/>
                  <a:cs typeface="Roboto"/>
                  <a:sym typeface="Roboto"/>
                </a:rPr>
                <a:t>S3</a:t>
              </a:r>
              <a:endParaRPr b="1" sz="4000">
                <a:solidFill>
                  <a:srgbClr val="B02B2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74" name="Google Shape;474;p42"/>
            <p:cNvSpPr txBox="1"/>
            <p:nvPr/>
          </p:nvSpPr>
          <p:spPr>
            <a:xfrm>
              <a:off x="4637852" y="1938713"/>
              <a:ext cx="465600" cy="17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700">
                  <a:solidFill>
                    <a:srgbClr val="B02B20"/>
                  </a:solidFill>
                  <a:latin typeface="Roboto"/>
                  <a:ea typeface="Roboto"/>
                  <a:cs typeface="Roboto"/>
                  <a:sym typeface="Roboto"/>
                </a:rPr>
                <a:t>JAN</a:t>
              </a:r>
              <a:endParaRPr sz="700">
                <a:solidFill>
                  <a:srgbClr val="B02B2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75" name="Google Shape;475;p42"/>
            <p:cNvSpPr txBox="1"/>
            <p:nvPr/>
          </p:nvSpPr>
          <p:spPr>
            <a:xfrm>
              <a:off x="5418200" y="1938712"/>
              <a:ext cx="352200" cy="17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700">
                  <a:solidFill>
                    <a:srgbClr val="B02B20"/>
                  </a:solidFill>
                  <a:latin typeface="Roboto"/>
                  <a:ea typeface="Roboto"/>
                  <a:cs typeface="Roboto"/>
                  <a:sym typeface="Roboto"/>
                </a:rPr>
                <a:t>FEB</a:t>
              </a:r>
              <a:endParaRPr sz="700">
                <a:solidFill>
                  <a:srgbClr val="B02B2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76" name="Google Shape;476;p42"/>
            <p:cNvSpPr txBox="1"/>
            <p:nvPr/>
          </p:nvSpPr>
          <p:spPr>
            <a:xfrm>
              <a:off x="5888700" y="1938713"/>
              <a:ext cx="609600" cy="17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700">
                  <a:solidFill>
                    <a:srgbClr val="B02B20"/>
                  </a:solidFill>
                  <a:latin typeface="Roboto"/>
                  <a:ea typeface="Roboto"/>
                  <a:cs typeface="Roboto"/>
                  <a:sym typeface="Roboto"/>
                </a:rPr>
                <a:t>MARCH</a:t>
              </a:r>
              <a:endParaRPr sz="700">
                <a:solidFill>
                  <a:srgbClr val="B02B2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477" name="Google Shape;477;p42"/>
            <p:cNvCxnSpPr/>
            <p:nvPr/>
          </p:nvCxnSpPr>
          <p:spPr>
            <a:xfrm rot="10800000">
              <a:off x="5273775" y="2002008"/>
              <a:ext cx="34200" cy="2332500"/>
            </a:xfrm>
            <a:prstGeom prst="straightConnector1">
              <a:avLst/>
            </a:prstGeom>
            <a:noFill/>
            <a:ln cap="flat" cmpd="sng" w="9525">
              <a:solidFill>
                <a:srgbClr val="B02B20"/>
              </a:solidFill>
              <a:prstDash val="dot"/>
              <a:round/>
              <a:headEnd len="sm" w="sm" type="none"/>
              <a:tailEnd len="sm" w="sm" type="none"/>
            </a:ln>
          </p:spPr>
        </p:cxnSp>
        <p:cxnSp>
          <p:nvCxnSpPr>
            <p:cNvPr id="478" name="Google Shape;478;p42"/>
            <p:cNvCxnSpPr/>
            <p:nvPr/>
          </p:nvCxnSpPr>
          <p:spPr>
            <a:xfrm rot="10800000">
              <a:off x="5843875" y="1916303"/>
              <a:ext cx="21900" cy="2449200"/>
            </a:xfrm>
            <a:prstGeom prst="straightConnector1">
              <a:avLst/>
            </a:prstGeom>
            <a:noFill/>
            <a:ln cap="flat" cmpd="sng" w="9525">
              <a:solidFill>
                <a:srgbClr val="B02B20"/>
              </a:solidFill>
              <a:prstDash val="dot"/>
              <a:round/>
              <a:headEnd len="sm" w="sm" type="none"/>
              <a:tailEnd len="sm" w="sm" type="none"/>
            </a:ln>
          </p:spPr>
        </p:cxnSp>
      </p:grpSp>
      <p:grpSp>
        <p:nvGrpSpPr>
          <p:cNvPr id="479" name="Google Shape;479;p42"/>
          <p:cNvGrpSpPr/>
          <p:nvPr/>
        </p:nvGrpSpPr>
        <p:grpSpPr>
          <a:xfrm>
            <a:off x="2646379" y="695236"/>
            <a:ext cx="2043903" cy="6066247"/>
            <a:chOff x="2528097" y="1431525"/>
            <a:chExt cx="2043903" cy="2927725"/>
          </a:xfrm>
        </p:grpSpPr>
        <p:sp>
          <p:nvSpPr>
            <p:cNvPr id="480" name="Google Shape;480;p42"/>
            <p:cNvSpPr/>
            <p:nvPr/>
          </p:nvSpPr>
          <p:spPr>
            <a:xfrm>
              <a:off x="2528100" y="1431550"/>
              <a:ext cx="2043900" cy="2927700"/>
            </a:xfrm>
            <a:prstGeom prst="rect">
              <a:avLst/>
            </a:prstGeom>
            <a:noFill/>
            <a:ln cap="flat" cmpd="sng" w="9525">
              <a:solidFill>
                <a:srgbClr val="A7291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" name="Google Shape;481;p42"/>
            <p:cNvSpPr/>
            <p:nvPr/>
          </p:nvSpPr>
          <p:spPr>
            <a:xfrm flipH="1" rot="10800000">
              <a:off x="2528100" y="1431525"/>
              <a:ext cx="2043900" cy="126900"/>
            </a:xfrm>
            <a:prstGeom prst="rect">
              <a:avLst/>
            </a:prstGeom>
            <a:solidFill>
              <a:srgbClr val="A7291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" name="Google Shape;482;p42"/>
            <p:cNvSpPr txBox="1"/>
            <p:nvPr/>
          </p:nvSpPr>
          <p:spPr>
            <a:xfrm>
              <a:off x="2528097" y="1558434"/>
              <a:ext cx="946500" cy="39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4000">
                  <a:solidFill>
                    <a:srgbClr val="A7291E"/>
                  </a:solidFill>
                  <a:latin typeface="Roboto"/>
                  <a:ea typeface="Roboto"/>
                  <a:cs typeface="Roboto"/>
                  <a:sym typeface="Roboto"/>
                </a:rPr>
                <a:t>S2</a:t>
              </a:r>
              <a:endParaRPr b="1" sz="4000">
                <a:solidFill>
                  <a:srgbClr val="A7291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83" name="Google Shape;483;p42"/>
            <p:cNvSpPr txBox="1"/>
            <p:nvPr/>
          </p:nvSpPr>
          <p:spPr>
            <a:xfrm>
              <a:off x="2646302" y="1955331"/>
              <a:ext cx="430800" cy="17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700">
                  <a:solidFill>
                    <a:srgbClr val="A7291E"/>
                  </a:solidFill>
                  <a:latin typeface="Roboto"/>
                  <a:ea typeface="Roboto"/>
                  <a:cs typeface="Roboto"/>
                  <a:sym typeface="Roboto"/>
                </a:rPr>
                <a:t>OCT</a:t>
              </a:r>
              <a:endParaRPr sz="700">
                <a:solidFill>
                  <a:srgbClr val="A7291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84" name="Google Shape;484;p42"/>
            <p:cNvSpPr txBox="1"/>
            <p:nvPr/>
          </p:nvSpPr>
          <p:spPr>
            <a:xfrm>
              <a:off x="3328564" y="1955331"/>
              <a:ext cx="430800" cy="17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700">
                  <a:solidFill>
                    <a:srgbClr val="A7291E"/>
                  </a:solidFill>
                  <a:latin typeface="Roboto"/>
                  <a:ea typeface="Roboto"/>
                  <a:cs typeface="Roboto"/>
                  <a:sym typeface="Roboto"/>
                </a:rPr>
                <a:t>NOV</a:t>
              </a:r>
              <a:endParaRPr sz="700">
                <a:solidFill>
                  <a:srgbClr val="A7291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85" name="Google Shape;485;p42"/>
            <p:cNvSpPr txBox="1"/>
            <p:nvPr/>
          </p:nvSpPr>
          <p:spPr>
            <a:xfrm>
              <a:off x="4082299" y="1955331"/>
              <a:ext cx="430800" cy="17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700">
                  <a:solidFill>
                    <a:srgbClr val="A7291E"/>
                  </a:solidFill>
                  <a:latin typeface="Roboto"/>
                  <a:ea typeface="Roboto"/>
                  <a:cs typeface="Roboto"/>
                  <a:sym typeface="Roboto"/>
                </a:rPr>
                <a:t>DEC</a:t>
              </a:r>
              <a:endParaRPr sz="700">
                <a:solidFill>
                  <a:srgbClr val="A7291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486" name="Google Shape;486;p42"/>
            <p:cNvCxnSpPr/>
            <p:nvPr/>
          </p:nvCxnSpPr>
          <p:spPr>
            <a:xfrm rot="10800000">
              <a:off x="3252738" y="1946600"/>
              <a:ext cx="600" cy="2408700"/>
            </a:xfrm>
            <a:prstGeom prst="straightConnector1">
              <a:avLst/>
            </a:prstGeom>
            <a:noFill/>
            <a:ln cap="flat" cmpd="sng" w="9525">
              <a:solidFill>
                <a:srgbClr val="A7291E"/>
              </a:solidFill>
              <a:prstDash val="dot"/>
              <a:round/>
              <a:headEnd len="sm" w="sm" type="none"/>
              <a:tailEnd len="sm" w="sm" type="none"/>
            </a:ln>
          </p:spPr>
        </p:cxnSp>
        <p:cxnSp>
          <p:nvCxnSpPr>
            <p:cNvPr id="487" name="Google Shape;487;p42"/>
            <p:cNvCxnSpPr/>
            <p:nvPr/>
          </p:nvCxnSpPr>
          <p:spPr>
            <a:xfrm flipH="1" rot="10800000">
              <a:off x="3878738" y="1886000"/>
              <a:ext cx="1800" cy="2469300"/>
            </a:xfrm>
            <a:prstGeom prst="straightConnector1">
              <a:avLst/>
            </a:prstGeom>
            <a:noFill/>
            <a:ln cap="flat" cmpd="sng" w="9525">
              <a:solidFill>
                <a:srgbClr val="A7291E"/>
              </a:solidFill>
              <a:prstDash val="dot"/>
              <a:round/>
              <a:headEnd len="sm" w="sm" type="none"/>
              <a:tailEnd len="sm" w="sm" type="none"/>
            </a:ln>
          </p:spPr>
        </p:cxnSp>
      </p:grpSp>
      <p:grpSp>
        <p:nvGrpSpPr>
          <p:cNvPr id="488" name="Google Shape;488;p42"/>
          <p:cNvGrpSpPr/>
          <p:nvPr/>
        </p:nvGrpSpPr>
        <p:grpSpPr>
          <a:xfrm>
            <a:off x="483651" y="695247"/>
            <a:ext cx="2162651" cy="6066220"/>
            <a:chOff x="3975900" y="1431525"/>
            <a:chExt cx="2043900" cy="2927712"/>
          </a:xfrm>
        </p:grpSpPr>
        <p:sp>
          <p:nvSpPr>
            <p:cNvPr id="489" name="Google Shape;489;p42"/>
            <p:cNvSpPr/>
            <p:nvPr/>
          </p:nvSpPr>
          <p:spPr>
            <a:xfrm>
              <a:off x="3975900" y="1431537"/>
              <a:ext cx="2043900" cy="2927700"/>
            </a:xfrm>
            <a:prstGeom prst="rect">
              <a:avLst/>
            </a:prstGeom>
            <a:noFill/>
            <a:ln cap="flat" cmpd="sng" w="9525">
              <a:solidFill>
                <a:srgbClr val="801F1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" name="Google Shape;490;p42"/>
            <p:cNvSpPr/>
            <p:nvPr/>
          </p:nvSpPr>
          <p:spPr>
            <a:xfrm flipH="1" rot="10800000">
              <a:off x="3975900" y="1431525"/>
              <a:ext cx="2043900" cy="126900"/>
            </a:xfrm>
            <a:prstGeom prst="rect">
              <a:avLst/>
            </a:prstGeom>
            <a:solidFill>
              <a:srgbClr val="801F1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" name="Google Shape;491;p42"/>
            <p:cNvSpPr txBox="1"/>
            <p:nvPr/>
          </p:nvSpPr>
          <p:spPr>
            <a:xfrm>
              <a:off x="3975900" y="1558422"/>
              <a:ext cx="804600" cy="35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4000">
                  <a:solidFill>
                    <a:srgbClr val="801F17"/>
                  </a:solidFill>
                  <a:latin typeface="Roboto"/>
                  <a:ea typeface="Roboto"/>
                  <a:cs typeface="Roboto"/>
                  <a:sym typeface="Roboto"/>
                </a:rPr>
                <a:t>S1</a:t>
              </a:r>
              <a:endParaRPr b="1" sz="4000">
                <a:solidFill>
                  <a:srgbClr val="801F17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92" name="Google Shape;492;p42"/>
            <p:cNvSpPr txBox="1"/>
            <p:nvPr/>
          </p:nvSpPr>
          <p:spPr>
            <a:xfrm>
              <a:off x="4072647" y="1948419"/>
              <a:ext cx="416700" cy="17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700">
                  <a:solidFill>
                    <a:srgbClr val="801F17"/>
                  </a:solidFill>
                  <a:latin typeface="Roboto"/>
                  <a:ea typeface="Roboto"/>
                  <a:cs typeface="Roboto"/>
                  <a:sym typeface="Roboto"/>
                </a:rPr>
                <a:t>JUNE</a:t>
              </a:r>
              <a:endParaRPr sz="700">
                <a:solidFill>
                  <a:srgbClr val="801F17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93" name="Google Shape;493;p42"/>
            <p:cNvSpPr txBox="1"/>
            <p:nvPr/>
          </p:nvSpPr>
          <p:spPr>
            <a:xfrm>
              <a:off x="4509068" y="1948419"/>
              <a:ext cx="416700" cy="17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700">
                  <a:solidFill>
                    <a:srgbClr val="801F17"/>
                  </a:solidFill>
                  <a:latin typeface="Roboto"/>
                  <a:ea typeface="Roboto"/>
                  <a:cs typeface="Roboto"/>
                  <a:sym typeface="Roboto"/>
                </a:rPr>
                <a:t>JULY</a:t>
              </a:r>
              <a:endParaRPr sz="700">
                <a:solidFill>
                  <a:srgbClr val="801F17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94" name="Google Shape;494;p42"/>
            <p:cNvSpPr txBox="1"/>
            <p:nvPr/>
          </p:nvSpPr>
          <p:spPr>
            <a:xfrm>
              <a:off x="5000088" y="1948419"/>
              <a:ext cx="377400" cy="17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700">
                  <a:solidFill>
                    <a:srgbClr val="801F17"/>
                  </a:solidFill>
                  <a:latin typeface="Roboto"/>
                  <a:ea typeface="Roboto"/>
                  <a:cs typeface="Roboto"/>
                  <a:sym typeface="Roboto"/>
                </a:rPr>
                <a:t>AUG</a:t>
              </a:r>
              <a:endParaRPr sz="700">
                <a:solidFill>
                  <a:srgbClr val="801F17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95" name="Google Shape;495;p42"/>
            <p:cNvSpPr txBox="1"/>
            <p:nvPr/>
          </p:nvSpPr>
          <p:spPr>
            <a:xfrm>
              <a:off x="5524046" y="1948419"/>
              <a:ext cx="416700" cy="17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700">
                  <a:solidFill>
                    <a:srgbClr val="801F17"/>
                  </a:solidFill>
                  <a:latin typeface="Roboto"/>
                  <a:ea typeface="Roboto"/>
                  <a:cs typeface="Roboto"/>
                  <a:sym typeface="Roboto"/>
                </a:rPr>
                <a:t>SEPT</a:t>
              </a:r>
              <a:endParaRPr sz="700">
                <a:solidFill>
                  <a:srgbClr val="801F17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496" name="Google Shape;496;p42"/>
            <p:cNvCxnSpPr/>
            <p:nvPr/>
          </p:nvCxnSpPr>
          <p:spPr>
            <a:xfrm flipH="1" rot="10800000">
              <a:off x="4489375" y="1936400"/>
              <a:ext cx="15300" cy="2418900"/>
            </a:xfrm>
            <a:prstGeom prst="straightConnector1">
              <a:avLst/>
            </a:prstGeom>
            <a:noFill/>
            <a:ln cap="flat" cmpd="sng" w="9525">
              <a:solidFill>
                <a:srgbClr val="801F17"/>
              </a:solidFill>
              <a:prstDash val="dot"/>
              <a:round/>
              <a:headEnd len="sm" w="sm" type="none"/>
              <a:tailEnd len="sm" w="sm" type="none"/>
            </a:ln>
          </p:spPr>
        </p:cxnSp>
        <p:cxnSp>
          <p:nvCxnSpPr>
            <p:cNvPr id="497" name="Google Shape;497;p42"/>
            <p:cNvCxnSpPr/>
            <p:nvPr/>
          </p:nvCxnSpPr>
          <p:spPr>
            <a:xfrm rot="10800000">
              <a:off x="4979387" y="1906100"/>
              <a:ext cx="20700" cy="2449200"/>
            </a:xfrm>
            <a:prstGeom prst="straightConnector1">
              <a:avLst/>
            </a:prstGeom>
            <a:noFill/>
            <a:ln cap="flat" cmpd="sng" w="9525">
              <a:solidFill>
                <a:srgbClr val="801F17"/>
              </a:solidFill>
              <a:prstDash val="dot"/>
              <a:round/>
              <a:headEnd len="sm" w="sm" type="none"/>
              <a:tailEnd len="sm" w="sm" type="none"/>
            </a:ln>
          </p:spPr>
        </p:cxnSp>
        <p:cxnSp>
          <p:nvCxnSpPr>
            <p:cNvPr id="498" name="Google Shape;498;p42"/>
            <p:cNvCxnSpPr/>
            <p:nvPr/>
          </p:nvCxnSpPr>
          <p:spPr>
            <a:xfrm rot="10800000">
              <a:off x="5508700" y="1850600"/>
              <a:ext cx="2100" cy="2504700"/>
            </a:xfrm>
            <a:prstGeom prst="straightConnector1">
              <a:avLst/>
            </a:prstGeom>
            <a:noFill/>
            <a:ln cap="flat" cmpd="sng" w="9525">
              <a:solidFill>
                <a:srgbClr val="801F17"/>
              </a:solidFill>
              <a:prstDash val="dot"/>
              <a:round/>
              <a:headEnd len="sm" w="sm" type="none"/>
              <a:tailEnd len="sm" w="sm" type="none"/>
            </a:ln>
          </p:spPr>
        </p:cxnSp>
      </p:grpSp>
      <p:sp>
        <p:nvSpPr>
          <p:cNvPr id="499" name="Google Shape;499;p42"/>
          <p:cNvSpPr/>
          <p:nvPr/>
        </p:nvSpPr>
        <p:spPr>
          <a:xfrm>
            <a:off x="483650" y="2057425"/>
            <a:ext cx="569100" cy="409800"/>
          </a:xfrm>
          <a:prstGeom prst="rect">
            <a:avLst/>
          </a:prstGeom>
          <a:solidFill>
            <a:srgbClr val="801F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Topic Selection</a:t>
            </a:r>
            <a:endParaRPr sz="7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0" name="Google Shape;500;p42"/>
          <p:cNvSpPr/>
          <p:nvPr/>
        </p:nvSpPr>
        <p:spPr>
          <a:xfrm>
            <a:off x="1052750" y="2575688"/>
            <a:ext cx="6438600" cy="207300"/>
          </a:xfrm>
          <a:prstGeom prst="rect">
            <a:avLst/>
          </a:prstGeom>
          <a:solidFill>
            <a:srgbClr val="801F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Literature Survey</a:t>
            </a:r>
            <a:endParaRPr sz="7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1" name="Google Shape;501;p42"/>
          <p:cNvSpPr/>
          <p:nvPr/>
        </p:nvSpPr>
        <p:spPr>
          <a:xfrm>
            <a:off x="3130975" y="3502738"/>
            <a:ext cx="645000" cy="207300"/>
          </a:xfrm>
          <a:prstGeom prst="rect">
            <a:avLst/>
          </a:prstGeom>
          <a:solidFill>
            <a:srgbClr val="801F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Stage 2: SLS</a:t>
            </a:r>
            <a:endParaRPr sz="7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2" name="Google Shape;502;p42"/>
          <p:cNvSpPr/>
          <p:nvPr/>
        </p:nvSpPr>
        <p:spPr>
          <a:xfrm>
            <a:off x="3238350" y="3769450"/>
            <a:ext cx="609600" cy="207300"/>
          </a:xfrm>
          <a:prstGeom prst="rect">
            <a:avLst/>
          </a:prstGeom>
          <a:solidFill>
            <a:srgbClr val="801F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Stage 3: SLRC</a:t>
            </a:r>
            <a:endParaRPr sz="7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3" name="Google Shape;503;p42"/>
          <p:cNvSpPr/>
          <p:nvPr/>
        </p:nvSpPr>
        <p:spPr>
          <a:xfrm>
            <a:off x="1052751" y="2905875"/>
            <a:ext cx="3563400" cy="207300"/>
          </a:xfrm>
          <a:prstGeom prst="rect">
            <a:avLst/>
          </a:prstGeom>
          <a:solidFill>
            <a:srgbClr val="801F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Dataset Collection</a:t>
            </a:r>
            <a:endParaRPr sz="7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4" name="Google Shape;504;p42"/>
          <p:cNvSpPr/>
          <p:nvPr/>
        </p:nvSpPr>
        <p:spPr>
          <a:xfrm>
            <a:off x="3979700" y="4016675"/>
            <a:ext cx="1896600" cy="207300"/>
          </a:xfrm>
          <a:prstGeom prst="rect">
            <a:avLst/>
          </a:prstGeom>
          <a:solidFill>
            <a:srgbClr val="801F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Stage 4: MedProc</a:t>
            </a:r>
            <a:endParaRPr sz="7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5" name="Google Shape;505;p42"/>
          <p:cNvSpPr/>
          <p:nvPr/>
        </p:nvSpPr>
        <p:spPr>
          <a:xfrm>
            <a:off x="3879063" y="4306463"/>
            <a:ext cx="1622400" cy="207300"/>
          </a:xfrm>
          <a:prstGeom prst="rect">
            <a:avLst/>
          </a:prstGeom>
          <a:solidFill>
            <a:srgbClr val="BE2F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Stage 5: HC</a:t>
            </a:r>
            <a:endParaRPr sz="7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6" name="Google Shape;506;p42"/>
          <p:cNvSpPr/>
          <p:nvPr/>
        </p:nvSpPr>
        <p:spPr>
          <a:xfrm>
            <a:off x="5090400" y="4596250"/>
            <a:ext cx="891900" cy="207300"/>
          </a:xfrm>
          <a:prstGeom prst="rect">
            <a:avLst/>
          </a:prstGeom>
          <a:solidFill>
            <a:srgbClr val="BE2F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Stage 6: IT Fusion</a:t>
            </a:r>
            <a:endParaRPr sz="7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7" name="Google Shape;507;p42"/>
          <p:cNvSpPr/>
          <p:nvPr/>
        </p:nvSpPr>
        <p:spPr>
          <a:xfrm>
            <a:off x="5982300" y="4902350"/>
            <a:ext cx="1049700" cy="207300"/>
          </a:xfrm>
          <a:prstGeom prst="rect">
            <a:avLst/>
          </a:prstGeom>
          <a:solidFill>
            <a:srgbClr val="BE2F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Stage 7: VQA</a:t>
            </a:r>
            <a:endParaRPr sz="7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8" name="Google Shape;508;p42"/>
          <p:cNvSpPr/>
          <p:nvPr/>
        </p:nvSpPr>
        <p:spPr>
          <a:xfrm>
            <a:off x="6175000" y="5172800"/>
            <a:ext cx="1237500" cy="207300"/>
          </a:xfrm>
          <a:prstGeom prst="rect">
            <a:avLst/>
          </a:prstGeom>
          <a:solidFill>
            <a:srgbClr val="BE2F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Integration</a:t>
            </a:r>
            <a:r>
              <a:rPr lang="en-IN" sz="7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 xml:space="preserve"> Testing</a:t>
            </a:r>
            <a:endParaRPr sz="7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9" name="Google Shape;509;p42"/>
          <p:cNvSpPr/>
          <p:nvPr/>
        </p:nvSpPr>
        <p:spPr>
          <a:xfrm>
            <a:off x="5982300" y="5479875"/>
            <a:ext cx="1445400" cy="207300"/>
          </a:xfrm>
          <a:prstGeom prst="rect">
            <a:avLst/>
          </a:prstGeom>
          <a:solidFill>
            <a:srgbClr val="BE2F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Frontend Development</a:t>
            </a:r>
            <a:endParaRPr sz="7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0" name="Google Shape;510;p42"/>
          <p:cNvSpPr/>
          <p:nvPr/>
        </p:nvSpPr>
        <p:spPr>
          <a:xfrm>
            <a:off x="5982300" y="5764625"/>
            <a:ext cx="1445400" cy="207300"/>
          </a:xfrm>
          <a:prstGeom prst="rect">
            <a:avLst/>
          </a:prstGeom>
          <a:solidFill>
            <a:srgbClr val="BE2F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Backend + Frontend Integration</a:t>
            </a:r>
            <a:endParaRPr sz="7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1" name="Google Shape;511;p42"/>
          <p:cNvSpPr/>
          <p:nvPr/>
        </p:nvSpPr>
        <p:spPr>
          <a:xfrm>
            <a:off x="6718900" y="6049375"/>
            <a:ext cx="693600" cy="207300"/>
          </a:xfrm>
          <a:prstGeom prst="rect">
            <a:avLst/>
          </a:prstGeom>
          <a:solidFill>
            <a:srgbClr val="BE2F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Final Evaluation</a:t>
            </a:r>
            <a:endParaRPr sz="7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2" name="Google Shape;512;p42"/>
          <p:cNvSpPr/>
          <p:nvPr/>
        </p:nvSpPr>
        <p:spPr>
          <a:xfrm>
            <a:off x="7804600" y="6541425"/>
            <a:ext cx="1092300" cy="207300"/>
          </a:xfrm>
          <a:prstGeom prst="rect">
            <a:avLst/>
          </a:prstGeom>
          <a:solidFill>
            <a:srgbClr val="BE2F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Thesis Defense</a:t>
            </a:r>
            <a:endParaRPr sz="7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3" name="Google Shape;513;p42"/>
          <p:cNvSpPr/>
          <p:nvPr/>
        </p:nvSpPr>
        <p:spPr>
          <a:xfrm>
            <a:off x="3082675" y="6334125"/>
            <a:ext cx="4559100" cy="207300"/>
          </a:xfrm>
          <a:prstGeom prst="rect">
            <a:avLst/>
          </a:prstGeom>
          <a:solidFill>
            <a:srgbClr val="BE2F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Thesis Writing</a:t>
            </a:r>
            <a:endParaRPr sz="7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4" name="Google Shape;514;p42"/>
          <p:cNvSpPr/>
          <p:nvPr/>
        </p:nvSpPr>
        <p:spPr>
          <a:xfrm>
            <a:off x="2646275" y="3236061"/>
            <a:ext cx="2043900" cy="207300"/>
          </a:xfrm>
          <a:prstGeom prst="rect">
            <a:avLst/>
          </a:prstGeom>
          <a:solidFill>
            <a:srgbClr val="801F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Stage 1: Preprocessing</a:t>
            </a:r>
            <a:endParaRPr sz="7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43"/>
          <p:cNvSpPr txBox="1"/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3200"/>
              <a:buFont typeface="Trebuchet MS"/>
              <a:buNone/>
            </a:pPr>
            <a:r>
              <a:rPr lang="en-IN"/>
              <a:t>Stagewise Results Summary</a:t>
            </a:r>
            <a:endParaRPr/>
          </a:p>
        </p:txBody>
      </p:sp>
      <p:sp>
        <p:nvSpPr>
          <p:cNvPr id="520" name="Google Shape;520;p43"/>
          <p:cNvSpPr txBox="1"/>
          <p:nvPr>
            <p:ph idx="1" type="body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1460" lvl="0" marL="342900" rtl="0" algn="l">
              <a:spcBef>
                <a:spcPts val="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IN" sz="2000">
                <a:solidFill>
                  <a:srgbClr val="1E1E1E"/>
                </a:solidFill>
              </a:rPr>
              <a:t>SLS (Segmentation): Dice 0.8506 | IoU 0.7718 | Boundary F1 0.8815 | Pixel Acc 93.7%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IN" sz="2000">
                <a:solidFill>
                  <a:srgbClr val="1E1E1E"/>
                </a:solidFill>
              </a:rPr>
              <a:t>HC (Classification): Binary Acc 94.7% | 7-Class Acc 89.2% | W-F1 0.8876 | AUC 0.9751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IN" sz="2000">
                <a:solidFill>
                  <a:srgbClr val="1E1E1E"/>
                </a:solidFill>
              </a:rPr>
              <a:t>MedProc (NLP): NER F1 0.87–0.89 | Relation AUC 0.8934 | ECE 0.0201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IN" sz="2000">
                <a:solidFill>
                  <a:srgbClr val="1E1E1E"/>
                </a:solidFill>
              </a:rPr>
              <a:t>IT Fusion (MARIA): Test Acc 66.3% | W-F1 0.675 | Macro F1 0.533 | Gate 0.511/0.489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IN" sz="2000">
                <a:solidFill>
                  <a:srgbClr val="1E1E1E"/>
                </a:solidFill>
              </a:rPr>
              <a:t>VQA (R-LLaVA + QLoRA): 415K QA pairs built; Stage I projector trained; Stage II LoRA training on DGX 3×A100</a:t>
            </a:r>
            <a:endParaRPr/>
          </a:p>
        </p:txBody>
      </p:sp>
      <p:sp>
        <p:nvSpPr>
          <p:cNvPr id="261" name="ImagePlaceholder26"/>
          <p:cNvSpPr>
            <a:spLocks noGrp="1"/>
          </p:cNvSpPr>
          <p:nvPr/>
        </p:nvSpPr>
        <p:spPr>
          <a:xfrm>
            <a:off x="7100000" y="1200000"/>
            <a:ext cx="1700000" cy="5200000"/>
          </a:xfrm>
          <a:prstGeom prst="rect">
            <a:avLst/>
          </a:prstGeom>
          <a:solidFill>
            <a:srgbClr val="F0F4F0"/>
          </a:solidFill>
          <a:ln w="19050">
            <a:solidFill>
              <a:srgbClr val="5B8A3C"/>
            </a:solidFill>
            <a:prstDash val="dash"/>
          </a:ln>
        </p:spPr>
        <p:txBody>
          <a:bodyPr anchor="ctr"/>
          <a:lstStyle/>
          <a:p>
            <a:pPr algn="ctr"/>
            <a:r>
              <a:rPr lang="en-US" sz="1100" b="0" i="1">
                <a:solidFill>
                  <a:srgbClr val="5B8A3C"/>
                </a:solidFill>
              </a:rPr>
              <a:t>Stage6QA: open/close/region/multichoice QA | TOKENS_PER_PATCH=584 | batch=4 | 7 epochs planned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47"/>
          <p:cNvSpPr txBox="1"/>
          <p:nvPr>
            <p:ph type="title"/>
          </p:nvPr>
        </p:nvSpPr>
        <p:spPr>
          <a:xfrm>
            <a:off x="609599" y="609600"/>
            <a:ext cx="6347700" cy="1320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SLS (Skin Lesion Segmentation) - Experimental Setup</a:t>
            </a:r>
            <a:endParaRPr/>
          </a:p>
        </p:txBody>
      </p:sp>
      <p:sp>
        <p:nvSpPr>
          <p:cNvPr id="551" name="Google Shape;551;p47"/>
          <p:cNvSpPr txBox="1"/>
          <p:nvPr>
            <p:ph idx="1" type="body"/>
          </p:nvPr>
        </p:nvSpPr>
        <p:spPr>
          <a:xfrm>
            <a:off x="609599" y="2160590"/>
            <a:ext cx="6347700" cy="3880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457200" rtl="0" algn="l">
              <a:spcBef>
                <a:spcPts val="1000"/>
              </a:spcBef>
              <a:spcAft>
                <a:spcPts val="0"/>
              </a:spcAft>
              <a:buSzPts val="1440"/>
              <a:buChar char="➢"/>
            </a:pPr>
            <a:r>
              <a:rPr lang="en-IN"/>
              <a:t>Two Segmentation Strategies  used for SLS stage:</a:t>
            </a:r>
            <a:endParaRPr/>
          </a:p>
          <a:p>
            <a:pPr indent="-320040" lvl="0" marL="457200" rtl="0" algn="l">
              <a:spcBef>
                <a:spcPts val="0"/>
              </a:spcBef>
              <a:spcAft>
                <a:spcPts val="0"/>
              </a:spcAft>
              <a:buSzPts val="1440"/>
              <a:buChar char="➢"/>
            </a:pPr>
            <a:r>
              <a:rPr b="1" lang="en-IN"/>
              <a:t>Mini Batch Training:</a:t>
            </a:r>
            <a:endParaRPr b="1"/>
          </a:p>
          <a:p>
            <a:pPr indent="-320040" lvl="1" marL="914400" rtl="0" algn="l">
              <a:spcBef>
                <a:spcPts val="0"/>
              </a:spcBef>
              <a:spcAft>
                <a:spcPts val="0"/>
              </a:spcAft>
              <a:buSzPts val="1440"/>
              <a:buChar char="○"/>
            </a:pPr>
            <a:r>
              <a:rPr lang="en-IN"/>
              <a:t>Batch SIze 2870 samples</a:t>
            </a:r>
            <a:endParaRPr/>
          </a:p>
          <a:p>
            <a:pPr indent="-320040" lvl="1" marL="914400" rtl="0" algn="l">
              <a:spcBef>
                <a:spcPts val="0"/>
              </a:spcBef>
              <a:spcAft>
                <a:spcPts val="0"/>
              </a:spcAft>
              <a:buSzPts val="1440"/>
              <a:buChar char="○"/>
            </a:pPr>
            <a:r>
              <a:rPr lang="en-IN"/>
              <a:t>Faster Convergence</a:t>
            </a:r>
            <a:endParaRPr/>
          </a:p>
          <a:p>
            <a:pPr indent="-320040" lvl="1" marL="914400" rtl="0" algn="l">
              <a:spcBef>
                <a:spcPts val="0"/>
              </a:spcBef>
              <a:spcAft>
                <a:spcPts val="0"/>
              </a:spcAft>
              <a:buSzPts val="1440"/>
              <a:buChar char="○"/>
            </a:pPr>
            <a:r>
              <a:rPr lang="en-IN"/>
              <a:t>Lower memory requirement</a:t>
            </a:r>
            <a:endParaRPr/>
          </a:p>
          <a:p>
            <a:pPr indent="-320040" lvl="0" marL="457200" rtl="0" algn="l">
              <a:spcBef>
                <a:spcPts val="0"/>
              </a:spcBef>
              <a:spcAft>
                <a:spcPts val="0"/>
              </a:spcAft>
              <a:buSzPts val="1440"/>
              <a:buChar char="➢"/>
            </a:pPr>
            <a:r>
              <a:rPr b="1" lang="en-IN"/>
              <a:t>Full Batch Training</a:t>
            </a:r>
            <a:endParaRPr b="1"/>
          </a:p>
          <a:p>
            <a:pPr indent="-320040" lvl="1" marL="914400" rtl="0" algn="l">
              <a:spcBef>
                <a:spcPts val="0"/>
              </a:spcBef>
              <a:spcAft>
                <a:spcPts val="0"/>
              </a:spcAft>
              <a:buSzPts val="1440"/>
              <a:buChar char="○"/>
            </a:pPr>
            <a:r>
              <a:rPr lang="en-IN"/>
              <a:t xml:space="preserve">Entire segmentation </a:t>
            </a:r>
            <a:r>
              <a:rPr lang="en-IN"/>
              <a:t>dataset</a:t>
            </a:r>
            <a:r>
              <a:rPr lang="en-IN"/>
              <a:t xml:space="preserve"> used per epoch</a:t>
            </a:r>
            <a:endParaRPr/>
          </a:p>
          <a:p>
            <a:pPr indent="-320040" lvl="1" marL="914400" rtl="0" algn="l">
              <a:spcBef>
                <a:spcPts val="0"/>
              </a:spcBef>
              <a:spcAft>
                <a:spcPts val="0"/>
              </a:spcAft>
              <a:buSzPts val="1440"/>
              <a:buChar char="○"/>
            </a:pPr>
            <a:r>
              <a:rPr lang="en-IN"/>
              <a:t>More stable gradient estimation</a:t>
            </a:r>
            <a:endParaRPr/>
          </a:p>
          <a:p>
            <a:pPr indent="-320040" lvl="1" marL="914400" rtl="0" algn="l">
              <a:spcBef>
                <a:spcPts val="0"/>
              </a:spcBef>
              <a:spcAft>
                <a:spcPts val="0"/>
              </a:spcAft>
              <a:buSzPts val="1440"/>
              <a:buChar char="○"/>
            </a:pPr>
            <a:r>
              <a:rPr lang="en-IN"/>
              <a:t>Higher computational cost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IN"/>
              <a:t>Purpose:</a:t>
            </a:r>
            <a:endParaRPr b="1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IN"/>
              <a:t xml:space="preserve">To analyze the trade-off between training </a:t>
            </a:r>
            <a:r>
              <a:rPr lang="en-IN"/>
              <a:t>efficiency</a:t>
            </a:r>
            <a:r>
              <a:rPr lang="en-IN"/>
              <a:t xml:space="preserve"> and segmentation quality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48"/>
          <p:cNvSpPr txBox="1"/>
          <p:nvPr>
            <p:ph type="title"/>
          </p:nvPr>
        </p:nvSpPr>
        <p:spPr>
          <a:xfrm>
            <a:off x="699249" y="228600"/>
            <a:ext cx="6347700" cy="1320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0556"/>
              <a:buFont typeface="Arial"/>
              <a:buNone/>
            </a:pPr>
            <a:r>
              <a:rPr lang="en-IN"/>
              <a:t>SLS (Skin Lesion Segmentation) - Qualitative Segmentation Results - Mini Batch Training</a:t>
            </a:r>
            <a:endParaRPr/>
          </a:p>
        </p:txBody>
      </p:sp>
      <p:sp>
        <p:nvSpPr>
          <p:cNvPr id="557" name="Google Shape;557;p48"/>
          <p:cNvSpPr txBox="1"/>
          <p:nvPr>
            <p:ph idx="1" type="body"/>
          </p:nvPr>
        </p:nvSpPr>
        <p:spPr>
          <a:xfrm>
            <a:off x="609599" y="2160590"/>
            <a:ext cx="6347700" cy="3880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20040" lvl="0" marL="457200" rtl="0" algn="l">
              <a:spcBef>
                <a:spcPts val="1000"/>
              </a:spcBef>
              <a:spcAft>
                <a:spcPts val="0"/>
              </a:spcAft>
              <a:buSzPts val="1440"/>
              <a:buChar char="➢"/>
            </a:pPr>
            <a:r>
              <a:rPr b="1" lang="en-IN"/>
              <a:t>Observations (Mini-Batch Model)</a:t>
            </a:r>
            <a:endParaRPr b="1"/>
          </a:p>
          <a:p>
            <a:pPr indent="-320040" lvl="1" marL="914400" rtl="0" algn="l">
              <a:spcBef>
                <a:spcPts val="0"/>
              </a:spcBef>
              <a:spcAft>
                <a:spcPts val="0"/>
              </a:spcAft>
              <a:buSzPts val="1440"/>
              <a:buChar char="○"/>
            </a:pPr>
            <a:r>
              <a:rPr lang="en-IN"/>
              <a:t xml:space="preserve">Lesion regions are </a:t>
            </a:r>
            <a:r>
              <a:rPr b="1" lang="en-IN"/>
              <a:t>partially detected</a:t>
            </a:r>
            <a:endParaRPr b="1"/>
          </a:p>
          <a:p>
            <a:pPr indent="-320040" lvl="1" marL="914400" rtl="0" algn="l">
              <a:spcBef>
                <a:spcPts val="0"/>
              </a:spcBef>
              <a:spcAft>
                <a:spcPts val="0"/>
              </a:spcAft>
              <a:buSzPts val="1440"/>
              <a:buChar char="○"/>
            </a:pPr>
            <a:r>
              <a:rPr lang="en-IN"/>
              <a:t>Predictions appear</a:t>
            </a:r>
            <a:endParaRPr/>
          </a:p>
          <a:p>
            <a:pPr indent="-320040" lvl="2" marL="1371600" rtl="0" algn="l">
              <a:spcBef>
                <a:spcPts val="0"/>
              </a:spcBef>
              <a:spcAft>
                <a:spcPts val="0"/>
              </a:spcAft>
              <a:buSzPts val="1440"/>
              <a:buChar char="■"/>
            </a:pPr>
            <a:r>
              <a:rPr lang="en-IN"/>
              <a:t>Blurred</a:t>
            </a:r>
            <a:endParaRPr/>
          </a:p>
          <a:p>
            <a:pPr indent="-320040" lvl="2" marL="1371600" rtl="0" algn="l">
              <a:spcBef>
                <a:spcPts val="0"/>
              </a:spcBef>
              <a:spcAft>
                <a:spcPts val="0"/>
              </a:spcAft>
              <a:buSzPts val="1440"/>
              <a:buChar char="■"/>
            </a:pPr>
            <a:r>
              <a:rPr lang="en-IN"/>
              <a:t>Fragmented</a:t>
            </a:r>
            <a:endParaRPr/>
          </a:p>
          <a:p>
            <a:pPr indent="-320040" lvl="2" marL="1371600" rtl="0" algn="l">
              <a:spcBef>
                <a:spcPts val="0"/>
              </a:spcBef>
              <a:spcAft>
                <a:spcPts val="0"/>
              </a:spcAft>
              <a:buSzPts val="1440"/>
              <a:buChar char="■"/>
            </a:pPr>
            <a:r>
              <a:rPr lang="en-IN"/>
              <a:t>Inconsistent at lesion boundaries</a:t>
            </a:r>
            <a:endParaRPr/>
          </a:p>
          <a:p>
            <a:pPr indent="-320040" lvl="1" marL="914400" rtl="0" algn="l">
              <a:spcBef>
                <a:spcPts val="0"/>
              </a:spcBef>
              <a:spcAft>
                <a:spcPts val="0"/>
              </a:spcAft>
              <a:buSzPts val="1440"/>
              <a:buChar char="○"/>
            </a:pPr>
            <a:r>
              <a:rPr lang="en-IN"/>
              <a:t>Small or low-contrast lesions are often:</a:t>
            </a:r>
            <a:endParaRPr/>
          </a:p>
          <a:p>
            <a:pPr indent="-320040" lvl="2" marL="1371600" rtl="0" algn="l">
              <a:spcBef>
                <a:spcPts val="0"/>
              </a:spcBef>
              <a:spcAft>
                <a:spcPts val="0"/>
              </a:spcAft>
              <a:buSzPts val="1440"/>
              <a:buChar char="■"/>
            </a:pPr>
            <a:r>
              <a:rPr lang="en-IN"/>
              <a:t>Missed</a:t>
            </a:r>
            <a:endParaRPr/>
          </a:p>
          <a:p>
            <a:pPr indent="-320040" lvl="2" marL="1371600" rtl="0" algn="l">
              <a:spcBef>
                <a:spcPts val="0"/>
              </a:spcBef>
              <a:spcAft>
                <a:spcPts val="0"/>
              </a:spcAft>
              <a:buSzPts val="1440"/>
              <a:buChar char="■"/>
            </a:pPr>
            <a:r>
              <a:rPr lang="en-IN"/>
              <a:t>Under-segmented</a:t>
            </a:r>
            <a:endParaRPr/>
          </a:p>
          <a:p>
            <a:pPr indent="-320040" lvl="0" marL="457200" rtl="0" algn="l">
              <a:spcBef>
                <a:spcPts val="0"/>
              </a:spcBef>
              <a:spcAft>
                <a:spcPts val="0"/>
              </a:spcAft>
              <a:buSzPts val="1440"/>
              <a:buChar char="➢"/>
            </a:pPr>
            <a:r>
              <a:rPr b="1" lang="en-IN"/>
              <a:t>Quantitative Indicators</a:t>
            </a:r>
            <a:endParaRPr/>
          </a:p>
          <a:p>
            <a:pPr indent="-320040" lvl="1" marL="914400" rtl="0" algn="l">
              <a:spcBef>
                <a:spcPts val="0"/>
              </a:spcBef>
              <a:spcAft>
                <a:spcPts val="0"/>
              </a:spcAft>
              <a:buSzPts val="1440"/>
              <a:buChar char="○"/>
            </a:pPr>
            <a:r>
              <a:rPr b="1" lang="en-IN"/>
              <a:t>Low Dice and Jaccard scores</a:t>
            </a:r>
            <a:r>
              <a:rPr lang="en-IN"/>
              <a:t xml:space="preserve"> for several samples</a:t>
            </a:r>
            <a:endParaRPr/>
          </a:p>
          <a:p>
            <a:pPr indent="-320040" lvl="1" marL="914400" rtl="0" algn="l">
              <a:spcBef>
                <a:spcPts val="0"/>
              </a:spcBef>
              <a:spcAft>
                <a:spcPts val="0"/>
              </a:spcAft>
              <a:buSzPts val="1440"/>
              <a:buChar char="○"/>
            </a:pPr>
            <a:r>
              <a:rPr lang="en-IN"/>
              <a:t xml:space="preserve">High variance </a:t>
            </a:r>
            <a:r>
              <a:rPr lang="en-IN"/>
              <a:t>across different images</a:t>
            </a:r>
            <a:endParaRPr/>
          </a:p>
          <a:p>
            <a:pPr indent="-320040" lvl="0" marL="457200" rtl="0" algn="l">
              <a:spcBef>
                <a:spcPts val="0"/>
              </a:spcBef>
              <a:spcAft>
                <a:spcPts val="0"/>
              </a:spcAft>
              <a:buSzPts val="1440"/>
              <a:buChar char="➢"/>
            </a:pPr>
            <a:r>
              <a:rPr b="1" lang="en-IN"/>
              <a:t>Interpretation</a:t>
            </a:r>
            <a:endParaRPr b="1"/>
          </a:p>
          <a:p>
            <a:pPr indent="-320040" lvl="1" marL="914400" rtl="0" algn="l">
              <a:spcBef>
                <a:spcPts val="0"/>
              </a:spcBef>
              <a:spcAft>
                <a:spcPts val="0"/>
              </a:spcAft>
              <a:buSzPts val="1440"/>
              <a:buChar char="○"/>
            </a:pPr>
            <a:r>
              <a:rPr lang="en-IN"/>
              <a:t xml:space="preserve">Mini-batch training captures </a:t>
            </a:r>
            <a:r>
              <a:rPr b="1" lang="en-IN"/>
              <a:t>coarse lesion features</a:t>
            </a:r>
            <a:endParaRPr b="1"/>
          </a:p>
          <a:p>
            <a:pPr indent="-320040" lvl="1" marL="914400" rtl="0" algn="l">
              <a:spcBef>
                <a:spcPts val="0"/>
              </a:spcBef>
              <a:spcAft>
                <a:spcPts val="0"/>
              </a:spcAft>
              <a:buSzPts val="1440"/>
              <a:buChar char="○"/>
            </a:pPr>
            <a:r>
              <a:rPr lang="en-IN"/>
              <a:t>Insufficient exposure to full data distribution leads to:</a:t>
            </a:r>
            <a:endParaRPr/>
          </a:p>
          <a:p>
            <a:pPr indent="-320040" lvl="2" marL="1371600" rtl="0" algn="l">
              <a:spcBef>
                <a:spcPts val="0"/>
              </a:spcBef>
              <a:spcAft>
                <a:spcPts val="0"/>
              </a:spcAft>
              <a:buSzPts val="1440"/>
              <a:buChar char="■"/>
            </a:pPr>
            <a:r>
              <a:rPr lang="en-IN"/>
              <a:t>Poor generalization</a:t>
            </a:r>
            <a:endParaRPr/>
          </a:p>
          <a:p>
            <a:pPr indent="-320040" lvl="2" marL="1371600" rtl="0" algn="l">
              <a:spcBef>
                <a:spcPts val="0"/>
              </a:spcBef>
              <a:spcAft>
                <a:spcPts val="0"/>
              </a:spcAft>
              <a:buSzPts val="1440"/>
              <a:buChar char="■"/>
            </a:pPr>
            <a:r>
              <a:rPr lang="en-IN"/>
              <a:t>Weak boundary learning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49"/>
          <p:cNvSpPr txBox="1"/>
          <p:nvPr>
            <p:ph type="title"/>
          </p:nvPr>
        </p:nvSpPr>
        <p:spPr>
          <a:xfrm>
            <a:off x="699250" y="228600"/>
            <a:ext cx="6347700" cy="1561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0556"/>
              <a:buFont typeface="Arial"/>
              <a:buNone/>
            </a:pPr>
            <a:r>
              <a:rPr lang="en-IN"/>
              <a:t>SLS (Skin Lesion Segmentation) - Qualitative Segmentation Results - Full Dataset Training</a:t>
            </a:r>
            <a:endParaRPr/>
          </a:p>
        </p:txBody>
      </p:sp>
      <p:sp>
        <p:nvSpPr>
          <p:cNvPr id="563" name="Google Shape;563;p49"/>
          <p:cNvSpPr txBox="1"/>
          <p:nvPr>
            <p:ph idx="1" type="body"/>
          </p:nvPr>
        </p:nvSpPr>
        <p:spPr>
          <a:xfrm>
            <a:off x="609599" y="2160590"/>
            <a:ext cx="6347700" cy="3880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20040" lvl="0" marL="457200" rtl="0" algn="l">
              <a:spcBef>
                <a:spcPts val="1000"/>
              </a:spcBef>
              <a:spcAft>
                <a:spcPts val="0"/>
              </a:spcAft>
              <a:buSzPts val="1440"/>
              <a:buChar char="➢"/>
            </a:pPr>
            <a:r>
              <a:rPr b="1" lang="en-IN"/>
              <a:t>Observations (Full Dataset Model)</a:t>
            </a:r>
            <a:endParaRPr b="1"/>
          </a:p>
          <a:p>
            <a:pPr indent="-320040" lvl="1" marL="914400" rtl="0" algn="l">
              <a:spcBef>
                <a:spcPts val="0"/>
              </a:spcBef>
              <a:spcAft>
                <a:spcPts val="0"/>
              </a:spcAft>
              <a:buSzPts val="1440"/>
              <a:buChar char="○"/>
            </a:pPr>
            <a:r>
              <a:rPr lang="en-IN"/>
              <a:t>Lesion shapes are:</a:t>
            </a:r>
            <a:endParaRPr/>
          </a:p>
          <a:p>
            <a:pPr indent="-320040" lvl="2" marL="1371600" rtl="0" algn="l">
              <a:spcBef>
                <a:spcPts val="0"/>
              </a:spcBef>
              <a:spcAft>
                <a:spcPts val="0"/>
              </a:spcAft>
              <a:buSzPts val="1440"/>
              <a:buChar char="■"/>
            </a:pPr>
            <a:r>
              <a:rPr lang="en-IN"/>
              <a:t>More complete</a:t>
            </a:r>
            <a:endParaRPr/>
          </a:p>
          <a:p>
            <a:pPr indent="-320040" lvl="2" marL="1371600" rtl="0" algn="l">
              <a:spcBef>
                <a:spcPts val="0"/>
              </a:spcBef>
              <a:spcAft>
                <a:spcPts val="0"/>
              </a:spcAft>
              <a:buSzPts val="1440"/>
              <a:buChar char="■"/>
            </a:pPr>
            <a:r>
              <a:rPr lang="en-IN"/>
              <a:t>Better aligned with ground truth</a:t>
            </a:r>
            <a:endParaRPr/>
          </a:p>
          <a:p>
            <a:pPr indent="-320040" lvl="1" marL="914400" rtl="0" algn="l">
              <a:spcBef>
                <a:spcPts val="0"/>
              </a:spcBef>
              <a:spcAft>
                <a:spcPts val="0"/>
              </a:spcAft>
              <a:buSzPts val="1440"/>
              <a:buChar char="○"/>
            </a:pPr>
            <a:r>
              <a:rPr lang="en-IN"/>
              <a:t>Clear improvement in:</a:t>
            </a:r>
            <a:endParaRPr/>
          </a:p>
          <a:p>
            <a:pPr indent="-320040" lvl="2" marL="1371600" rtl="0" algn="l">
              <a:spcBef>
                <a:spcPts val="0"/>
              </a:spcBef>
              <a:spcAft>
                <a:spcPts val="0"/>
              </a:spcAft>
              <a:buSzPts val="1440"/>
              <a:buChar char="■"/>
            </a:pPr>
            <a:r>
              <a:rPr lang="en-IN"/>
              <a:t>Boundary precision</a:t>
            </a:r>
            <a:endParaRPr/>
          </a:p>
          <a:p>
            <a:pPr indent="-320040" lvl="2" marL="1371600" rtl="0" algn="l">
              <a:spcBef>
                <a:spcPts val="0"/>
              </a:spcBef>
              <a:spcAft>
                <a:spcPts val="0"/>
              </a:spcAft>
              <a:buSzPts val="1440"/>
              <a:buChar char="■"/>
            </a:pPr>
            <a:r>
              <a:rPr lang="en-IN"/>
              <a:t>Shape consistency</a:t>
            </a:r>
            <a:endParaRPr/>
          </a:p>
          <a:p>
            <a:pPr indent="-320040" lvl="1" marL="914400" rtl="0" algn="l">
              <a:spcBef>
                <a:spcPts val="0"/>
              </a:spcBef>
              <a:spcAft>
                <a:spcPts val="0"/>
              </a:spcAft>
              <a:buSzPts val="1440"/>
              <a:buChar char="○"/>
            </a:pPr>
            <a:r>
              <a:rPr lang="en-IN"/>
              <a:t>Large and irregular lesions are segmented irregularly</a:t>
            </a:r>
            <a:endParaRPr/>
          </a:p>
          <a:p>
            <a:pPr indent="-320040" lvl="0" marL="457200" rtl="0" algn="l">
              <a:spcBef>
                <a:spcPts val="0"/>
              </a:spcBef>
              <a:spcAft>
                <a:spcPts val="0"/>
              </a:spcAft>
              <a:buSzPts val="1440"/>
              <a:buChar char="➢"/>
            </a:pPr>
            <a:r>
              <a:rPr b="1" lang="en-IN"/>
              <a:t>Quantitative Indicators</a:t>
            </a:r>
            <a:endParaRPr/>
          </a:p>
          <a:p>
            <a:pPr indent="-320040" lvl="1" marL="914400" rtl="0" algn="l">
              <a:spcBef>
                <a:spcPts val="0"/>
              </a:spcBef>
              <a:spcAft>
                <a:spcPts val="0"/>
              </a:spcAft>
              <a:buSzPts val="1440"/>
              <a:buChar char="○"/>
            </a:pPr>
            <a:r>
              <a:rPr b="1" lang="en-IN"/>
              <a:t>Significantly Higher</a:t>
            </a:r>
            <a:r>
              <a:rPr b="1" lang="en-IN"/>
              <a:t xml:space="preserve"> Dice and Jaccard scores</a:t>
            </a:r>
            <a:endParaRPr/>
          </a:p>
          <a:p>
            <a:pPr indent="-320040" lvl="1" marL="914400" rtl="0" algn="l">
              <a:spcBef>
                <a:spcPts val="0"/>
              </a:spcBef>
              <a:spcAft>
                <a:spcPts val="0"/>
              </a:spcAft>
              <a:buSzPts val="1440"/>
              <a:buChar char="○"/>
            </a:pPr>
            <a:r>
              <a:rPr lang="en-IN"/>
              <a:t xml:space="preserve">More consistent predictions </a:t>
            </a:r>
            <a:r>
              <a:rPr lang="en-IN"/>
              <a:t>across</a:t>
            </a:r>
            <a:r>
              <a:rPr lang="en-IN"/>
              <a:t xml:space="preserve"> samples</a:t>
            </a:r>
            <a:endParaRPr/>
          </a:p>
          <a:p>
            <a:pPr indent="-320040" lvl="0" marL="457200" rtl="0" algn="l">
              <a:spcBef>
                <a:spcPts val="0"/>
              </a:spcBef>
              <a:spcAft>
                <a:spcPts val="0"/>
              </a:spcAft>
              <a:buSzPts val="1440"/>
              <a:buChar char="➢"/>
            </a:pPr>
            <a:r>
              <a:rPr b="1" lang="en-IN"/>
              <a:t>Interpretation</a:t>
            </a:r>
            <a:endParaRPr b="1"/>
          </a:p>
          <a:p>
            <a:pPr indent="-320040" lvl="1" marL="914400" rtl="0" algn="l">
              <a:spcBef>
                <a:spcPts val="0"/>
              </a:spcBef>
              <a:spcAft>
                <a:spcPts val="0"/>
              </a:spcAft>
              <a:buSzPts val="1440"/>
              <a:buChar char="○"/>
            </a:pPr>
            <a:r>
              <a:rPr lang="en-IN"/>
              <a:t xml:space="preserve">Full dataset </a:t>
            </a:r>
            <a:r>
              <a:rPr lang="en-IN"/>
              <a:t>training enables:</a:t>
            </a:r>
            <a:endParaRPr/>
          </a:p>
          <a:p>
            <a:pPr indent="-320040" lvl="2" marL="1371600" rtl="0" algn="l">
              <a:spcBef>
                <a:spcPts val="0"/>
              </a:spcBef>
              <a:spcAft>
                <a:spcPts val="0"/>
              </a:spcAft>
              <a:buSzPts val="1440"/>
              <a:buChar char="■"/>
            </a:pPr>
            <a:r>
              <a:rPr lang="en-IN"/>
              <a:t xml:space="preserve">Better feature learning </a:t>
            </a:r>
            <a:endParaRPr/>
          </a:p>
          <a:p>
            <a:pPr indent="-320040" lvl="2" marL="1371600" rtl="0" algn="l">
              <a:spcBef>
                <a:spcPts val="0"/>
              </a:spcBef>
              <a:spcAft>
                <a:spcPts val="0"/>
              </a:spcAft>
              <a:buSzPts val="1440"/>
              <a:buChar char="■"/>
            </a:pPr>
            <a:r>
              <a:rPr lang="en-IN"/>
              <a:t>Stable gradient update</a:t>
            </a:r>
            <a:endParaRPr/>
          </a:p>
          <a:p>
            <a:pPr indent="-320040" lvl="2" marL="1371600" rtl="0" algn="l">
              <a:spcBef>
                <a:spcPts val="0"/>
              </a:spcBef>
              <a:spcAft>
                <a:spcPts val="0"/>
              </a:spcAft>
              <a:buSzPts val="1440"/>
              <a:buChar char="■"/>
            </a:pPr>
            <a:r>
              <a:rPr lang="en-IN"/>
              <a:t>Improved lesion boundary detection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50"/>
          <p:cNvSpPr txBox="1"/>
          <p:nvPr>
            <p:ph type="title"/>
          </p:nvPr>
        </p:nvSpPr>
        <p:spPr>
          <a:xfrm>
            <a:off x="609599" y="609600"/>
            <a:ext cx="6347700" cy="1320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SLS - Training vs Validation Loss Analysis</a:t>
            </a:r>
            <a:endParaRPr/>
          </a:p>
        </p:txBody>
      </p:sp>
      <p:sp>
        <p:nvSpPr>
          <p:cNvPr id="569" name="Google Shape;569;p50"/>
          <p:cNvSpPr txBox="1"/>
          <p:nvPr>
            <p:ph idx="1" type="body"/>
          </p:nvPr>
        </p:nvSpPr>
        <p:spPr>
          <a:xfrm>
            <a:off x="609599" y="2160590"/>
            <a:ext cx="6347700" cy="3880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457200" rtl="0" algn="l">
              <a:spcBef>
                <a:spcPts val="1000"/>
              </a:spcBef>
              <a:spcAft>
                <a:spcPts val="0"/>
              </a:spcAft>
              <a:buSzPts val="1440"/>
              <a:buChar char="➢"/>
            </a:pPr>
            <a:r>
              <a:rPr b="1" lang="en-IN"/>
              <a:t>Mini-Batch Training</a:t>
            </a:r>
            <a:endParaRPr b="1"/>
          </a:p>
          <a:p>
            <a:pPr indent="-320040" lvl="1" marL="914400" rtl="0" algn="l">
              <a:spcBef>
                <a:spcPts val="0"/>
              </a:spcBef>
              <a:spcAft>
                <a:spcPts val="0"/>
              </a:spcAft>
              <a:buSzPts val="1440"/>
              <a:buChar char="○"/>
            </a:pPr>
            <a:r>
              <a:rPr lang="en-IN"/>
              <a:t>Faster initial loss reduction</a:t>
            </a:r>
            <a:endParaRPr/>
          </a:p>
          <a:p>
            <a:pPr indent="-320040" lvl="1" marL="914400" rtl="0" algn="l">
              <a:spcBef>
                <a:spcPts val="0"/>
              </a:spcBef>
              <a:spcAft>
                <a:spcPts val="0"/>
              </a:spcAft>
              <a:buSzPts val="1440"/>
              <a:buChar char="○"/>
            </a:pPr>
            <a:r>
              <a:rPr lang="en-IN"/>
              <a:t>Validation loss fluctuates</a:t>
            </a:r>
            <a:endParaRPr/>
          </a:p>
          <a:p>
            <a:pPr indent="-320040" lvl="1" marL="914400" rtl="0" algn="l">
              <a:spcBef>
                <a:spcPts val="0"/>
              </a:spcBef>
              <a:spcAft>
                <a:spcPts val="0"/>
              </a:spcAft>
              <a:buSzPts val="1440"/>
              <a:buChar char="○"/>
            </a:pPr>
            <a:r>
              <a:rPr lang="en-IN"/>
              <a:t xml:space="preserve">Indicated </a:t>
            </a:r>
            <a:r>
              <a:rPr b="1" lang="en-IN"/>
              <a:t>unstable generalization</a:t>
            </a:r>
            <a:endParaRPr b="1"/>
          </a:p>
          <a:p>
            <a:pPr indent="-320040" lvl="0" marL="457200" rtl="0" algn="l">
              <a:spcBef>
                <a:spcPts val="0"/>
              </a:spcBef>
              <a:spcAft>
                <a:spcPts val="0"/>
              </a:spcAft>
              <a:buSzPts val="1440"/>
              <a:buChar char="➢"/>
            </a:pPr>
            <a:r>
              <a:rPr b="1" lang="en-IN"/>
              <a:t>Full Dataset Training</a:t>
            </a:r>
            <a:endParaRPr b="1"/>
          </a:p>
          <a:p>
            <a:pPr indent="-320040" lvl="1" marL="914400" rtl="0" algn="l">
              <a:spcBef>
                <a:spcPts val="0"/>
              </a:spcBef>
              <a:spcAft>
                <a:spcPts val="0"/>
              </a:spcAft>
              <a:buSzPts val="1440"/>
              <a:buChar char="○"/>
            </a:pPr>
            <a:r>
              <a:rPr lang="en-IN"/>
              <a:t>Smoother loss curves</a:t>
            </a:r>
            <a:endParaRPr/>
          </a:p>
          <a:p>
            <a:pPr indent="-320040" lvl="1" marL="914400" rtl="0" algn="l">
              <a:spcBef>
                <a:spcPts val="0"/>
              </a:spcBef>
              <a:spcAft>
                <a:spcPts val="0"/>
              </a:spcAft>
              <a:buSzPts val="1440"/>
              <a:buChar char="○"/>
            </a:pPr>
            <a:r>
              <a:rPr lang="en-IN"/>
              <a:t>Validation loss closely follows training loss</a:t>
            </a:r>
            <a:endParaRPr/>
          </a:p>
          <a:p>
            <a:pPr indent="-320040" lvl="1" marL="914400" rtl="0" algn="l">
              <a:spcBef>
                <a:spcPts val="0"/>
              </a:spcBef>
              <a:spcAft>
                <a:spcPts val="0"/>
              </a:spcAft>
              <a:buSzPts val="1440"/>
              <a:buChar char="○"/>
            </a:pPr>
            <a:r>
              <a:rPr lang="en-IN"/>
              <a:t xml:space="preserve">Indicates </a:t>
            </a:r>
            <a:r>
              <a:rPr b="1" lang="en-IN"/>
              <a:t>better convergence and robustness</a:t>
            </a:r>
            <a:endParaRPr b="1"/>
          </a:p>
          <a:p>
            <a:pPr indent="-320040" lvl="0" marL="457200" rtl="0" algn="l">
              <a:spcBef>
                <a:spcPts val="0"/>
              </a:spcBef>
              <a:spcAft>
                <a:spcPts val="0"/>
              </a:spcAft>
              <a:buSzPts val="1440"/>
              <a:buChar char="➢"/>
            </a:pPr>
            <a:r>
              <a:rPr b="1" lang="en-IN"/>
              <a:t>Key Insight:</a:t>
            </a:r>
            <a:endParaRPr b="1"/>
          </a:p>
          <a:p>
            <a:pPr indent="-320040" lvl="1" marL="914400" rtl="0" algn="l">
              <a:spcBef>
                <a:spcPts val="0"/>
              </a:spcBef>
              <a:spcAft>
                <a:spcPts val="0"/>
              </a:spcAft>
              <a:buSzPts val="1440"/>
              <a:buChar char="○"/>
            </a:pPr>
            <a:r>
              <a:rPr lang="en-IN"/>
              <a:t>Lower training loss alone does not guarantee better segmentation quality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51"/>
          <p:cNvSpPr txBox="1"/>
          <p:nvPr>
            <p:ph type="title"/>
          </p:nvPr>
        </p:nvSpPr>
        <p:spPr>
          <a:xfrm>
            <a:off x="609599" y="609600"/>
            <a:ext cx="6347700" cy="1320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SLS - Dice and Jaccard Progression Analysis</a:t>
            </a:r>
            <a:endParaRPr/>
          </a:p>
        </p:txBody>
      </p:sp>
      <p:sp>
        <p:nvSpPr>
          <p:cNvPr id="575" name="Google Shape;575;p51"/>
          <p:cNvSpPr txBox="1"/>
          <p:nvPr>
            <p:ph idx="1" type="body"/>
          </p:nvPr>
        </p:nvSpPr>
        <p:spPr>
          <a:xfrm>
            <a:off x="609599" y="2160590"/>
            <a:ext cx="6347700" cy="3880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➢"/>
            </a:pPr>
            <a:r>
              <a:rPr b="1" lang="en-IN"/>
              <a:t>Mini-Batch Training</a:t>
            </a:r>
            <a:endParaRPr b="1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IN" sz="1800"/>
              <a:t>Dice and Jaccard Scores:</a:t>
            </a:r>
            <a:endParaRPr sz="1800"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-IN" sz="1800"/>
              <a:t>Improve initially</a:t>
            </a:r>
            <a:endParaRPr sz="1800"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-IN" sz="1800"/>
              <a:t>Saturate early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IN" sz="1800"/>
              <a:t xml:space="preserve">Performance plateaus due to limited </a:t>
            </a:r>
            <a:r>
              <a:rPr lang="en-IN" sz="1800"/>
              <a:t>data</a:t>
            </a:r>
            <a:r>
              <a:rPr lang="en-IN" sz="1800"/>
              <a:t xml:space="preserve"> diversity per update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➢"/>
            </a:pPr>
            <a:r>
              <a:rPr b="1" lang="en-IN"/>
              <a:t>Full Dataset Training</a:t>
            </a:r>
            <a:endParaRPr b="1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IN" sz="1800"/>
              <a:t>Gradual and consistent improvement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IN" sz="1800"/>
              <a:t>Higher final Dice and Jaccard values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IN" sz="1800"/>
              <a:t>Better alignment with clinical ground truth</a:t>
            </a:r>
            <a:endParaRPr sz="18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52"/>
          <p:cNvSpPr txBox="1"/>
          <p:nvPr>
            <p:ph type="title"/>
          </p:nvPr>
        </p:nvSpPr>
        <p:spPr>
          <a:xfrm>
            <a:off x="609600" y="609600"/>
            <a:ext cx="6347700" cy="1320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HC - Main Class Classification Results</a:t>
            </a:r>
            <a:endParaRPr/>
          </a:p>
        </p:txBody>
      </p:sp>
      <p:sp>
        <p:nvSpPr>
          <p:cNvPr id="581" name="Google Shape;581;p52"/>
          <p:cNvSpPr txBox="1"/>
          <p:nvPr>
            <p:ph idx="1" type="body"/>
          </p:nvPr>
        </p:nvSpPr>
        <p:spPr>
          <a:xfrm>
            <a:off x="609600" y="2160589"/>
            <a:ext cx="3088200" cy="3880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82" name="Google Shape;582;p52" title="main_class_confusion_matri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7700" y="2160600"/>
            <a:ext cx="7694676" cy="4606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53"/>
          <p:cNvSpPr txBox="1"/>
          <p:nvPr>
            <p:ph type="title"/>
          </p:nvPr>
        </p:nvSpPr>
        <p:spPr>
          <a:xfrm>
            <a:off x="609600" y="0"/>
            <a:ext cx="8100600" cy="816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HC - Subclass Classification Results</a:t>
            </a:r>
            <a:endParaRPr/>
          </a:p>
        </p:txBody>
      </p:sp>
      <p:sp>
        <p:nvSpPr>
          <p:cNvPr id="588" name="Google Shape;588;p53"/>
          <p:cNvSpPr txBox="1"/>
          <p:nvPr>
            <p:ph idx="1" type="body"/>
          </p:nvPr>
        </p:nvSpPr>
        <p:spPr>
          <a:xfrm>
            <a:off x="609599" y="2160590"/>
            <a:ext cx="6347700" cy="3880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89" name="Google Shape;589;p53" title="sub_class_confusion_matri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8275" y="910825"/>
            <a:ext cx="8100699" cy="5762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54"/>
          <p:cNvSpPr txBox="1"/>
          <p:nvPr>
            <p:ph type="title"/>
          </p:nvPr>
        </p:nvSpPr>
        <p:spPr>
          <a:xfrm>
            <a:off x="609600" y="0"/>
            <a:ext cx="7610700" cy="627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HC - Training and Validation Performance</a:t>
            </a:r>
            <a:endParaRPr/>
          </a:p>
        </p:txBody>
      </p:sp>
      <p:sp>
        <p:nvSpPr>
          <p:cNvPr id="595" name="Google Shape;595;p54"/>
          <p:cNvSpPr txBox="1"/>
          <p:nvPr>
            <p:ph idx="1" type="body"/>
          </p:nvPr>
        </p:nvSpPr>
        <p:spPr>
          <a:xfrm>
            <a:off x="609599" y="2160590"/>
            <a:ext cx="6347700" cy="3880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96" name="Google Shape;596;p54" title="training_history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816350"/>
            <a:ext cx="9144003" cy="5807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p66"/>
          <p:cNvSpPr txBox="1"/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3200"/>
              <a:buFont typeface="Trebuchet MS"/>
              <a:buNone/>
            </a:pPr>
            <a:r>
              <a:rPr lang="en-IN"/>
              <a:t xml:space="preserve">Conclusion &amp; Limitations </a:t>
            </a:r>
            <a:endParaRPr/>
          </a:p>
        </p:txBody>
      </p:sp>
      <p:sp>
        <p:nvSpPr>
          <p:cNvPr id="673" name="Google Shape;673;p66"/>
          <p:cNvSpPr txBox="1"/>
          <p:nvPr>
            <p:ph idx="1" type="body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1460" lvl="0" marL="342900" rtl="0" algn="l">
              <a:spcBef>
                <a:spcPts val="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IN"/>
              <a:t>Contributions: Six validated stages (SLS, SLRC, HC, MedProc, IT Fusion, VQA dataset); multimodal ABCDE explainability; 415K Stage6QA pairs built; R-LLaVA Stage I+II training underway on DGX 3×A100.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IN"/>
              <a:t>Advantages: End-to-end modular pipeline; Dice 0.8506 (SLS), 94.7% binary accuracy (HC), W-F1 0.675 (IT Fusion); structured Clinical JSON with evidence trail.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IN"/>
              <a:t>Limitations: VQA Stage II LoRA fine-tuning in progress (expected ~20h on 3×A100); Stage 6 uses 2-modality FusionClassifier; skin-tone bias in Derm1M; English-only NLP; stateless inference without long-term memory.</a:t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67"/>
          <p:cNvSpPr txBox="1"/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3200"/>
              <a:buFont typeface="Trebuchet MS"/>
              <a:buNone/>
            </a:pPr>
            <a:r>
              <a:rPr lang="en-IN"/>
              <a:t xml:space="preserve">Comparative Analysis  </a:t>
            </a:r>
            <a:endParaRPr/>
          </a:p>
        </p:txBody>
      </p:sp>
      <p:sp>
        <p:nvSpPr>
          <p:cNvPr id="679" name="Google Shape;679;p67"/>
          <p:cNvSpPr txBox="1"/>
          <p:nvPr>
            <p:ph idx="1" type="body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1460" lvl="0" marL="342900" rtl="0" algn="l">
              <a:spcBef>
                <a:spcPts val="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IN" sz="2000">
                <a:solidFill>
                  <a:srgbClr val="1E1E1E"/>
                </a:solidFill>
              </a:rPr>
              <a:t>NutriDermAI is the first pipeline to compute clinically-calibrated ABCDE scores via principled image-text fusion across five validated stages.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IN" sz="2000">
                <a:solidFill>
                  <a:srgbClr val="1E1E1E"/>
                </a:solidFill>
              </a:rPr>
              <a:t>SLS: IoU 0.7718, Dice 0.8506 — competitive with recent ARC-UNet, ESC-UNet, ScaleFusionNet variants.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IN" sz="2000">
                <a:solidFill>
                  <a:srgbClr val="1E1E1E"/>
                </a:solidFill>
              </a:rPr>
              <a:t>HC: 94.7% binary accuracy, AUC 0.9751 — EfficientFormerV2-S2 outperforms standard ResNet/ViT baselines on HAM10000+ISIC.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IN" sz="2000">
                <a:solidFill>
                  <a:srgbClr val="1E1E1E"/>
                </a:solidFill>
              </a:rPr>
              <a:t>IT Fusion: MARIA masked cross-attention achieves balanced modality gate (0.511/0.489) — avoids single-modality collapse seen in naive fusion baselines.</a:t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68"/>
          <p:cNvSpPr txBox="1"/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3200"/>
              <a:buFont typeface="Trebuchet MS"/>
              <a:buNone/>
            </a:pPr>
            <a:r>
              <a:rPr lang="en-IN"/>
              <a:t xml:space="preserve">Future </a:t>
            </a:r>
            <a:r>
              <a:rPr b="1" lang="en-IN" sz="3200">
                <a:solidFill>
                  <a:srgbClr val="003366"/>
                </a:solidFill>
              </a:rPr>
              <a:t xml:space="preserve">Work  </a:t>
            </a:r>
            <a:endParaRPr/>
          </a:p>
        </p:txBody>
      </p:sp>
      <p:sp>
        <p:nvSpPr>
          <p:cNvPr id="685" name="Google Shape;685;p68"/>
          <p:cNvSpPr txBox="1"/>
          <p:nvPr>
            <p:ph idx="1" type="body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1460" lvl="0" marL="342900" rtl="0" algn="l">
              <a:spcBef>
                <a:spcPts val="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IN" sz="2000">
                <a:solidFill>
                  <a:srgbClr val="1E1E1E"/>
                </a:solidFill>
              </a:rPr>
              <a:t>Complete VQA fine-tuning (R-LLaVA + QLoRA on Stage6QA dataset); benchmark BLEU-4, ROUGE-L, METEOR, Exact Match.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IN" sz="2000">
                <a:solidFill>
                  <a:srgbClr val="1E1E1E"/>
                </a:solidFill>
              </a:rPr>
              <a:t>Prospective clinical validation of ABCDE scores vs. board-certified dermatologist consensus; fairness audits across skin tones (Fitzpatrick I–VI).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IN" sz="2000">
                <a:solidFill>
                  <a:srgbClr val="1E1E1E"/>
                </a:solidFill>
              </a:rPr>
              <a:t>Deploy 5-modality MARIA orchestrator; benchmark Stage 6 live-pipeline latency; extend to multilingual clinical NLP; real-time mobile deployment.</a:t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69"/>
          <p:cNvSpPr txBox="1"/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3200"/>
              <a:buFont typeface="Trebuchet MS"/>
              <a:buNone/>
            </a:pPr>
            <a:r>
              <a:rPr lang="en-IN"/>
              <a:t xml:space="preserve">Demo (Prototype)  </a:t>
            </a:r>
            <a:endParaRPr/>
          </a:p>
        </p:txBody>
      </p:sp>
      <p:sp>
        <p:nvSpPr>
          <p:cNvPr id="691" name="Google Shape;691;p69"/>
          <p:cNvSpPr txBox="1"/>
          <p:nvPr>
            <p:ph idx="1" type="body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1460" lvl="0" marL="342900" rtl="0" algn="l">
              <a:spcBef>
                <a:spcPts val="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IN" sz="2000">
                <a:solidFill>
                  <a:srgbClr val="1E1E1E"/>
                </a:solidFill>
              </a:rPr>
              <a:t>Frontend chatbot allows patient to upload image &amp; report.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IN" sz="2000">
                <a:solidFill>
                  <a:srgbClr val="1E1E1E"/>
                </a:solidFill>
              </a:rPr>
              <a:t>Patient can ask a question.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IN" sz="2000">
                <a:solidFill>
                  <a:srgbClr val="1E1E1E"/>
                </a:solidFill>
              </a:rPr>
              <a:t>System outputs ABCDE values + risk assessment + answer.</a:t>
            </a:r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70"/>
          <p:cNvSpPr txBox="1"/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3200"/>
              <a:buFont typeface="Trebuchet MS"/>
              <a:buNone/>
            </a:pPr>
            <a:r>
              <a:rPr lang="en-IN"/>
              <a:t>References</a:t>
            </a:r>
            <a:endParaRPr/>
          </a:p>
        </p:txBody>
      </p:sp>
      <p:sp>
        <p:nvSpPr>
          <p:cNvPr id="697" name="Google Shape;697;p70"/>
          <p:cNvSpPr txBox="1"/>
          <p:nvPr>
            <p:ph idx="1" type="body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440"/>
              <a:buChar char="►"/>
            </a:pPr>
            <a:r>
              <a:rPr lang="en-IN" u="sng">
                <a:solidFill>
                  <a:schemeClr val="hlink"/>
                </a:solidFill>
                <a:hlinkClick r:id="rId3"/>
              </a:rPr>
              <a:t>[1] Soni et al., “ARCUNet: enhancing skin lesion segmentation,” Scientific Reports 15, 9262 (2025).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IN" u="sng">
                <a:solidFill>
                  <a:schemeClr val="hlink"/>
                </a:solidFill>
                <a:hlinkClick r:id="rId4"/>
              </a:rPr>
              <a:t>[2] Li et al., “EfficientFormerV2: Rethinking Vision Transformers for MobileNet Size,” arXiv:2212.08059 (2023).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IN" u="sng">
                <a:solidFill>
                  <a:schemeClr val="hlink"/>
                </a:solidFill>
                <a:hlinkClick r:id="rId5"/>
              </a:rPr>
              <a:t>[3] Chen et al., “R-LLaVA: Improving Med-VQA with Visual Region of Interest,” arXiv:2410.20327, ICLR Workshop (2025).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IN" u="sng">
                <a:solidFill>
                  <a:schemeClr val="hlink"/>
                </a:solidFill>
                <a:hlinkClick r:id="rId6"/>
              </a:rPr>
              <a:t>[4] Lee et al., “BioBERT: a pre-trained biomedical language representation model,” Bioinformatics 36(4), 1234–1240 (2020).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IN" u="sng">
                <a:solidFill>
                  <a:schemeClr val="hlink"/>
                </a:solidFill>
                <a:hlinkClick r:id="rId7"/>
              </a:rPr>
              <a:t>[5] Alsentzer et al., “Publicly Available Clinical BERT Embeddings,” arXiv:1904.03323 (2019). [Bio_ClinicalBERT]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IN" u="sng">
                <a:solidFill>
                  <a:schemeClr val="hlink"/>
                </a:solidFill>
                <a:hlinkClick r:id="rId8"/>
              </a:rPr>
              <a:t>[6] Caruso et al., “MARIA: A Multimodal Transformer Model for Incomplete Healthcare Data,” Computers in Biology and Medicine, 196, 110843 (2025).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IN" u="sng">
                <a:solidFill>
                  <a:schemeClr val="hlink"/>
                </a:solidFill>
                <a:hlinkClick r:id="rId9"/>
              </a:rPr>
              <a:t>[7] Yan et al., “Derm1M: A Million-scale Vision-Language Dataset for Dermatology,” arXiv:2503.14911 (2025).</a:t>
            </a:r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72"/>
          <p:cNvSpPr txBox="1"/>
          <p:nvPr>
            <p:ph type="title"/>
          </p:nvPr>
        </p:nvSpPr>
        <p:spPr>
          <a:xfrm>
            <a:off x="609599" y="552211"/>
            <a:ext cx="6347700" cy="13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3200"/>
              <a:buFont typeface="Trebuchet MS"/>
              <a:buNone/>
            </a:pPr>
            <a:r>
              <a:rPr lang="en-IN"/>
              <a:t xml:space="preserve">Thank You / Q&amp;A  </a:t>
            </a:r>
            <a:endParaRPr/>
          </a:p>
        </p:txBody>
      </p:sp>
      <p:sp>
        <p:nvSpPr>
          <p:cNvPr id="709" name="Google Shape;709;p72"/>
          <p:cNvSpPr txBox="1"/>
          <p:nvPr>
            <p:ph idx="1" type="body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1460" lvl="0" marL="342900" rtl="0" algn="l">
              <a:spcBef>
                <a:spcPts val="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IN" sz="2000">
                <a:solidFill>
                  <a:srgbClr val="1E1E1E"/>
                </a:solidFill>
              </a:rPr>
              <a:t>Thank You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IN" sz="2000">
                <a:solidFill>
                  <a:srgbClr val="1E1E1E"/>
                </a:solidFill>
              </a:rPr>
              <a:t>Questions?</a:t>
            </a:r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>
            <a:spLocks noGrp="1"/>
          </p:cNvSpPr>
          <p:nvPr>
            <p:ph type="title"/>
          </p:nvPr>
        </p:nvSpPr>
        <p:spPr>
          <a:xfrm>
            <a:off x="609600" y="132400"/>
            <a:ext cx="7924800" cy="66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r>
              <a:rPr lang="en-IN" b="0"/>
              <a:t>IT Fusion – Results Summary</a:t>
            </a:r>
          </a:p>
        </p:txBody>
      </p:sp>
      <p:sp>
        <p:nvSpPr>
          <p:cNvPr id="3" name="MetricsText"/>
          <p:cNvSpPr txBox="1"/>
          <p:nvPr/>
        </p:nvSpPr>
        <p:spPr>
          <a:xfrm>
            <a:off x="457200" y="900000"/>
            <a:ext cx="3900000" cy="5600000"/>
          </a:xfrm>
          <a:prstGeom prst="rect">
            <a:avLst/>
          </a:prstGeom>
          <a:noFill/>
          <a:ln>
            <a:noFill/>
          </a:ln>
        </p:spPr>
        <p:txBody>
          <a:bodyPr wrap="square" lIns="91425" rIns="91425" tIns="45700" bIns="45700">
            <a:normAutofit/>
          </a:bodyPr>
          <a:lstStyle/>
          <a:p>
            <a:pPr>
              <a:spcBef>
                <a:spcPts val="0"/>
              </a:spcBef>
            </a:pPr>
            <a:r>
              <a:rPr lang="en-US" sz="1800" b="1">
                <a:solidFill>
                  <a:srgbClr val="5B8A3C"/>
                </a:solidFill>
              </a:rPr>
              <a:t>Model: FusionClassifier (MARIA cross-attn)</a:t>
            </a:r>
          </a:p>
          <a:p>
            <a:r>
              <a:rPr lang="en-US" sz="1500" b="0"/>
              <a:t>Parameters: 2,558,261</a:t>
            </a:r>
          </a:p>
          <a:p>
            <a:r>
              <a:rPr lang="en-US" sz="1500" b="0"/>
              <a:t>Classes: 51 (top-50 + Other)</a:t>
            </a:r>
          </a:p>
          <a:p>
            <a:r>
              <a:rPr lang="en-US" sz="1500" b="0"/>
              <a:t>Epochs trained: 30  |  Best epoch: 20</a:t>
            </a:r>
          </a:p>
          <a:p>
            <a:r>
              <a:rPr lang="en-US" sz="1500" b="0"/>
              <a:t> </a:t>
            </a:r>
          </a:p>
          <a:p>
            <a:pPr>
              <a:spcBef>
                <a:spcPts val="200"/>
              </a:spcBef>
            </a:pPr>
            <a:r>
              <a:rPr lang="en-US" sz="1800" b="1">
                <a:solidFill>
                  <a:srgbClr val="5B8A3C"/>
                </a:solidFill>
              </a:rPr>
              <a:t>Test Performance</a:t>
            </a:r>
          </a:p>
          <a:p>
            <a:r>
              <a:rPr lang="en-US" sz="1600" b="1">
                <a:solidFill>
                  <a:srgbClr val="1A5E20"/>
                </a:solidFill>
              </a:rPr>
              <a:t>Test Accuracy:   66.3%</a:t>
            </a:r>
          </a:p>
          <a:p>
            <a:r>
              <a:rPr lang="en-US" sz="1600" b="1">
                <a:solidFill>
                  <a:srgbClr val="1A5E20"/>
                </a:solidFill>
              </a:rPr>
              <a:t>Best Val Acc:    66.8%</a:t>
            </a:r>
          </a:p>
          <a:p>
            <a:r>
              <a:rPr lang="en-US" sz="1500" b="0"/>
              <a:t>Test Loss:         2.7962</a:t>
            </a:r>
          </a:p>
          <a:p>
            <a:r>
              <a:rPr lang="en-US" sz="1500" b="0"/>
              <a:t>Weighted F1:     0.6750</a:t>
            </a:r>
          </a:p>
          <a:p>
            <a:r>
              <a:rPr lang="en-US" sz="1500" b="0"/>
              <a:t>Macro F1:          0.5329</a:t>
            </a:r>
          </a:p>
          <a:p>
            <a:r>
              <a:rPr lang="en-US" sz="1500" b="0"/>
              <a:t> </a:t>
            </a:r>
          </a:p>
          <a:p>
            <a:pPr>
              <a:spcBef>
                <a:spcPts val="200"/>
              </a:spcBef>
            </a:pPr>
            <a:r>
              <a:rPr lang="en-US" sz="1800" b="1">
                <a:solidFill>
                  <a:srgbClr val="5B8A3C"/>
                </a:solidFill>
              </a:rPr>
              <a:t>Modality Gate Weights</a:t>
            </a:r>
          </a:p>
          <a:p>
            <a:r>
              <a:rPr lang="en-US" sz="1500" b="0"/>
              <a:t>Mean Image gate:  0.511 ± 0.184</a:t>
            </a:r>
          </a:p>
          <a:p>
            <a:r>
              <a:rPr lang="en-US" sz="1500" b="0"/>
              <a:t>Mean Text gate:    0.489 ± 0.184</a:t>
            </a:r>
          </a:p>
          <a:p>
            <a:r>
              <a:rPr lang="en-US" sz="1500" b="0"/>
              <a:t>Train-Val Gap:     2.2%  (no overfitting)</a:t>
            </a:r>
          </a:p>
          <a:p>
            <a:r>
              <a:rPr lang="en-US" sz="1500" b="0"/>
              <a:t> </a:t>
            </a:r>
          </a:p>
          <a:p>
            <a:pPr>
              <a:spcBef>
                <a:spcPts val="200"/>
              </a:spcBef>
            </a:pPr>
            <a:r>
              <a:rPr lang="en-US" sz="1800" b="1">
                <a:solidFill>
                  <a:srgbClr val="5B8A3C"/>
                </a:solidFill>
              </a:rPr>
              <a:t>Dataset</a:t>
            </a:r>
          </a:p>
          <a:p>
            <a:r>
              <a:rPr lang="en-US" sz="1500" b="0"/>
              <a:t>Total samples: 415,508</a:t>
            </a:r>
          </a:p>
          <a:p>
            <a:r>
              <a:rPr lang="en-US" sz="1500" b="0"/>
              <a:t>Derm1M: 413,210  |  MM-Skin: 11,090</a:t>
            </a:r>
          </a:p>
          <a:p>
            <a:r>
              <a:rPr lang="en-US" sz="1500" b="0"/>
              <a:t>PAD-UFES-20: 2,298</a:t>
            </a:r>
          </a:p>
        </p:txBody>
      </p:sp>
      <p:pic>
        <p:nvPicPr>
          <p:cNvPr id="4" name="ClassReport" descr="Classification Repor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00000" y="900000"/>
            <a:ext cx="4400000" cy="550000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>
            <a:spLocks noGrp="1"/>
          </p:cNvSpPr>
          <p:nvPr>
            <p:ph type="title"/>
          </p:nvPr>
        </p:nvSpPr>
        <p:spPr>
          <a:xfrm>
            <a:off x="609600" y="132400"/>
            <a:ext cx="7924800" cy="66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r>
              <a:rPr lang="en-IN" b="0"/>
              <a:t>IT Fusion – Training Curves</a:t>
            </a:r>
          </a:p>
        </p:txBody>
      </p:sp>
      <p:pic>
        <p:nvPicPr>
          <p:cNvPr id="3" name="TrainingCurves" descr="Training and Validation Loss, Accuracy, Overfitting Monito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900000"/>
            <a:ext cx="8686800" cy="3900000"/>
          </a:xfrm>
          <a:prstGeom prst="rect">
            <a:avLst/>
          </a:prstGeom>
        </p:spPr>
      </p:pic>
      <p:sp>
        <p:nvSpPr>
          <p:cNvPr id="4" name="Observations"/>
          <p:cNvSpPr txBox="1"/>
          <p:nvPr/>
        </p:nvSpPr>
        <p:spPr>
          <a:xfrm>
            <a:off x="228600" y="4900000"/>
            <a:ext cx="8686800" cy="1700000"/>
          </a:xfrm>
          <a:prstGeom prst="rect">
            <a:avLst/>
          </a:prstGeom>
          <a:noFill/>
          <a:ln>
            <a:noFill/>
          </a:ln>
        </p:spPr>
        <p:txBody>
          <a:bodyPr wrap="square" lIns="91425" rIns="91425" tIns="45700" bIns="45700">
            <a:normAutofit/>
          </a:bodyPr>
          <a:lstStyle/>
          <a:p>
            <a:r>
              <a:rPr lang="en-US" sz="1500" b="1">
                <a:solidFill>
                  <a:srgbClr val="5B8A3C"/>
                </a:solidFill>
              </a:rPr>
              <a:t>Key Observations:</a:t>
            </a:r>
          </a:p>
          <a:p>
            <a:r>
              <a:rPr lang="en-US" sz="1400" b="0"/>
              <a:t>►  Loss converges smoothly — both train and val loss decrease consistently over 30 epochs.</a:t>
            </a:r>
          </a:p>
          <a:p>
            <a:r>
              <a:rPr lang="en-US" sz="1400" b="0"/>
              <a:t>►  Best val accuracy 66.8% reached at epoch 20; model saved at checkpoint.</a:t>
            </a:r>
          </a:p>
          <a:p>
            <a:r>
              <a:rPr lang="en-US" sz="1400" b="0"/>
              <a:t>►  Train-Val gap stays below 5% warning threshold — no overfitting detected.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>
            <a:spLocks noGrp="1"/>
          </p:cNvSpPr>
          <p:nvPr>
            <p:ph type="title"/>
          </p:nvPr>
        </p:nvSpPr>
        <p:spPr>
          <a:xfrm>
            <a:off x="609600" y="132400"/>
            <a:ext cx="7924800" cy="66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r>
              <a:rPr lang="en-IN" b="0"/>
              <a:t>IT Fusion – Confusion Matrix (Top 15 Classes)</a:t>
            </a:r>
          </a:p>
        </p:txBody>
      </p:sp>
      <p:pic>
        <p:nvPicPr>
          <p:cNvPr id="3" name="ConfusionMatrix" descr="Confusion Matrix Top 15 Classes Row Normalize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1000000"/>
            <a:ext cx="5800000" cy="5500000"/>
          </a:xfrm>
          <a:prstGeom prst="rect">
            <a:avLst/>
          </a:prstGeom>
        </p:spPr>
      </p:pic>
      <p:sp>
        <p:nvSpPr>
          <p:cNvPr id="4" name="Findings"/>
          <p:cNvSpPr txBox="1"/>
          <p:nvPr/>
        </p:nvSpPr>
        <p:spPr>
          <a:xfrm>
            <a:off x="6200000" y="1000000"/>
            <a:ext cx="2700000" cy="5500000"/>
          </a:xfrm>
          <a:prstGeom prst="rect">
            <a:avLst/>
          </a:prstGeom>
          <a:noFill/>
          <a:ln>
            <a:noFill/>
          </a:ln>
        </p:spPr>
        <p:txBody>
          <a:bodyPr wrap="square" lIns="91425" rIns="91425" tIns="45700" bIns="45700">
            <a:normAutofit/>
          </a:bodyPr>
          <a:lstStyle/>
          <a:p>
            <a:r>
              <a:rPr lang="en-US" sz="1600" b="1">
                <a:solidFill>
                  <a:srgbClr val="5B8A3C"/>
                </a:solidFill>
              </a:rPr>
              <a:t>Strong Classes</a:t>
            </a:r>
          </a:p>
          <a:p>
            <a:r>
              <a:rPr lang="en-US" sz="1400" b="1">
                <a:solidFill>
                  <a:srgbClr val="1A5E20"/>
                </a:solidFill>
              </a:rPr>
              <a:t>Allergic contact dermatitis: 0.99</a:t>
            </a:r>
          </a:p>
          <a:p>
            <a:r>
              <a:rPr lang="en-US" sz="1400" b="1">
                <a:solidFill>
                  <a:srgbClr val="1A5E20"/>
                </a:solidFill>
              </a:rPr>
              <a:t>Proliferations: 0.96</a:t>
            </a:r>
          </a:p>
          <a:p>
            <a:r>
              <a:rPr lang="en-US" sz="1400" b="1">
                <a:solidFill>
                  <a:srgbClr val="1A5E20"/>
                </a:solidFill>
              </a:rPr>
              <a:t>No definitive dx: 0.77</a:t>
            </a:r>
          </a:p>
          <a:p>
            <a:r>
              <a:rPr lang="en-US" sz="1400" b="1">
                <a:solidFill>
                  <a:srgbClr val="1A5E20"/>
                </a:solidFill>
              </a:rPr>
              <a:t>Melanoma: 0.78</a:t>
            </a:r>
          </a:p>
          <a:p>
            <a:r>
              <a:rPr lang="en-US" sz="1400" b="1">
                <a:solidFill>
                  <a:srgbClr val="1A5E20"/>
                </a:solidFill>
              </a:rPr>
              <a:t>Nevus: 0.78</a:t>
            </a:r>
          </a:p>
          <a:p>
            <a:r>
              <a:rPr lang="en-US" sz="1300" b="0"/>
              <a:t> </a:t>
            </a:r>
          </a:p>
          <a:p>
            <a:r>
              <a:rPr lang="en-US" sz="1600" b="1">
                <a:solidFill>
                  <a:srgbClr val="B71C1C"/>
                </a:solidFill>
              </a:rPr>
              <a:t>Challenging Classes</a:t>
            </a:r>
          </a:p>
          <a:p>
            <a:r>
              <a:rPr lang="en-US" sz="1400" b="0"/>
              <a:t>Dermatitis: 0.34 (confused with Other)</a:t>
            </a:r>
          </a:p>
          <a:p>
            <a:r>
              <a:rPr lang="en-US" sz="1400" b="0"/>
              <a:t>Cellulitis: 0.23</a:t>
            </a:r>
          </a:p>
          <a:p>
            <a:r>
              <a:rPr lang="en-US" sz="1400" b="0"/>
              <a:t>Bullous pemphigoid: 0.25</a:t>
            </a:r>
          </a:p>
          <a:p>
            <a:r>
              <a:rPr lang="en-US" sz="1300" b="0"/>
              <a:t> </a:t>
            </a:r>
          </a:p>
          <a:p>
            <a:r>
              <a:rPr lang="en-US" sz="1600" b="1">
                <a:solidFill>
                  <a:srgbClr val="5B8A3C"/>
                </a:solidFill>
              </a:rPr>
              <a:t>Insight</a:t>
            </a:r>
          </a:p>
          <a:p>
            <a:r>
              <a:rPr lang="en-US" sz="1350" b="0"/>
              <a:t>Visually-distinct, high-support classes perform best. Low-support overlapping classes remain challenging — expected for Derm1M-scale noisy labels.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>
            <a:spLocks noGrp="1"/>
          </p:cNvSpPr>
          <p:nvPr>
            <p:ph type="title"/>
          </p:nvPr>
        </p:nvSpPr>
        <p:spPr>
          <a:xfrm>
            <a:off x="609600" y="132400"/>
            <a:ext cx="7924800" cy="66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r>
              <a:rPr lang="en-IN" b="0"/>
              <a:t>IT Fusion – Per-Class F1 &amp; Modality Gate Analysis</a:t>
            </a:r>
          </a:p>
        </p:txBody>
      </p:sp>
      <p:sp>
        <p:nvSpPr>
          <p:cNvPr id="3" name="Label1"/>
          <p:cNvSpPr txBox="1"/>
          <p:nvPr/>
        </p:nvSpPr>
        <p:spPr>
          <a:xfrm>
            <a:off x="228600" y="830000"/>
            <a:ext cx="4500000" cy="40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/>
            <a:r>
              <a:rPr lang="en-US" sz="1500" b="1">
                <a:solidFill>
                  <a:srgbClr val="5B8A3C"/>
                </a:solidFill>
              </a:rPr>
              <a:t>Per-Class F1 Score (51 classes)</a:t>
            </a:r>
          </a:p>
        </p:txBody>
      </p:sp>
      <p:pic>
        <p:nvPicPr>
          <p:cNvPr id="4" name="F1Bars" descr="Per-Class F1 Score Bar Char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1250000"/>
            <a:ext cx="4500000" cy="5400000"/>
          </a:xfrm>
          <a:prstGeom prst="rect">
            <a:avLst/>
          </a:prstGeom>
        </p:spPr>
      </p:pic>
      <p:sp>
        <p:nvSpPr>
          <p:cNvPr id="5" name="Label2"/>
          <p:cNvSpPr txBox="1"/>
          <p:nvPr/>
        </p:nvSpPr>
        <p:spPr>
          <a:xfrm>
            <a:off x="4900000" y="830000"/>
            <a:ext cx="4000000" cy="40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/>
            <a:r>
              <a:rPr lang="en-US" sz="1500" b="1">
                <a:solidFill>
                  <a:srgbClr val="5B8A3C"/>
                </a:solidFill>
              </a:rPr>
              <a:t>Modality Gate Weight Analysis</a:t>
            </a:r>
          </a:p>
        </p:txBody>
      </p:sp>
      <p:pic>
        <p:nvPicPr>
          <p:cNvPr id="6" name="GateWeights" descr="Gate Weight Distribution and Class Relianc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00000" y="1250000"/>
            <a:ext cx="4000000" cy="540000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38"/>
          <p:cNvSpPr txBox="1"/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3200"/>
              <a:buFont typeface="Trebuchet MS"/>
              <a:buNone/>
            </a:pPr>
            <a:r>
              <a:rPr lang="en-IN"/>
              <a:t>Stage 7 VQA – Dataset Pipeline (Stage6QA)</a:t>
            </a:r>
            <a:endParaRPr/>
          </a:p>
        </p:txBody>
      </p:sp>
      <p:graphicFrame>
        <p:nvGraphicFramePr>
          <p:cNvPr id="409" name="Google Shape;409;p38"/>
          <p:cNvGraphicFramePr/>
          <p:nvPr/>
        </p:nvGraphicFramePr>
        <p:xfrm>
          <a:off x="4318985" y="1270001"/>
          <a:ext cx="3000000" cy="3000000"/>
        </p:xfrm>
        <a:graphic>
          <a:graphicData uri="http://schemas.openxmlformats.org/drawingml/2006/table">
            <a:tbl>
              <a:tblPr bandRow="1" firstCol="1" firstRow="1" lastCol="1">
                <a:noFill/>
                <a:tableStyleId>{97ED2F1A-A0D3-45D6-A7EC-2190041AD1C1}</a:tableStyleId>
              </a:tblPr>
              <a:tblGrid>
                <a:gridCol w="2203575"/>
                <a:gridCol w="2203575"/>
              </a:tblGrid>
              <a:tr h="39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/>
                        <a:t>Model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/>
                        <a:t>Source: IT Fusion output (415,508 samples)</a:t>
                      </a:r>
                      <a:endParaRPr sz="1500"/>
                    </a:p>
                  </a:txBody>
                  <a:tcPr marT="45725" marB="45725" marR="91450" marL="91450"/>
                </a:tc>
              </a:tr>
              <a:tr h="39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/>
                        <a:t>Inputs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/>
                        <a:t>ARCUNet mask → SLRC ROI → bbox extraction → 5-priority fallback</a:t>
                      </a:r>
                      <a:endParaRPr sz="1500"/>
                    </a:p>
                  </a:txBody>
                  <a:tcPr marT="45725" marB="45725" marR="91450" marL="91450"/>
                </a:tc>
              </a:tr>
              <a:tr h="39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/>
                        <a:t>Output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/>
                        <a:t>15 QA templates across 4 question types</a:t>
                      </a:r>
                      <a:endParaRPr sz="1500"/>
                    </a:p>
                  </a:txBody>
                  <a:tcPr marT="45725" marB="45725" marR="91450" marL="91450"/>
                </a:tc>
              </a:tr>
              <a:tr h="39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/>
                        <a:t>Task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/>
                        <a:t>Optional Llama 3.1 paraphrasing (Ollama) for question diversity</a:t>
                      </a:r>
                      <a:endParaRPr sz="1500"/>
                    </a:p>
                  </a:txBody>
                  <a:tcPr marT="45725" marB="45725" marR="91450" marL="91450"/>
                </a:tc>
              </a:tr>
              <a:tr h="39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/>
                        <a:t>Evaluation Metrics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IN" sz="1500">
                          <a:solidFill>
                            <a:schemeClr val="lt1"/>
                          </a:solidFill>
                        </a:rPr>
                        <a:t>Split: 80% train / 10% val / 10% test (patient-grouped)</a:t>
                      </a:r>
                      <a:br>
                        <a:rPr lang="en-IN" sz="1500"/>
                      </a:br>
                      <a:r>
                        <a:rPr b="0" lang="en-IN" sz="1500">
                          <a:solidFill>
                            <a:schemeClr val="lt1"/>
                          </a:solidFill>
                        </a:rPr>
                        <a:t>dedup: perceptual hash | SKIP_EXISTING=True for safe resume</a:t>
                      </a:r>
                      <a:br>
                        <a:rPr lang="en-IN" sz="1500"/>
                      </a:br>
                      <a:r>
                        <a:rPr b="0" lang="en-IN" sz="1500">
                          <a:solidFill>
                            <a:schemeClr val="lt1"/>
                          </a:solidFill>
                        </a:rPr>
                        <a:t>Output: stage7_vqa_train/val/test.parquet + stage6qa_dataset.json</a:t>
                      </a:r>
                      <a:endParaRPr sz="1500"/>
                    </a:p>
                  </a:txBody>
                  <a:tcPr marT="45725" marB="45725" marR="91450" marL="91450"/>
                </a:tc>
              </a:tr>
              <a:tr h="39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/>
                        <a:t>Paper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IN" sz="1500" u="sng">
                          <a:solidFill>
                            <a:schemeClr val="lt1"/>
                          </a:solidFill>
                          <a:hlinkClick r:id="rId3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Chen et al., R-LLaVA, arXiv:2410.20327 (ICLR Workshop 2025)</a:t>
                      </a:r>
                      <a:endParaRPr sz="15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410" name="Google Shape;410;p38"/>
          <p:cNvSpPr/>
          <p:nvPr/>
        </p:nvSpPr>
        <p:spPr>
          <a:xfrm>
            <a:off x="202850" y="1680725"/>
            <a:ext cx="975600" cy="637500"/>
          </a:xfrm>
          <a:prstGeom prst="rect">
            <a:avLst/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ROI (224x224)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11" name="Google Shape;411;p38"/>
          <p:cNvSpPr/>
          <p:nvPr/>
        </p:nvSpPr>
        <p:spPr>
          <a:xfrm>
            <a:off x="1951150" y="1661375"/>
            <a:ext cx="1728900" cy="676200"/>
          </a:xfrm>
          <a:prstGeom prst="rect">
            <a:avLst/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Question &lt;= 128 tokens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12" name="Google Shape;412;p38"/>
          <p:cNvSpPr/>
          <p:nvPr/>
        </p:nvSpPr>
        <p:spPr>
          <a:xfrm>
            <a:off x="1864225" y="3197175"/>
            <a:ext cx="2211900" cy="572100"/>
          </a:xfrm>
          <a:prstGeom prst="rect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Preproc: Tokenize Question, Normalize ROI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13" name="Google Shape;413;p38"/>
          <p:cNvSpPr/>
          <p:nvPr/>
        </p:nvSpPr>
        <p:spPr>
          <a:xfrm>
            <a:off x="386375" y="3164475"/>
            <a:ext cx="869400" cy="572100"/>
          </a:xfrm>
          <a:prstGeom prst="rect">
            <a:avLst/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IT JSON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414" name="Google Shape;414;p38"/>
          <p:cNvCxnSpPr>
            <a:stCxn id="410" idx="2"/>
          </p:cNvCxnSpPr>
          <p:nvPr/>
        </p:nvCxnSpPr>
        <p:spPr>
          <a:xfrm flipH="1" rot="-5400000">
            <a:off x="1567250" y="1441625"/>
            <a:ext cx="502200" cy="22554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5" name="Google Shape;415;p38"/>
          <p:cNvCxnSpPr>
            <a:stCxn id="411" idx="3"/>
          </p:cNvCxnSpPr>
          <p:nvPr/>
        </p:nvCxnSpPr>
        <p:spPr>
          <a:xfrm flipH="1">
            <a:off x="3100450" y="1999475"/>
            <a:ext cx="579600" cy="647100"/>
          </a:xfrm>
          <a:prstGeom prst="bentConnector4">
            <a:avLst>
              <a:gd fmla="val -41084" name="adj1"/>
              <a:gd fmla="val 76124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6" name="Google Shape;416;p38"/>
          <p:cNvCxnSpPr>
            <a:endCxn id="412" idx="0"/>
          </p:cNvCxnSpPr>
          <p:nvPr/>
        </p:nvCxnSpPr>
        <p:spPr>
          <a:xfrm>
            <a:off x="2917075" y="2801175"/>
            <a:ext cx="53100" cy="39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17" name="Google Shape;417;p38"/>
          <p:cNvCxnSpPr>
            <a:endCxn id="412" idx="0"/>
          </p:cNvCxnSpPr>
          <p:nvPr/>
        </p:nvCxnSpPr>
        <p:spPr>
          <a:xfrm flipH="1">
            <a:off x="2970175" y="2530575"/>
            <a:ext cx="120600" cy="666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18" name="Google Shape;418;p38"/>
          <p:cNvSpPr/>
          <p:nvPr/>
        </p:nvSpPr>
        <p:spPr>
          <a:xfrm>
            <a:off x="1168750" y="4607425"/>
            <a:ext cx="2096100" cy="647100"/>
          </a:xfrm>
          <a:prstGeom prst="rect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 xml:space="preserve">R-LLaVA 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Vision +Language Q&amp;A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419" name="Google Shape;419;p38"/>
          <p:cNvCxnSpPr>
            <a:stCxn id="413" idx="2"/>
          </p:cNvCxnSpPr>
          <p:nvPr/>
        </p:nvCxnSpPr>
        <p:spPr>
          <a:xfrm flipH="1">
            <a:off x="811475" y="3736575"/>
            <a:ext cx="9600" cy="1189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0" name="Google Shape;420;p38"/>
          <p:cNvCxnSpPr>
            <a:endCxn id="418" idx="1"/>
          </p:cNvCxnSpPr>
          <p:nvPr/>
        </p:nvCxnSpPr>
        <p:spPr>
          <a:xfrm flipH="1" rot="10800000">
            <a:off x="801550" y="4930975"/>
            <a:ext cx="367200" cy="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21" name="Google Shape;421;p38"/>
          <p:cNvCxnSpPr>
            <a:stCxn id="412" idx="2"/>
            <a:endCxn id="418" idx="0"/>
          </p:cNvCxnSpPr>
          <p:nvPr/>
        </p:nvCxnSpPr>
        <p:spPr>
          <a:xfrm flipH="1">
            <a:off x="2216875" y="3769275"/>
            <a:ext cx="753300" cy="838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22" name="Google Shape;422;p38"/>
          <p:cNvCxnSpPr>
            <a:stCxn id="418" idx="2"/>
          </p:cNvCxnSpPr>
          <p:nvPr/>
        </p:nvCxnSpPr>
        <p:spPr>
          <a:xfrm flipH="1">
            <a:off x="2212000" y="5254525"/>
            <a:ext cx="4800" cy="570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23" name="Google Shape;423;p38"/>
          <p:cNvSpPr/>
          <p:nvPr/>
        </p:nvSpPr>
        <p:spPr>
          <a:xfrm>
            <a:off x="977950" y="5824525"/>
            <a:ext cx="2472900" cy="676200"/>
          </a:xfrm>
          <a:prstGeom prst="rect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Output: Answer + Evidence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24" name="Google Shape;424;p38"/>
          <p:cNvSpPr/>
          <p:nvPr/>
        </p:nvSpPr>
        <p:spPr>
          <a:xfrm>
            <a:off x="38625" y="1255700"/>
            <a:ext cx="4221000" cy="54960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11" name="ImagePlaceholder21"/>
          <p:cNvSpPr>
            <a:spLocks noGrp="1"/>
          </p:cNvSpPr>
          <p:nvPr/>
        </p:nvSpPr>
        <p:spPr>
          <a:xfrm>
            <a:off x="4318985" y="4400000"/>
            <a:ext cx="3000000" cy="2100000"/>
          </a:xfrm>
          <a:prstGeom prst="rect">
            <a:avLst/>
          </a:prstGeom>
          <a:solidFill>
            <a:srgbClr val="F0F4F0"/>
          </a:solidFill>
          <a:ln w="19050">
            <a:solidFill>
              <a:srgbClr val="5B8A3C"/>
            </a:solidFill>
            <a:prstDash val="dash"/>
          </a:ln>
        </p:spPr>
        <p:txBody>
          <a:bodyPr anchor="ctr"/>
          <a:lstStyle/>
          <a:p>
            <a:pPr algn="ctr"/>
            <a:r>
              <a:rPr lang="en-US" sz="1400" b="0" i="1">
                <a:solidFill>
                  <a:srgbClr val="5B8A3C"/>
                </a:solidFill>
              </a:rPr>
              <a:t>open: 5 templates | close: 4 | region: 3 | multichoice: 3</a:t>
            </a:r>
          </a:p>
          <a:p>
            <a:pPr algn="ctr"/>
            <a:r>
              <a:rPr lang="en-US" sz="1100" b="0">
                <a:solidFill>
                  <a:srgbClr val="888888"/>
                </a:solidFill>
              </a:rPr>
              <a:t>Disease labels: MEL, BCC, SCC, ACK, NEV, SEK + 45 Derm1M classes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38"/>
          <p:cNvSpPr txBox="1"/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3200"/>
              <a:buFont typeface="Trebuchet MS"/>
              <a:buNone/>
            </a:pPr>
            <a:r>
              <a:rPr lang="en-IN"/>
              <a:t>Stage 7 VQA – R-LLaVA Training Architecture</a:t>
            </a:r>
            <a:endParaRPr/>
          </a:p>
        </p:txBody>
      </p:sp>
      <p:graphicFrame>
        <p:nvGraphicFramePr>
          <p:cNvPr id="409" name="Google Shape;409;p38"/>
          <p:cNvGraphicFramePr/>
          <p:nvPr/>
        </p:nvGraphicFramePr>
        <p:xfrm>
          <a:off x="4318985" y="1270001"/>
          <a:ext cx="3000000" cy="3000000"/>
        </p:xfrm>
        <a:graphic>
          <a:graphicData uri="http://schemas.openxmlformats.org/drawingml/2006/table">
            <a:tbl>
              <a:tblPr bandRow="1" firstCol="1" firstRow="1" lastCol="1">
                <a:noFill/>
                <a:tableStyleId>{97ED2F1A-A0D3-45D6-A7EC-2190041AD1C1}</a:tableStyleId>
              </a:tblPr>
              <a:tblGrid>
                <a:gridCol w="2203575"/>
                <a:gridCol w="2203575"/>
              </a:tblGrid>
              <a:tr h="39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/>
                        <a:t>Model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/>
                        <a:t>Base: LLaVA-v1.6-Mistral-7B (7B params, NF4 4-bit)</a:t>
                      </a:r>
                      <a:endParaRPr sz="1500"/>
                    </a:p>
                  </a:txBody>
                  <a:tcPr marT="45725" marB="45725" marR="91450" marL="91450"/>
                </a:tc>
              </a:tr>
              <a:tr h="39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/>
                        <a:t>Inputs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/>
                        <a:t>Stage I: Projector pretraining — VICReg alignment loss on CLIP features</a:t>
                      </a:r>
                      <a:endParaRPr sz="1500"/>
                    </a:p>
                  </a:txBody>
                  <a:tcPr marT="45725" marB="45725" marR="91450" marL="91450"/>
                </a:tc>
              </a:tr>
              <a:tr h="39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/>
                        <a:t>Output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/>
                        <a:t>Stage II: QLoRA fine-tuning on language attention (q/k/v/o_proj)</a:t>
                      </a:r>
                      <a:endParaRPr sz="1500"/>
                    </a:p>
                  </a:txBody>
                  <a:tcPr marT="45725" marB="45725" marR="91450" marL="91450"/>
                </a:tc>
              </a:tr>
              <a:tr h="39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/>
                        <a:t>Task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/>
                        <a:t>TOKENS_PER_PATCH=584 | IMG_SIZE=336 | seq_len=2048 | GRID_PINPOINTS=5</a:t>
                      </a:r>
                      <a:endParaRPr sz="1500"/>
                    </a:p>
                  </a:txBody>
                  <a:tcPr marT="45725" marB="45725" marR="91450" marL="91450"/>
                </a:tc>
              </a:tr>
              <a:tr h="39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/>
                        <a:t>Evaluation Metrics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IN" sz="1500">
                          <a:solidFill>
                            <a:schemeClr val="lt1"/>
                          </a:solidFill>
                        </a:rPr>
                        <a:t>LoRA: r=8, alpha=16, dropout=0.0 | device_map=auto | gradient_checkpointing</a:t>
                      </a:r>
                      <a:br>
                        <a:rPr lang="en-IN" sz="1500"/>
                      </a:br>
                      <a:r>
                        <a:rPr b="0" lang="en-IN" sz="1500">
                          <a:solidFill>
                            <a:schemeClr val="lt1"/>
                          </a:solidFill>
                        </a:rPr>
                        <a:t>Hardware: DGX 3×A100-SXM4-40GB (126 GB VRAM) | CUDA 12.2</a:t>
                      </a:r>
                      <a:br>
                        <a:rPr lang="en-IN" sz="1500"/>
                      </a:br>
                      <a:r>
                        <a:rPr b="0" lang="en-IN" sz="1500">
                          <a:solidFill>
                            <a:schemeClr val="lt1"/>
                          </a:solidFill>
                        </a:rPr>
                        <a:t>Effective batch=16 | warmup=3% | early stop patience=5 epochs</a:t>
                      </a:r>
                      <a:endParaRPr sz="1500"/>
                    </a:p>
                  </a:txBody>
                  <a:tcPr marT="45725" marB="45725" marR="91450" marL="91450"/>
                </a:tc>
              </a:tr>
              <a:tr h="39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/>
                        <a:t>Paper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IN" sz="1500" u="sng">
                          <a:solidFill>
                            <a:schemeClr val="lt1"/>
                          </a:solidFill>
                          <a:hlinkClick r:id="rId3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Chen et al., R-LLaVA, arXiv:2410.20327 (ICLR Workshop 2025)</a:t>
                      </a:r>
                      <a:endParaRPr sz="15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410" name="Google Shape;410;p38"/>
          <p:cNvSpPr/>
          <p:nvPr/>
        </p:nvSpPr>
        <p:spPr>
          <a:xfrm>
            <a:off x="202850" y="1680725"/>
            <a:ext cx="975600" cy="637500"/>
          </a:xfrm>
          <a:prstGeom prst="rect">
            <a:avLst/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ROI (224x224)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11" name="Google Shape;411;p38"/>
          <p:cNvSpPr/>
          <p:nvPr/>
        </p:nvSpPr>
        <p:spPr>
          <a:xfrm>
            <a:off x="1951150" y="1661375"/>
            <a:ext cx="1728900" cy="676200"/>
          </a:xfrm>
          <a:prstGeom prst="rect">
            <a:avLst/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Question &lt;= 128 tokens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12" name="Google Shape;412;p38"/>
          <p:cNvSpPr/>
          <p:nvPr/>
        </p:nvSpPr>
        <p:spPr>
          <a:xfrm>
            <a:off x="1864225" y="3197175"/>
            <a:ext cx="2211900" cy="572100"/>
          </a:xfrm>
          <a:prstGeom prst="rect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Preproc: Tokenize Question, Normalize ROI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13" name="Google Shape;413;p38"/>
          <p:cNvSpPr/>
          <p:nvPr/>
        </p:nvSpPr>
        <p:spPr>
          <a:xfrm>
            <a:off x="386375" y="3164475"/>
            <a:ext cx="869400" cy="572100"/>
          </a:xfrm>
          <a:prstGeom prst="rect">
            <a:avLst/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IT JSON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414" name="Google Shape;414;p38"/>
          <p:cNvCxnSpPr>
            <a:stCxn id="410" idx="2"/>
          </p:cNvCxnSpPr>
          <p:nvPr/>
        </p:nvCxnSpPr>
        <p:spPr>
          <a:xfrm flipH="1" rot="-5400000">
            <a:off x="1567250" y="1441625"/>
            <a:ext cx="502200" cy="22554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5" name="Google Shape;415;p38"/>
          <p:cNvCxnSpPr>
            <a:stCxn id="411" idx="3"/>
          </p:cNvCxnSpPr>
          <p:nvPr/>
        </p:nvCxnSpPr>
        <p:spPr>
          <a:xfrm flipH="1">
            <a:off x="3100450" y="1999475"/>
            <a:ext cx="579600" cy="647100"/>
          </a:xfrm>
          <a:prstGeom prst="bentConnector4">
            <a:avLst>
              <a:gd fmla="val -41084" name="adj1"/>
              <a:gd fmla="val 76124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6" name="Google Shape;416;p38"/>
          <p:cNvCxnSpPr>
            <a:endCxn id="412" idx="0"/>
          </p:cNvCxnSpPr>
          <p:nvPr/>
        </p:nvCxnSpPr>
        <p:spPr>
          <a:xfrm>
            <a:off x="2917075" y="2801175"/>
            <a:ext cx="53100" cy="39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17" name="Google Shape;417;p38"/>
          <p:cNvCxnSpPr>
            <a:endCxn id="412" idx="0"/>
          </p:cNvCxnSpPr>
          <p:nvPr/>
        </p:nvCxnSpPr>
        <p:spPr>
          <a:xfrm flipH="1">
            <a:off x="2970175" y="2530575"/>
            <a:ext cx="120600" cy="666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18" name="Google Shape;418;p38"/>
          <p:cNvSpPr/>
          <p:nvPr/>
        </p:nvSpPr>
        <p:spPr>
          <a:xfrm>
            <a:off x="1168750" y="4607425"/>
            <a:ext cx="2096100" cy="647100"/>
          </a:xfrm>
          <a:prstGeom prst="rect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 xml:space="preserve">R-LLaVA 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Vision +Language Q&amp;A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419" name="Google Shape;419;p38"/>
          <p:cNvCxnSpPr>
            <a:stCxn id="413" idx="2"/>
          </p:cNvCxnSpPr>
          <p:nvPr/>
        </p:nvCxnSpPr>
        <p:spPr>
          <a:xfrm flipH="1">
            <a:off x="811475" y="3736575"/>
            <a:ext cx="9600" cy="1189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0" name="Google Shape;420;p38"/>
          <p:cNvCxnSpPr>
            <a:endCxn id="418" idx="1"/>
          </p:cNvCxnSpPr>
          <p:nvPr/>
        </p:nvCxnSpPr>
        <p:spPr>
          <a:xfrm flipH="1" rot="10800000">
            <a:off x="801550" y="4930975"/>
            <a:ext cx="367200" cy="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21" name="Google Shape;421;p38"/>
          <p:cNvCxnSpPr>
            <a:stCxn id="412" idx="2"/>
            <a:endCxn id="418" idx="0"/>
          </p:cNvCxnSpPr>
          <p:nvPr/>
        </p:nvCxnSpPr>
        <p:spPr>
          <a:xfrm flipH="1">
            <a:off x="2216875" y="3769275"/>
            <a:ext cx="753300" cy="838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22" name="Google Shape;422;p38"/>
          <p:cNvCxnSpPr>
            <a:stCxn id="418" idx="2"/>
          </p:cNvCxnSpPr>
          <p:nvPr/>
        </p:nvCxnSpPr>
        <p:spPr>
          <a:xfrm flipH="1">
            <a:off x="2212000" y="5254525"/>
            <a:ext cx="4800" cy="570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23" name="Google Shape;423;p38"/>
          <p:cNvSpPr/>
          <p:nvPr/>
        </p:nvSpPr>
        <p:spPr>
          <a:xfrm>
            <a:off x="977950" y="5824525"/>
            <a:ext cx="2472900" cy="676200"/>
          </a:xfrm>
          <a:prstGeom prst="rect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Output: Answer + Evidence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24" name="Google Shape;424;p38"/>
          <p:cNvSpPr/>
          <p:nvPr/>
        </p:nvSpPr>
        <p:spPr>
          <a:xfrm>
            <a:off x="38625" y="1255700"/>
            <a:ext cx="4221000" cy="54960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11" name="ImagePlaceholder21"/>
          <p:cNvSpPr>
            <a:spLocks noGrp="1"/>
          </p:cNvSpPr>
          <p:nvPr/>
        </p:nvSpPr>
        <p:spPr>
          <a:xfrm>
            <a:off x="4318985" y="4400000"/>
            <a:ext cx="3000000" cy="2100000"/>
          </a:xfrm>
          <a:prstGeom prst="rect">
            <a:avLst/>
          </a:prstGeom>
          <a:solidFill>
            <a:srgbClr val="F0F4F0"/>
          </a:solidFill>
          <a:ln w="19050">
            <a:solidFill>
              <a:srgbClr val="5B8A3C"/>
            </a:solidFill>
            <a:prstDash val="dash"/>
          </a:ln>
        </p:spPr>
        <p:txBody>
          <a:bodyPr anchor="ctr"/>
          <a:lstStyle/>
          <a:p>
            <a:pPr algn="ctr"/>
            <a:r>
              <a:rPr lang="en-US" sz="1400" b="0" i="1">
                <a:solidFill>
                  <a:srgbClr val="5B8A3C"/>
                </a:solidFill>
              </a:rPr>
              <a:t>RAG: ChromaDB + all-MiniLM-L6-v2 | DermNet+StatPearls+MedQuAD</a:t>
            </a:r>
          </a:p>
          <a:p>
            <a:pPr algn="ctr"/>
            <a:r>
              <a:rPr lang="en-US" sz="1100" b="0">
                <a:solidFill>
                  <a:srgbClr val="888888"/>
                </a:solidFill>
              </a:rPr>
              <a:t>Drug rules: ABCDE-implied escalation | risk-tier filters | safety override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38"/>
          <p:cNvSpPr txBox="1"/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3200"/>
              <a:buFont typeface="Trebuchet MS"/>
              <a:buNone/>
            </a:pPr>
            <a:r>
              <a:rPr lang="en-IN"/>
              <a:t>Stage 7 VQA – QA Template Bank (Stage6QA)</a:t>
            </a:r>
            <a:endParaRPr/>
          </a:p>
        </p:txBody>
      </p:sp>
      <p:graphicFrame>
        <p:nvGraphicFramePr>
          <p:cNvPr id="409" name="Google Shape;409;p38"/>
          <p:cNvGraphicFramePr/>
          <p:nvPr/>
        </p:nvGraphicFramePr>
        <p:xfrm>
          <a:off x="4318985" y="1270001"/>
          <a:ext cx="3000000" cy="3000000"/>
        </p:xfrm>
        <a:graphic>
          <a:graphicData uri="http://schemas.openxmlformats.org/drawingml/2006/table">
            <a:tbl>
              <a:tblPr bandRow="1" firstCol="1" firstRow="1" lastCol="1">
                <a:noFill/>
                <a:tableStyleId>{97ED2F1A-A0D3-45D6-A7EC-2190041AD1C1}</a:tableStyleId>
              </a:tblPr>
              <a:tblGrid>
                <a:gridCol w="2203575"/>
                <a:gridCol w="2203575"/>
              </a:tblGrid>
              <a:tr h="39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/>
                        <a:t>Model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/>
                        <a:t>open: lesion_class | risk | abcde_full | symptom | treatment</a:t>
                      </a:r>
                      <a:endParaRPr sz="1500"/>
                    </a:p>
                  </a:txBody>
                  <a:tcPr marT="45725" marB="45725" marR="91450" marL="91450"/>
                </a:tc>
              </a:tr>
              <a:tr h="39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/>
                        <a:t>Inputs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/>
                        <a:t>close: abcde_binary | malignancy_binary | risk_binary | bbox_close</a:t>
                      </a:r>
                      <a:endParaRPr sz="1500"/>
                    </a:p>
                  </a:txBody>
                  <a:tcPr marT="45725" marB="45725" marR="91450" marL="91450"/>
                </a:tc>
              </a:tr>
              <a:tr h="39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/>
                        <a:t>Output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/>
                        <a:t>region: region_describe | roi_comparison | bbox_localize</a:t>
                      </a:r>
                      <a:endParaRPr sz="1500"/>
                    </a:p>
                  </a:txBody>
                  <a:tcPr marT="45725" marB="45725" marR="91450" marL="91450"/>
                </a:tc>
              </a:tr>
              <a:tr h="39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/>
                        <a:t>Task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/>
                        <a:t>multichoice: class_mc | risk_mc | abcde_mc with 3 distractors</a:t>
                      </a:r>
                      <a:endParaRPr sz="1500"/>
                    </a:p>
                  </a:txBody>
                  <a:tcPr marT="45725" marB="45725" marR="91450" marL="91450"/>
                </a:tc>
              </a:tr>
              <a:tr h="39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/>
                        <a:t>Evaluation Metrics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IN" sz="1500">
                          <a:solidFill>
                            <a:schemeClr val="lt1"/>
                          </a:solidFill>
                        </a:rPr>
                        <a:t>Prompt: [INST] IMAGE Region: [x1,y1,x2,y2] {question} [/INST] {answer}</a:t>
                      </a:r>
                      <a:br>
                        <a:rPr lang="en-IN" sz="1500"/>
                      </a:br>
                      <a:r>
                        <a:rPr b="0" lang="en-IN" sz="1500">
                          <a:solidFill>
                            <a:schemeClr val="lt1"/>
                          </a:solidFill>
                        </a:rPr>
                        <a:t>Answer grounding: ABCDE scores + risk_level + evidence list + drug</a:t>
                      </a:r>
                      <a:br>
                        <a:rPr lang="en-IN" sz="1500"/>
                      </a:br>
                      <a:r>
                        <a:rPr b="0" lang="en-IN" sz="1500">
                          <a:solidFill>
                            <a:schemeClr val="lt1"/>
                          </a:solidFill>
                        </a:rPr>
                        <a:t>Target metrics: BLEU-4 &gt;0.15 | ROUGE-L &gt;0.25 | EM close &gt;60%</a:t>
                      </a:r>
                      <a:endParaRPr sz="1500"/>
                    </a:p>
                  </a:txBody>
                  <a:tcPr marT="45725" marB="45725" marR="91450" marL="91450"/>
                </a:tc>
              </a:tr>
              <a:tr h="39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/>
                        <a:t>Paper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IN" sz="1500" u="sng">
                          <a:solidFill>
                            <a:schemeClr val="lt1"/>
                          </a:solidFill>
                          <a:hlinkClick r:id="rId3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Chen et al., R-LLaVA, arXiv:2410.20327 (ICLR Workshop 2025)</a:t>
                      </a:r>
                      <a:endParaRPr sz="15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410" name="Google Shape;410;p38"/>
          <p:cNvSpPr/>
          <p:nvPr/>
        </p:nvSpPr>
        <p:spPr>
          <a:xfrm>
            <a:off x="202850" y="1680725"/>
            <a:ext cx="975600" cy="637500"/>
          </a:xfrm>
          <a:prstGeom prst="rect">
            <a:avLst/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ROI (224x224)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11" name="Google Shape;411;p38"/>
          <p:cNvSpPr/>
          <p:nvPr/>
        </p:nvSpPr>
        <p:spPr>
          <a:xfrm>
            <a:off x="1951150" y="1661375"/>
            <a:ext cx="1728900" cy="676200"/>
          </a:xfrm>
          <a:prstGeom prst="rect">
            <a:avLst/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Question &lt;= 128 tokens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12" name="Google Shape;412;p38"/>
          <p:cNvSpPr/>
          <p:nvPr/>
        </p:nvSpPr>
        <p:spPr>
          <a:xfrm>
            <a:off x="1864225" y="3197175"/>
            <a:ext cx="2211900" cy="572100"/>
          </a:xfrm>
          <a:prstGeom prst="rect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Preproc: Tokenize Question, Normalize ROI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13" name="Google Shape;413;p38"/>
          <p:cNvSpPr/>
          <p:nvPr/>
        </p:nvSpPr>
        <p:spPr>
          <a:xfrm>
            <a:off x="386375" y="3164475"/>
            <a:ext cx="869400" cy="572100"/>
          </a:xfrm>
          <a:prstGeom prst="rect">
            <a:avLst/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IT JSON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414" name="Google Shape;414;p38"/>
          <p:cNvCxnSpPr>
            <a:stCxn id="410" idx="2"/>
          </p:cNvCxnSpPr>
          <p:nvPr/>
        </p:nvCxnSpPr>
        <p:spPr>
          <a:xfrm flipH="1" rot="-5400000">
            <a:off x="1567250" y="1441625"/>
            <a:ext cx="502200" cy="22554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5" name="Google Shape;415;p38"/>
          <p:cNvCxnSpPr>
            <a:stCxn id="411" idx="3"/>
          </p:cNvCxnSpPr>
          <p:nvPr/>
        </p:nvCxnSpPr>
        <p:spPr>
          <a:xfrm flipH="1">
            <a:off x="3100450" y="1999475"/>
            <a:ext cx="579600" cy="647100"/>
          </a:xfrm>
          <a:prstGeom prst="bentConnector4">
            <a:avLst>
              <a:gd fmla="val -41084" name="adj1"/>
              <a:gd fmla="val 76124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6" name="Google Shape;416;p38"/>
          <p:cNvCxnSpPr>
            <a:endCxn id="412" idx="0"/>
          </p:cNvCxnSpPr>
          <p:nvPr/>
        </p:nvCxnSpPr>
        <p:spPr>
          <a:xfrm>
            <a:off x="2917075" y="2801175"/>
            <a:ext cx="53100" cy="39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17" name="Google Shape;417;p38"/>
          <p:cNvCxnSpPr>
            <a:endCxn id="412" idx="0"/>
          </p:cNvCxnSpPr>
          <p:nvPr/>
        </p:nvCxnSpPr>
        <p:spPr>
          <a:xfrm flipH="1">
            <a:off x="2970175" y="2530575"/>
            <a:ext cx="120600" cy="666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18" name="Google Shape;418;p38"/>
          <p:cNvSpPr/>
          <p:nvPr/>
        </p:nvSpPr>
        <p:spPr>
          <a:xfrm>
            <a:off x="1168750" y="4607425"/>
            <a:ext cx="2096100" cy="647100"/>
          </a:xfrm>
          <a:prstGeom prst="rect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 xml:space="preserve">R-LLaVA 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Vision +Language Q&amp;A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419" name="Google Shape;419;p38"/>
          <p:cNvCxnSpPr>
            <a:stCxn id="413" idx="2"/>
          </p:cNvCxnSpPr>
          <p:nvPr/>
        </p:nvCxnSpPr>
        <p:spPr>
          <a:xfrm flipH="1">
            <a:off x="811475" y="3736575"/>
            <a:ext cx="9600" cy="1189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0" name="Google Shape;420;p38"/>
          <p:cNvCxnSpPr>
            <a:endCxn id="418" idx="1"/>
          </p:cNvCxnSpPr>
          <p:nvPr/>
        </p:nvCxnSpPr>
        <p:spPr>
          <a:xfrm flipH="1" rot="10800000">
            <a:off x="801550" y="4930975"/>
            <a:ext cx="367200" cy="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21" name="Google Shape;421;p38"/>
          <p:cNvCxnSpPr>
            <a:stCxn id="412" idx="2"/>
            <a:endCxn id="418" idx="0"/>
          </p:cNvCxnSpPr>
          <p:nvPr/>
        </p:nvCxnSpPr>
        <p:spPr>
          <a:xfrm flipH="1">
            <a:off x="2216875" y="3769275"/>
            <a:ext cx="753300" cy="838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22" name="Google Shape;422;p38"/>
          <p:cNvCxnSpPr>
            <a:stCxn id="418" idx="2"/>
          </p:cNvCxnSpPr>
          <p:nvPr/>
        </p:nvCxnSpPr>
        <p:spPr>
          <a:xfrm flipH="1">
            <a:off x="2212000" y="5254525"/>
            <a:ext cx="4800" cy="570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23" name="Google Shape;423;p38"/>
          <p:cNvSpPr/>
          <p:nvPr/>
        </p:nvSpPr>
        <p:spPr>
          <a:xfrm>
            <a:off x="977950" y="5824525"/>
            <a:ext cx="2472900" cy="676200"/>
          </a:xfrm>
          <a:prstGeom prst="rect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Trebuchet MS"/>
                <a:ea typeface="Trebuchet MS"/>
                <a:cs typeface="Trebuchet MS"/>
                <a:sym typeface="Trebuchet MS"/>
              </a:rPr>
              <a:t>Output: Answer + Evidence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24" name="Google Shape;424;p38"/>
          <p:cNvSpPr/>
          <p:nvPr/>
        </p:nvSpPr>
        <p:spPr>
          <a:xfrm>
            <a:off x="38625" y="1255700"/>
            <a:ext cx="4221000" cy="54960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11" name="ImagePlaceholder21"/>
          <p:cNvSpPr>
            <a:spLocks noGrp="1"/>
          </p:cNvSpPr>
          <p:nvPr/>
        </p:nvSpPr>
        <p:spPr>
          <a:xfrm>
            <a:off x="4318985" y="4400000"/>
            <a:ext cx="3000000" cy="2100000"/>
          </a:xfrm>
          <a:prstGeom prst="rect">
            <a:avLst/>
          </a:prstGeom>
          <a:solidFill>
            <a:srgbClr val="F0F4F0"/>
          </a:solidFill>
          <a:ln w="19050">
            <a:solidFill>
              <a:srgbClr val="5B8A3C"/>
            </a:solidFill>
            <a:prstDash val="dash"/>
          </a:ln>
        </p:spPr>
        <p:txBody>
          <a:bodyPr anchor="ctr"/>
          <a:lstStyle/>
          <a:p>
            <a:pPr algn="ctr"/>
            <a:r>
              <a:rPr lang="en-US" sz="1400" b="0" i="1">
                <a:solidFill>
                  <a:srgbClr val="5B8A3C"/>
                </a:solidFill>
              </a:rPr>
              <a:t>Example Q: Is this lesion asymmetric? A: Yes. Asymmetry score 0.87</a:t>
            </a:r>
          </a:p>
          <a:p>
            <a:pPr algn="ctr"/>
            <a:r>
              <a:rPr lang="en-US" sz="1100" b="0">
                <a:solidFill>
                  <a:srgbClr val="888888"/>
                </a:solidFill>
              </a:rPr>
              <a:t>indicating high asymmetry consistent with Melanoma classification.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